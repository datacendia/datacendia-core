
<file path=[Content_Types].xml><?xml version="1.0" encoding="utf-8"?>
<Types xmlns="http://schemas.openxmlformats.org/package/2006/content-types">
  <Default Extension="png" ContentType="image/png"/>
  <Default Extension="rels" ContentType="application/vnd.openxmlformats-package.relationships+xml"/>
  <Default Extension="xml" ContentType="application/xml"/>
  <Override PartName="/docProps/app.xml" ContentType="application/vnd.openxmlformats-officedocument.extended-properties+xml"/>
  <Override PartName="/docProps/core.xml" ContentType="application/vnd.openxmlformats-package.core-properties+xml"/>
  <Override PartName="/ppt/notesMasters/notesMaster1.xml" ContentType="application/vnd.openxmlformats-officedocument.presentationml.notesMaster+xml"/>
  <Override PartName="/ppt/notesSlides/notesSlide1.xml" ContentType="application/vnd.openxmlformats-officedocument.presentationml.notesSlide+xml"/>
  <Override PartName="/ppt/notesSlides/notesSlide10.xml" ContentType="application/vnd.openxmlformats-officedocument.presentationml.notesSlide+xml"/>
  <Override PartName="/ppt/notesSlides/notesSlide2.xml" ContentType="application/vnd.openxmlformats-officedocument.presentationml.notesSlide+xml"/>
  <Override PartName="/ppt/notesSlides/notesSlide3.xml" ContentType="application/vnd.openxmlformats-officedocument.presentationml.notesSlide+xml"/>
  <Override PartName="/ppt/notesSlides/notesSlide4.xml" ContentType="application/vnd.openxmlformats-officedocument.presentationml.notesSlide+xml"/>
  <Override PartName="/ppt/notesSlides/notesSlide5.xml" ContentType="application/vnd.openxmlformats-officedocument.presentationml.notesSlide+xml"/>
  <Override PartName="/ppt/notesSlides/notesSlide6.xml" ContentType="application/vnd.openxmlformats-officedocument.presentationml.notesSlide+xml"/>
  <Override PartName="/ppt/notesSlides/notesSlide7.xml" ContentType="application/vnd.openxmlformats-officedocument.presentationml.notesSlide+xml"/>
  <Override PartName="/ppt/notesSlides/notesSlide8.xml" ContentType="application/vnd.openxmlformats-officedocument.presentationml.notesSlide+xml"/>
  <Override PartName="/ppt/notesSlides/notesSlide9.xml" ContentType="application/vnd.openxmlformats-officedocument.presentationml.notesSlide+xml"/>
  <Override PartName="/ppt/presProps.xml" ContentType="application/vnd.openxmlformats-officedocument.presentationml.presProps+xml"/>
  <Override PartName="/ppt/presentation.xml" ContentType="application/vnd.openxmlformats-officedocument.presentationml.presentation.main+xml"/>
  <Override PartName="/ppt/slideLayouts/slideLayout1.xml" ContentType="application/vnd.openxmlformats-officedocument.presentationml.slideLayout+xml"/>
  <Override PartName="/ppt/slideMasters/slideMaster1.xml" ContentType="application/vnd.openxmlformats-officedocument.presentationml.slideMaster+xml"/>
  <Override PartName="/ppt/slides/slide1.xml" ContentType="application/vnd.openxmlformats-officedocument.presentationml.slide+xml"/>
  <Override PartName="/ppt/slides/slide10.xml" ContentType="application/vnd.openxmlformats-officedocument.presentationml.slide+xml"/>
  <Override PartName="/ppt/slides/slide2.xml" ContentType="application/vnd.openxmlformats-officedocument.presentationml.slide+xml"/>
  <Override PartName="/ppt/slides/slide3.xml" ContentType="application/vnd.openxmlformats-officedocument.presentationml.slide+xml"/>
  <Override PartName="/ppt/slides/slide4.xml" ContentType="application/vnd.openxmlformats-officedocument.presentationml.slide+xml"/>
  <Override PartName="/ppt/slides/slide5.xml" ContentType="application/vnd.openxmlformats-officedocument.presentationml.slide+xml"/>
  <Override PartName="/ppt/slides/slide6.xml" ContentType="application/vnd.openxmlformats-officedocument.presentationml.slide+xml"/>
  <Override PartName="/ppt/slides/slide7.xml" ContentType="application/vnd.openxmlformats-officedocument.presentationml.slide+xml"/>
  <Override PartName="/ppt/slides/slide8.xml" ContentType="application/vnd.openxmlformats-officedocument.presentationml.slide+xml"/>
  <Override PartName="/ppt/slides/slide9.xml" ContentType="application/vnd.openxmlformats-officedocument.presentationml.slide+xml"/>
  <Override PartName="/ppt/tableStyles.xml" ContentType="application/vnd.openxmlformats-officedocument.presentationml.tableStyles+xml"/>
  <Override PartName="/ppt/theme/theme1.xml" ContentType="application/vnd.openxmlformats-officedocument.theme+xml"/>
  <Override PartName="/ppt/viewProps.xml" ContentType="application/vnd.openxmlformats-officedocument.presentationml.viewProps+xml"/>
</Types>
</file>

<file path=_rels/.rels><?xml version='1.0' encoding='UTF-8' standalone='yes'?>
<Relationships xmlns="http://schemas.openxmlformats.org/package/2006/relationships"><Relationship Id="rId1" Type="http://schemas.openxmlformats.org/officeDocument/2006/relationships/extended-properties" Target="docProps/app.xml"/><Relationship Id="rId2" Type="http://schemas.openxmlformats.org/package/2006/relationships/metadata/core-properties" Target="docProps/core.xml"/><Relationship Id="rId3" Type="http://schemas.openxmlformats.org/officeDocument/2006/relationships/officeDocument" Target="ppt/presentation.xml"/></Relationships>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saveSubsetFonts="1" autoCompressPictures="0">
  <p:sldMasterIdLst>
    <p:sldMasterId id="2147483648" r:id="rId1"/>
  </p:sldMasterIdLst>
  <p:sldIdLst>
    <p:sldId id="256" r:id="rId2"/>
    <p:sldId id="257" r:id="rId3"/>
    <p:sldId id="258" r:id="rId4"/>
    <p:sldId id="259" r:id="rId5"/>
    <p:sldId id="260" r:id="rId6"/>
    <p:sldId id="261" r:id="rId7"/>
    <p:sldId id="262" r:id="rId8"/>
    <p:sldId id="263" r:id="rId9"/>
    <p:sldId id="264" r:id="rId10"/>
    <p:sldId id="265" r:id="rId11"/>
  </p:sldIdLst>
  <p:notesMasterIdLst>
    <p:notesMasterId r:id="rId12"/>
  </p:notesMasterIdLst>
  <p:sldSz cx="12188952" cy="6858000"/>
  <p:notesSz cx="6858000" cy="12188952"/>
  <p:defaultTextStyle>
    <a:lvl1pPr marL="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9pPr>
  </p:defaultTextStyle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/>
</file>

<file path=ppt/tableStyles.xml><?xml version="1.0" encoding="utf-8"?>
<a:tblStyleLst xmlns:a="http://schemas.openxmlformats.org/drawingml/2006/main" def="{5C22544A-7EE6-4342-B048-85BDC9FD1C3A}"/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>
  <p:normalViewPr horzBarState="maximized">
    <p:restoredLeft sz="15611"/>
    <p:restoredTop sz="94610"/>
  </p:normalViewPr>
  <p:slideViewPr>
    <p:cSldViewPr snapToGrid="0" snapToObjects="1">
      <p:cViewPr varScale="1">
        <p:scale>
          <a:sx n="136" d="100"/>
          <a:sy n="136" d="100"/>
        </p:scale>
        <p:origin x="216" y="312"/>
      </p:cViewPr>
      <p:guideLst/>
    </p:cSldViewPr>
  </p:slideViewPr>
  <p:notesTextViewPr>
    <p:cViewPr>
      <p:scale>
        <a:sx n="1" d="1"/>
        <a:sy n="1" d="1"/>
      </p:scale>
      <p:origin x="0" y="0"/>
    </p:cViewPr>
  </p:notesTextViewPr>
  <p:gridSpacing cx="76200" cy="76200"/>
</p:viewPr>
</file>

<file path=ppt/_rels/presentation.xml.rels><?xml version='1.0' encoding='UTF-8' standalone='yes'?>
<Relationships xmlns="http://schemas.openxmlformats.org/package/2006/relationships"><Relationship Id="rId1" Type="http://schemas.openxmlformats.org/officeDocument/2006/relationships/slideMaster" Target="slideMasters/slideMaster1.xml"/><Relationship Id="rId2" Type="http://schemas.openxmlformats.org/officeDocument/2006/relationships/slide" Target="slides/slide1.xml"/><Relationship Id="rId3" Type="http://schemas.openxmlformats.org/officeDocument/2006/relationships/slide" Target="slides/slide2.xml"/><Relationship Id="rId4" Type="http://schemas.openxmlformats.org/officeDocument/2006/relationships/slide" Target="slides/slide3.xml"/><Relationship Id="rId5" Type="http://schemas.openxmlformats.org/officeDocument/2006/relationships/slide" Target="slides/slide4.xml"/><Relationship Id="rId6" Type="http://schemas.openxmlformats.org/officeDocument/2006/relationships/slide" Target="slides/slide5.xml"/><Relationship Id="rId7" Type="http://schemas.openxmlformats.org/officeDocument/2006/relationships/slide" Target="slides/slide6.xml"/><Relationship Id="rId8" Type="http://schemas.openxmlformats.org/officeDocument/2006/relationships/slide" Target="slides/slide7.xml"/><Relationship Id="rId9" Type="http://schemas.openxmlformats.org/officeDocument/2006/relationships/slide" Target="slides/slide8.xml"/><Relationship Id="rId10" Type="http://schemas.openxmlformats.org/officeDocument/2006/relationships/slide" Target="slides/slide9.xml"/><Relationship Id="rId11" Type="http://schemas.openxmlformats.org/officeDocument/2006/relationships/slide" Target="slides/slide10.xml"/><Relationship Id="rId12" Type="http://schemas.openxmlformats.org/officeDocument/2006/relationships/notesMaster" Target="notesMasters/notesMaster1.xml"/><Relationship Id="rId13" Type="http://schemas.openxmlformats.org/officeDocument/2006/relationships/presProps" Target="presProps.xml"/><Relationship Id="rId14" Type="http://schemas.openxmlformats.org/officeDocument/2006/relationships/viewProps" Target="viewProps.xml"/><Relationship Id="rId15" Type="http://schemas.openxmlformats.org/officeDocument/2006/relationships/theme" Target="theme/theme1.xml"/><Relationship Id="rId16" Type="http://schemas.openxmlformats.org/officeDocument/2006/relationships/tableStyles" Target="tableStyles.xml"/></Relationships>
</file>

<file path=ppt/notesMasters/_rels/notesMaster1.xml.rels><?xml version='1.0' encoding='UTF-8' standalone='yes'?>
<Relationships xmlns="http://schemas.openxmlformats.org/package/2006/relationships"><Relationship Id="rId1" Type="http://schemas.openxmlformats.org/officeDocument/2006/relationships/theme" Target="../theme/theme1.xml"/></Relationships>
</file>

<file path=ppt/notesMasters/notesMaster1.xml><?xml version="1.0" encoding="utf-8"?>
<p:notes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Header Placeholder 1"/>
          <p:cNvSpPr>
            <a:spLocks noGrp="1"/>
          </p:cNvSpPr>
          <p:nvPr>
            <p:ph type="hdr" sz="quarter"/>
          </p:nvPr>
        </p:nvSpPr>
        <p:spPr>
          <a:xfrm>
            <a:off x="0" y="0"/>
            <a:ext cx="2971800" cy="458788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l">
              <a:defRPr sz="1200"/>
            </a:lvl1pPr>
          </a:lstStyle>
          <a:p>
            <a:endParaRPr lang="en-US"/>
          </a:p>
        </p:txBody>
      </p:sp>
      <p:sp>
        <p:nvSpPr>
          <p:cNvPr id="3" name="Date Placeholder 2"/>
          <p:cNvSpPr>
            <a:spLocks noGrp="1"/>
          </p:cNvSpPr>
          <p:nvPr>
            <p:ph type="dt" idx="1"/>
          </p:nvPr>
        </p:nvSpPr>
        <p:spPr>
          <a:xfrm>
            <a:off x="3884613" y="0"/>
            <a:ext cx="2971800" cy="458788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r">
              <a:defRPr sz="1200"/>
            </a:lvl1pPr>
          </a:lstStyle>
          <a:p>
            <a:fld id="{5282F153-3F37-0F45-9E97-73ACFA13230C}" type="datetimeFigureOut">
              <a:rPr lang="en-US"/>
              <a:t>7/23/19</a:t>
            </a:fld>
            <a:endParaRPr lang="en-US"/>
          </a:p>
        </p:txBody>
      </p:sp>
      <p:sp>
        <p:nvSpPr>
          <p:cNvPr id="4" name="Slide Image Placeholder 3"/>
          <p:cNvSpPr>
            <a:spLocks noGrp="1" noRot="1" noChangeAspect="1"/>
          </p:cNvSpPr>
          <p:nvPr>
            <p:ph type="sldImg" idx="2"/>
          </p:nvPr>
        </p:nvSpPr>
        <p:spPr>
          <a:xfrm>
            <a:off x="685800" y="1143000"/>
            <a:ext cx="5486400" cy="3086100"/>
          </a:xfrm>
          <a:prstGeom prst="rect">
            <a:avLst/>
          </a:prstGeom>
          <a:noFill/>
          <a:ln w="12700">
            <a:solidFill>
              <a:prstClr val="black"/>
            </a:solidFill>
          </a:ln>
        </p:spPr>
        <p:txBody>
          <a:bodyPr vert="horz" lIns="91440" tIns="45720" rIns="91440" bIns="45720" rtlCol="0" anchor="ctr"/>
          <a:lstStyle/>
          <a:p>
            <a:endParaRPr lang="en-US"/>
          </a:p>
        </p:txBody>
      </p:sp>
      <p:sp>
        <p:nvSpPr>
          <p:cNvPr id="5" name="Notes Placeholder 4"/>
          <p:cNvSpPr>
            <a:spLocks noGrp="1"/>
          </p:cNvSpPr>
          <p:nvPr>
            <p:ph type="body" sz="quarter" idx="3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vert="horz" lIns="91440" tIns="45720" rIns="91440" bIns="45720" rtlCol="0"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4"/>
          </p:nvPr>
        </p:nvSpPr>
        <p:spPr>
          <a:xfrm>
            <a:off x="0" y="8685213"/>
            <a:ext cx="2971800" cy="458787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l">
              <a:defRPr sz="1200"/>
            </a:lvl1pPr>
          </a:lstStyle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5"/>
          </p:nvPr>
        </p:nvSpPr>
        <p:spPr>
          <a:xfrm>
            <a:off x="3884613" y="8685213"/>
            <a:ext cx="2971800" cy="458787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r">
              <a:defRPr sz="1200"/>
            </a:lvl1pPr>
          </a:lstStyle>
          <a:p>
            <a:fld id="{CE5E9CC1-C706-0F49-92D6-E571CC5EEA8F}" type="slidenum">
              <a:rPr lang="en-US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 bg1="lt1" tx1="dk1" bg2="lt2" tx2="dk2" accent1="accent1" accent2="accent2" accent3="accent3" accent4="accent4" accent5="accent5" accent6="accent6" hlink="hlink" folHlink="folHlink"/>
  <p:notesStyle>
    <a:lvl1pPr marL="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9pPr>
  </p:notesStyle>
</p:notesMaster>
</file>

<file path=ppt/notesSlides/_rels/notesSlide1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1.xml"/></Relationships>
</file>

<file path=ppt/notesSlides/_rels/notesSlide2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2.xml"/></Relationships>
</file>

<file path=ppt/notesSlides/_rels/notesSlide3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3.xml"/></Relationships>
</file>

<file path=ppt/notesSlides/_rels/notesSlide4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4.xml"/></Relationships>
</file>

<file path=ppt/notesSlides/_rels/notesSlide5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5.xml"/></Relationships>
</file>

<file path=ppt/notesSlides/_rels/notesSlide6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6.xml"/></Relationships>
</file>

<file path=ppt/notesSlides/_rels/notesSlide7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7.xml"/></Relationships>
</file>

<file path=ppt/notesSlides/_rels/notesSlide8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8.xml"/></Relationships>
</file>

<file path=ppt/notesSlides/_rels/notesSlide9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9.xml"/></Relationships>
</file>

<file path=ppt/notesSlides/_rels/notesSlide10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10.xml"/></Relationships>
</file>

<file path=ppt/notesSlides/notesSlide1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2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2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3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3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4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4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5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5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6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6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7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7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8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8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9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9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0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10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slideLayouts/_rels/slideLayout1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>
  <p:cSld name="DEFAULT"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  <p:clrMapOvr>
    <a:masterClrMapping/>
  </p:clrMapOvr>
</p:sldLayout>
</file>

<file path=ppt/slideMasters/_rels/slideMaster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theme" Target="../theme/theme1.xml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  <p:clrMap bg1="lt1" tx1="dk1" bg2="lt2" tx2="dk2" accent1="accent1" accent2="accent2" accent3="accent3" accent4="accent4" accent5="accent5" accent6="accent6" hlink="hlink" folHlink="folHlink"/>
  <p:sldLayoutIdLst>
    <p:sldLayoutId id="2147483649" r:id="rId1"/>
  </p:sldLayoutIdLst>
  <p:hf sldNum="0" hdr="0" ftr="0" dt="0"/>
  <p:txStyles>
    <p:titleStyle>
      <a:lvl1pPr algn="ctr" defTabSz="914400" rtl="0" eaLnBrk="1" latinLnBrk="0" hangingPunct="1">
        <a:spcBef>
          <a:spcPct val="0"/>
        </a:spcBef>
        <a:buNone/>
        <a:defRPr sz="4400" kern="1200">
          <a:solidFill>
            <a:schemeClr val="tx1"/>
          </a:solidFill>
          <a:latin typeface="+mj-lt"/>
          <a:ea typeface="+mj-ea"/>
          <a:cs typeface="+mj-cs"/>
        </a:defRPr>
      </a:lvl1pPr>
    </p:titleStyle>
    <p:bodyStyle>
      <a:lvl1pPr marL="342900" indent="-342900" algn="l" defTabSz="914400" rtl="0" eaLnBrk="1" latinLnBrk="0" hangingPunct="1">
        <a:spcBef>
          <a:spcPct val="20000"/>
        </a:spcBef>
        <a:buFont typeface="Arial" pitchFamily="34" charset="0"/>
        <a:buChar char="•"/>
        <a:defRPr sz="3200" kern="1200">
          <a:solidFill>
            <a:schemeClr val="tx1"/>
          </a:solidFill>
          <a:latin typeface="+mn-lt"/>
          <a:ea typeface="+mn-ea"/>
          <a:cs typeface="+mn-cs"/>
        </a:defRPr>
      </a:lvl1pPr>
      <a:lvl2pPr marL="742950" indent="-285750" algn="l" defTabSz="914400" rtl="0" eaLnBrk="1" latinLnBrk="0" hangingPunct="1">
        <a:spcBef>
          <a:spcPct val="20000"/>
        </a:spcBef>
        <a:buFont typeface="Arial" pitchFamily="34" charset="0"/>
        <a:buChar char="–"/>
        <a:defRPr sz="2800" kern="1200">
          <a:solidFill>
            <a:schemeClr val="tx1"/>
          </a:solidFill>
          <a:latin typeface="+mn-lt"/>
          <a:ea typeface="+mn-ea"/>
          <a:cs typeface="+mn-cs"/>
        </a:defRPr>
      </a:lvl2pPr>
      <a:lvl3pPr marL="11430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400" kern="1200">
          <a:solidFill>
            <a:schemeClr val="tx1"/>
          </a:solidFill>
          <a:latin typeface="+mn-lt"/>
          <a:ea typeface="+mn-ea"/>
          <a:cs typeface="+mn-cs"/>
        </a:defRPr>
      </a:lvl3pPr>
      <a:lvl4pPr marL="1600200" indent="-228600" algn="l" defTabSz="914400" rtl="0" eaLnBrk="1" latinLnBrk="0" hangingPunct="1">
        <a:spcBef>
          <a:spcPct val="20000"/>
        </a:spcBef>
        <a:buFont typeface="Arial" pitchFamily="34" charset="0"/>
        <a:buChar char="–"/>
        <a:defRPr sz="2000" kern="1200">
          <a:solidFill>
            <a:schemeClr val="tx1"/>
          </a:solidFill>
          <a:latin typeface="+mn-lt"/>
          <a:ea typeface="+mn-ea"/>
          <a:cs typeface="+mn-cs"/>
        </a:defRPr>
      </a:lvl4pPr>
      <a:lvl5pPr marL="2057400" indent="-228600" algn="l" defTabSz="914400" rtl="0" eaLnBrk="1" latinLnBrk="0" hangingPunct="1">
        <a:spcBef>
          <a:spcPct val="20000"/>
        </a:spcBef>
        <a:buFont typeface="Arial" pitchFamily="34" charset="0"/>
        <a:buChar char="»"/>
        <a:defRPr sz="2000" kern="1200">
          <a:solidFill>
            <a:schemeClr val="tx1"/>
          </a:solidFill>
          <a:latin typeface="+mn-lt"/>
          <a:ea typeface="+mn-ea"/>
          <a:cs typeface="+mn-cs"/>
        </a:defRPr>
      </a:lvl5pPr>
      <a:lvl6pPr marL="25146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6pPr>
      <a:lvl7pPr marL="29718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7pPr>
      <a:lvl8pPr marL="34290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8pPr>
      <a:lvl9pPr marL="38862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en-US"/>
      </a:defPPr>
      <a:lvl1pPr marL="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1pPr>
      <a:lvl2pPr marL="457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2pPr>
      <a:lvl3pPr marL="914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3pPr>
      <a:lvl4pPr marL="1371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18288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2860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743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200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657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1.xml"/></Relationships>
</file>

<file path=ppt/slides/_rels/slide2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2.xml"/></Relationships>
</file>

<file path=ppt/slides/_rels/slide3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3.xml"/></Relationships>
</file>

<file path=ppt/slides/_rels/slide4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4.xml"/></Relationships>
</file>

<file path=ppt/slides/_rels/slide5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5.xml"/></Relationships>
</file>

<file path=ppt/slides/_rels/slide6.xml.rels><?xml version='1.0' encoding='UTF-8' standalone='yes'?>
<Relationships xmlns="http://schemas.openxmlformats.org/package/2006/relationships"><Relationship Id="rId1" Type="http://schemas.openxmlformats.org/officeDocument/2006/relationships/image" Target="../media/image-6-1.png"/><Relationship Id="rId2" Type="http://schemas.openxmlformats.org/officeDocument/2006/relationships/slideLayout" Target="../slideLayouts/slideLayout1.xml"/><Relationship Id="rId3" Type="http://schemas.openxmlformats.org/officeDocument/2006/relationships/notesSlide" Target="../notesSlides/notesSlide6.xml"/></Relationships>
</file>

<file path=ppt/slides/_rels/slide7.xml.rels><?xml version='1.0' encoding='UTF-8' standalone='yes'?>
<Relationships xmlns="http://schemas.openxmlformats.org/package/2006/relationships"><Relationship Id="rId1" Type="http://schemas.openxmlformats.org/officeDocument/2006/relationships/image" Target="../media/image-7-1.png"/><Relationship Id="rId2" Type="http://schemas.openxmlformats.org/officeDocument/2006/relationships/slideLayout" Target="../slideLayouts/slideLayout1.xml"/><Relationship Id="rId3" Type="http://schemas.openxmlformats.org/officeDocument/2006/relationships/notesSlide" Target="../notesSlides/notesSlide7.xml"/></Relationships>
</file>

<file path=ppt/slides/_rels/slide8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8.xml"/></Relationships>
</file>

<file path=ppt/slides/_rels/slide9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9.xml"/></Relationships>
</file>

<file path=ppt/slides/_rels/slide10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10.xml"/></Relationships>
</file>

<file path=ppt/slides/slide1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">
    <p:bg>
      <p:bgPr>
        <a:solidFill>
          <a:srgbClr val="0A0E1A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457200" y="274320"/>
            <a:ext cx="27432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000" b="1" dirty="0">
                <a:solidFill>
                  <a:srgbClr val="D4AF37"/>
                </a:solidFill>
              </a:rPr>
              <a:t>DATACENDIA</a:t>
            </a:r>
            <a:endParaRPr lang="en-US" sz="1000" dirty="0"/>
          </a:p>
        </p:txBody>
      </p:sp>
      <p:sp>
        <p:nvSpPr>
          <p:cNvPr id="3" name="Text 1"/>
          <p:cNvSpPr/>
          <p:nvPr/>
        </p:nvSpPr>
        <p:spPr>
          <a:xfrm>
            <a:off x="6400800" y="274320"/>
            <a:ext cx="54864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r" indent="0" marL="0">
              <a:buNone/>
            </a:pPr>
            <a:r>
              <a:rPr lang="en-US" sz="800" dirty="0">
                <a:solidFill>
                  <a:srgbClr val="8B8FA3"/>
                </a:solidFill>
              </a:rPr>
              <a:t>PREPARED FOR SEVENTURE PARTNERS</a:t>
            </a:r>
            <a:endParaRPr lang="en-US" sz="800" dirty="0"/>
          </a:p>
        </p:txBody>
      </p:sp>
      <p:sp>
        <p:nvSpPr>
          <p:cNvPr id="4" name="Shape 2"/>
          <p:cNvSpPr/>
          <p:nvPr/>
        </p:nvSpPr>
        <p:spPr>
          <a:xfrm>
            <a:off x="4114800" y="1645920"/>
            <a:ext cx="3931920" cy="411480"/>
          </a:xfrm>
          <a:prstGeom prst="roundRect">
            <a:avLst>
              <a:gd name="adj" fmla="val 8889"/>
            </a:avLst>
          </a:prstGeom>
          <a:solidFill>
            <a:srgbClr val="D4AF37"/>
          </a:solidFill>
          <a:ln/>
        </p:spPr>
        <p:txBody>
          <a:bodyPr/>
          <a:p/>
        </p:txBody>
      </p:sp>
      <p:sp>
        <p:nvSpPr>
          <p:cNvPr id="5" name="Text 3"/>
          <p:cNvSpPr/>
          <p:nvPr/>
        </p:nvSpPr>
        <p:spPr>
          <a:xfrm>
            <a:off x="4114800" y="1645920"/>
            <a:ext cx="3931920" cy="41148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000" b="1" dirty="0">
                <a:solidFill>
                  <a:srgbClr val="0A0E1A"/>
                </a:solidFill>
              </a:rPr>
              <a:t>PREPARED FOR SEVENTURE PARTNERS</a:t>
            </a:r>
            <a:endParaRPr lang="en-US" sz="1000" dirty="0"/>
          </a:p>
        </p:txBody>
      </p:sp>
      <p:sp>
        <p:nvSpPr>
          <p:cNvPr id="6" name="Text 4"/>
          <p:cNvSpPr/>
          <p:nvPr/>
        </p:nvSpPr>
        <p:spPr>
          <a:xfrm>
            <a:off x="457200" y="2286000"/>
            <a:ext cx="10972800" cy="3657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100" dirty="0">
                <a:solidFill>
                  <a:srgbClr val="D4AF37"/>
                </a:solidFill>
              </a:rPr>
              <a:t>DATACENDIA</a:t>
            </a:r>
            <a:endParaRPr lang="en-US" sz="1100" dirty="0"/>
          </a:p>
        </p:txBody>
      </p:sp>
      <p:sp>
        <p:nvSpPr>
          <p:cNvPr id="7" name="Text 5"/>
          <p:cNvSpPr/>
          <p:nvPr/>
        </p:nvSpPr>
        <p:spPr>
          <a:xfrm>
            <a:off x="457200" y="2743200"/>
            <a:ext cx="10972800" cy="109728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3400" b="1" dirty="0">
                <a:solidFill>
                  <a:srgbClr val="FFFFFF"/>
                </a:solidFill>
              </a:rPr>
              <a:t>Datacendia for SEVENTURE PARTNERS</a:t>
            </a:r>
            <a:endParaRPr lang="en-US" sz="3400" dirty="0"/>
          </a:p>
        </p:txBody>
      </p:sp>
      <p:sp>
        <p:nvSpPr>
          <p:cNvPr id="8" name="Text 6"/>
          <p:cNvSpPr/>
          <p:nvPr/>
        </p:nvSpPr>
        <p:spPr>
          <a:xfrm>
            <a:off x="1371600" y="4023360"/>
            <a:ext cx="9144000" cy="4572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500" dirty="0">
                <a:solidFill>
                  <a:srgbClr val="8B8FA3"/>
                </a:solidFill>
              </a:rPr>
              <a:t>Decision Evidence Infrastructure for AI Systems</a:t>
            </a:r>
            <a:endParaRPr lang="en-US" sz="1500" dirty="0"/>
          </a:p>
        </p:txBody>
      </p:sp>
      <p:sp>
        <p:nvSpPr>
          <p:cNvPr id="9" name="Shape 7"/>
          <p:cNvSpPr/>
          <p:nvPr/>
        </p:nvSpPr>
        <p:spPr>
          <a:xfrm>
            <a:off x="5029200" y="4663440"/>
            <a:ext cx="2103120" cy="0"/>
          </a:xfrm>
          <a:prstGeom prst="line">
            <a:avLst/>
          </a:prstGeom>
          <a:noFill/>
          <a:ln w="25400">
            <a:solidFill>
              <a:srgbClr val="D4AF37"/>
            </a:solidFill>
            <a:prstDash val="solid"/>
          </a:ln>
        </p:spPr>
        <p:txBody>
          <a:bodyPr/>
          <a:p/>
        </p:txBody>
      </p:sp>
      <p:sp>
        <p:nvSpPr>
          <p:cNvPr id="10" name="Text 8"/>
          <p:cNvSpPr/>
          <p:nvPr/>
        </p:nvSpPr>
        <p:spPr>
          <a:xfrm>
            <a:off x="1828800" y="4937760"/>
            <a:ext cx="8229600" cy="3657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200" dirty="0">
                <a:solidFill>
                  <a:srgbClr val="8B8FA3"/>
                </a:solidFill>
              </a:rPr>
              <a:t>Venture Capital · Paris, France · $1B+ AUM</a:t>
            </a:r>
            <a:endParaRPr lang="en-US" sz="1200" dirty="0"/>
          </a:p>
        </p:txBody>
      </p:sp>
      <p:sp>
        <p:nvSpPr>
          <p:cNvPr id="11" name="Text 9"/>
          <p:cNvSpPr/>
          <p:nvPr/>
        </p:nvSpPr>
        <p:spPr>
          <a:xfrm>
            <a:off x="457200" y="6400800"/>
            <a:ext cx="36576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800" dirty="0">
                <a:solidFill>
                  <a:srgbClr val="8B8FA3"/>
                </a:solidFill>
              </a:rPr>
              <a:t>© 2024–2026 Datacendia, LLC</a:t>
            </a:r>
            <a:endParaRPr lang="en-US" sz="800" dirty="0"/>
          </a:p>
        </p:txBody>
      </p:sp>
      <p:sp>
        <p:nvSpPr>
          <p:cNvPr id="12" name="Text 10"/>
          <p:cNvSpPr/>
          <p:nvPr/>
        </p:nvSpPr>
        <p:spPr>
          <a:xfrm>
            <a:off x="8229600" y="6400800"/>
            <a:ext cx="36576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r" indent="0" marL="0">
              <a:buNone/>
            </a:pPr>
            <a:r>
              <a:rPr lang="en-US" sz="800" dirty="0">
                <a:solidFill>
                  <a:srgbClr val="8B8FA3"/>
                </a:solidFill>
              </a:rPr>
              <a:t>datacendia.com</a:t>
            </a:r>
            <a:endParaRPr lang="en-US" sz="800" dirty="0"/>
          </a:p>
        </p:txBody>
      </p:sp>
    </p:spTree>
  </p:cSld>
  <p:clrMapOvr>
    <a:masterClrMapping/>
  </p:clrMapOvr>
</p:sld>
</file>

<file path=ppt/slides/slide2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2">
    <p:bg>
      <p:bgPr>
        <a:solidFill>
          <a:srgbClr val="0A0E1A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457200" y="274320"/>
            <a:ext cx="27432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000" b="1" dirty="0">
                <a:solidFill>
                  <a:srgbClr val="D4AF37"/>
                </a:solidFill>
              </a:rPr>
              <a:t>DATACENDIA</a:t>
            </a:r>
            <a:endParaRPr lang="en-US" sz="1000" dirty="0"/>
          </a:p>
        </p:txBody>
      </p:sp>
      <p:sp>
        <p:nvSpPr>
          <p:cNvPr id="3" name="Text 1"/>
          <p:cNvSpPr/>
          <p:nvPr/>
        </p:nvSpPr>
        <p:spPr>
          <a:xfrm>
            <a:off x="8229600" y="274320"/>
            <a:ext cx="36576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r" indent="0" marL="0">
              <a:buNone/>
            </a:pPr>
            <a:r>
              <a:rPr lang="en-US" sz="800" dirty="0">
                <a:solidFill>
                  <a:srgbClr val="8B8FA3"/>
                </a:solidFill>
              </a:rPr>
              <a:t>INVESTOR ALIGNMENT</a:t>
            </a:r>
            <a:endParaRPr lang="en-US" sz="800" dirty="0"/>
          </a:p>
        </p:txBody>
      </p:sp>
      <p:sp>
        <p:nvSpPr>
          <p:cNvPr id="4" name="Text 2"/>
          <p:cNvSpPr/>
          <p:nvPr/>
        </p:nvSpPr>
        <p:spPr>
          <a:xfrm>
            <a:off x="731520" y="914400"/>
            <a:ext cx="54864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100" dirty="0">
                <a:solidFill>
                  <a:srgbClr val="D4AF37"/>
                </a:solidFill>
              </a:rPr>
              <a:t>WHY SEVENTURE PARTNERS</a:t>
            </a:r>
            <a:endParaRPr lang="en-US" sz="1100" dirty="0"/>
          </a:p>
        </p:txBody>
      </p:sp>
      <p:sp>
        <p:nvSpPr>
          <p:cNvPr id="5" name="Text 3"/>
          <p:cNvSpPr/>
          <p:nvPr/>
        </p:nvSpPr>
        <p:spPr>
          <a:xfrm>
            <a:off x="731520" y="1371600"/>
            <a:ext cx="10058400" cy="54864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2200" b="1" dirty="0">
                <a:solidFill>
                  <a:srgbClr val="FFFFFF"/>
                </a:solidFill>
              </a:rPr>
              <a:t>Why Datacendia Aligns with SEVENTURE PARTNERS</a:t>
            </a:r>
            <a:endParaRPr lang="en-US" sz="2200" dirty="0"/>
          </a:p>
        </p:txBody>
      </p:sp>
      <p:sp>
        <p:nvSpPr>
          <p:cNvPr id="6" name="Text 4"/>
          <p:cNvSpPr/>
          <p:nvPr/>
        </p:nvSpPr>
        <p:spPr>
          <a:xfrm>
            <a:off x="731520" y="2194560"/>
            <a:ext cx="5029200" cy="1280160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indent="0" marL="0">
              <a:lnSpc>
                <a:spcPct val="150000"/>
              </a:lnSpc>
              <a:buNone/>
            </a:pPr>
            <a:r>
              <a:rPr lang="en-US" sz="1200" dirty="0">
                <a:solidFill>
                  <a:srgbClr val="8B8FA3"/>
                </a:solidFill>
              </a:rPr>
              <a:t>AI is eating software. seventure's dedicated AI fund backs infrastructure that becomes the default layer for enterprise AI adoption.</a:t>
            </a:r>
            <a:endParaRPr lang="en-US" sz="1200" dirty="0"/>
          </a:p>
        </p:txBody>
      </p:sp>
      <p:sp>
        <p:nvSpPr>
          <p:cNvPr id="7" name="Shape 5"/>
          <p:cNvSpPr/>
          <p:nvPr/>
        </p:nvSpPr>
        <p:spPr>
          <a:xfrm>
            <a:off x="731520" y="3657600"/>
            <a:ext cx="5029200" cy="2286000"/>
          </a:xfrm>
          <a:prstGeom prst="roundRect">
            <a:avLst>
              <a:gd name="adj" fmla="val 4000"/>
            </a:avLst>
          </a:prstGeom>
          <a:solidFill>
            <a:srgbClr val="141825"/>
          </a:solidFill>
          <a:ln/>
        </p:spPr>
        <p:txBody>
          <a:bodyPr/>
          <a:p/>
        </p:txBody>
      </p:sp>
      <p:sp>
        <p:nvSpPr>
          <p:cNvPr id="8" name="Text 6"/>
          <p:cNvSpPr/>
          <p:nvPr/>
        </p:nvSpPr>
        <p:spPr>
          <a:xfrm>
            <a:off x="1005840" y="3840480"/>
            <a:ext cx="4572000" cy="3657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300" b="1" dirty="0">
                <a:solidFill>
                  <a:srgbClr val="D4AF37"/>
                </a:solidFill>
              </a:rPr>
              <a:t>Your Thesis → Our Mission</a:t>
            </a:r>
            <a:endParaRPr lang="en-US" sz="1300" dirty="0"/>
          </a:p>
        </p:txBody>
      </p:sp>
      <p:sp>
        <p:nvSpPr>
          <p:cNvPr id="9" name="Text 7"/>
          <p:cNvSpPr/>
          <p:nvPr/>
        </p:nvSpPr>
        <p:spPr>
          <a:xfrm>
            <a:off x="1005840" y="4297680"/>
            <a:ext cx="4572000" cy="1463040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indent="0" marL="0">
              <a:lnSpc>
                <a:spcPct val="150000"/>
              </a:lnSpc>
              <a:buNone/>
            </a:pPr>
            <a:r>
              <a:rPr lang="en-US" sz="1100" dirty="0">
                <a:solidFill>
                  <a:srgbClr val="8B8FA3"/>
                </a:solidFill>
              </a:rPr>
              <a:t>Datacendia is the missing decision-evidence layer for enterprise AI — the infrastructure that sits between AI deployment and regulatory compliance. As AI adoption accelerates, every enterprise needs cryptographic proof of AI decisions.</a:t>
            </a:r>
            <a:endParaRPr lang="en-US" sz="1100" dirty="0"/>
          </a:p>
        </p:txBody>
      </p:sp>
      <p:sp>
        <p:nvSpPr>
          <p:cNvPr id="10" name="Shape 8"/>
          <p:cNvSpPr/>
          <p:nvPr/>
        </p:nvSpPr>
        <p:spPr>
          <a:xfrm>
            <a:off x="6400800" y="2194560"/>
            <a:ext cx="5029200" cy="3749040"/>
          </a:xfrm>
          <a:prstGeom prst="roundRect">
            <a:avLst>
              <a:gd name="adj" fmla="val 2439"/>
            </a:avLst>
          </a:prstGeom>
          <a:solidFill>
            <a:srgbClr val="141825"/>
          </a:solidFill>
          <a:ln/>
        </p:spPr>
        <p:txBody>
          <a:bodyPr/>
          <a:p/>
        </p:txBody>
      </p:sp>
      <p:sp>
        <p:nvSpPr>
          <p:cNvPr id="11" name="Text 9"/>
          <p:cNvSpPr/>
          <p:nvPr/>
        </p:nvSpPr>
        <p:spPr>
          <a:xfrm>
            <a:off x="6675120" y="2377440"/>
            <a:ext cx="4572000" cy="3657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300" b="1" dirty="0">
                <a:solidFill>
                  <a:srgbClr val="D4AF37"/>
                </a:solidFill>
              </a:rPr>
              <a:t>Portfolio Adjacency</a:t>
            </a:r>
            <a:endParaRPr lang="en-US" sz="1300" dirty="0"/>
          </a:p>
        </p:txBody>
      </p:sp>
      <p:sp>
        <p:nvSpPr>
          <p:cNvPr id="12" name="Text 10"/>
          <p:cNvSpPr/>
          <p:nvPr/>
        </p:nvSpPr>
        <p:spPr>
          <a:xfrm>
            <a:off x="6675120" y="2834640"/>
            <a:ext cx="4389120" cy="1371600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marL="342900" indent="-342900">
              <a:lnSpc>
                <a:spcPct val="140000"/>
              </a:lnSpc>
              <a:buSzPct val="100000"/>
              <a:buChar char="✓"/>
            </a:pPr>
            <a:r>
              <a:rPr lang="en-US" sz="1100" dirty="0">
                <a:solidFill>
                  <a:srgbClr val="D4AF37"/>
                </a:solidFill>
              </a:rPr>
              <a:t>Lifen</a:t>
            </a:r>
            <a:endParaRPr lang="en-US" sz="1100" dirty="0"/>
          </a:p>
          <a:p>
            <a:pPr marL="342900" indent="-342900">
              <a:lnSpc>
                <a:spcPct val="140000"/>
              </a:lnSpc>
              <a:buSzPct val="100000"/>
              <a:buChar char="✓"/>
            </a:pPr>
            <a:r>
              <a:rPr lang="en-US" sz="1100" dirty="0">
                <a:solidFill>
                  <a:srgbClr val="D4AF37"/>
                </a:solidFill>
              </a:rPr>
              <a:t>Cardiologs</a:t>
            </a:r>
            <a:endParaRPr lang="en-US" sz="1100" dirty="0"/>
          </a:p>
          <a:p>
            <a:pPr marL="342900" indent="-342900">
              <a:lnSpc>
                <a:spcPct val="140000"/>
              </a:lnSpc>
              <a:buSzPct val="100000"/>
              <a:buChar char="✓"/>
            </a:pPr>
            <a:r>
              <a:rPr lang="en-US" sz="1100" dirty="0">
                <a:solidFill>
                  <a:srgbClr val="D4AF37"/>
                </a:solidFill>
              </a:rPr>
              <a:t>Voluntis</a:t>
            </a:r>
            <a:endParaRPr lang="en-US" sz="1100" dirty="0"/>
          </a:p>
          <a:p>
            <a:pPr marL="342900" indent="-342900">
              <a:lnSpc>
                <a:spcPct val="140000"/>
              </a:lnSpc>
              <a:buSzPct val="100000"/>
              <a:buChar char="✓"/>
            </a:pPr>
            <a:r>
              <a:rPr lang="en-US" sz="1100" dirty="0">
                <a:solidFill>
                  <a:srgbClr val="D4AF37"/>
                </a:solidFill>
              </a:rPr>
              <a:t>dbt Labs</a:t>
            </a:r>
            <a:endParaRPr lang="en-US" sz="1100" dirty="0"/>
          </a:p>
          <a:p>
            <a:pPr marL="342900" indent="-342900">
              <a:lnSpc>
                <a:spcPct val="140000"/>
              </a:lnSpc>
              <a:buSzPct val="100000"/>
              <a:buChar char="✓"/>
            </a:pPr>
            <a:r>
              <a:rPr lang="en-US" sz="1100" dirty="0">
                <a:solidFill>
                  <a:srgbClr val="D4AF37"/>
                </a:solidFill>
              </a:rPr>
              <a:t>Replit</a:t>
            </a:r>
            <a:endParaRPr lang="en-US" sz="1100" dirty="0"/>
          </a:p>
        </p:txBody>
      </p:sp>
      <p:sp>
        <p:nvSpPr>
          <p:cNvPr id="13" name="Text 11"/>
          <p:cNvSpPr/>
          <p:nvPr/>
        </p:nvSpPr>
        <p:spPr>
          <a:xfrm>
            <a:off x="6675120" y="4389120"/>
            <a:ext cx="4389120" cy="1371600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indent="0" marL="0">
              <a:lnSpc>
                <a:spcPct val="140000"/>
              </a:lnSpc>
              <a:buNone/>
            </a:pPr>
            <a:r>
              <a:rPr lang="en-US" sz="1100" dirty="0">
                <a:solidFill>
                  <a:srgbClr val="8B8FA3"/>
                </a:solidFill>
              </a:rPr>
              <a:t>seventure has backed the data stack (Lifen, dbt) and AI infra (Cardiologs). Datacendia completes the stack: decision evidence, accountability, and regulatory compliance for every AI decision.</a:t>
            </a:r>
            <a:endParaRPr lang="en-US" sz="1100" dirty="0"/>
          </a:p>
        </p:txBody>
      </p:sp>
      <p:sp>
        <p:nvSpPr>
          <p:cNvPr id="14" name="Text 12"/>
          <p:cNvSpPr/>
          <p:nvPr/>
        </p:nvSpPr>
        <p:spPr>
          <a:xfrm>
            <a:off x="457200" y="6400800"/>
            <a:ext cx="36576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800" dirty="0">
                <a:solidFill>
                  <a:srgbClr val="8B8FA3"/>
                </a:solidFill>
              </a:rPr>
              <a:t>© 2024–2026 Datacendia, LLC</a:t>
            </a:r>
            <a:endParaRPr lang="en-US" sz="800" dirty="0"/>
          </a:p>
        </p:txBody>
      </p:sp>
      <p:sp>
        <p:nvSpPr>
          <p:cNvPr id="15" name="Text 13"/>
          <p:cNvSpPr/>
          <p:nvPr/>
        </p:nvSpPr>
        <p:spPr>
          <a:xfrm>
            <a:off x="8229600" y="6400800"/>
            <a:ext cx="36576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r" indent="0" marL="0">
              <a:buNone/>
            </a:pPr>
            <a:r>
              <a:rPr lang="en-US" sz="800" dirty="0">
                <a:solidFill>
                  <a:srgbClr val="8B8FA3"/>
                </a:solidFill>
              </a:rPr>
              <a:t>datacendia.com</a:t>
            </a:r>
            <a:endParaRPr lang="en-US" sz="800" dirty="0"/>
          </a:p>
        </p:txBody>
      </p:sp>
    </p:spTree>
  </p:cSld>
  <p:clrMapOvr>
    <a:masterClrMapping/>
  </p:clrMapOvr>
</p:sld>
</file>

<file path=ppt/slides/slide3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3">
    <p:bg>
      <p:bgPr>
        <a:solidFill>
          <a:srgbClr val="0A0E1A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457200" y="274320"/>
            <a:ext cx="27432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000" b="1" dirty="0">
                <a:solidFill>
                  <a:srgbClr val="D4AF37"/>
                </a:solidFill>
              </a:rPr>
              <a:t>DATACENDIA</a:t>
            </a:r>
            <a:endParaRPr lang="en-US" sz="1000" dirty="0"/>
          </a:p>
        </p:txBody>
      </p:sp>
      <p:sp>
        <p:nvSpPr>
          <p:cNvPr id="3" name="Text 1"/>
          <p:cNvSpPr/>
          <p:nvPr/>
        </p:nvSpPr>
        <p:spPr>
          <a:xfrm>
            <a:off x="731520" y="914400"/>
            <a:ext cx="36576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100" dirty="0">
                <a:solidFill>
                  <a:srgbClr val="D4AF37"/>
                </a:solidFill>
              </a:rPr>
              <a:t>THE PROBLEM</a:t>
            </a:r>
            <a:endParaRPr lang="en-US" sz="1100" dirty="0"/>
          </a:p>
        </p:txBody>
      </p:sp>
      <p:sp>
        <p:nvSpPr>
          <p:cNvPr id="4" name="Text 2"/>
          <p:cNvSpPr/>
          <p:nvPr/>
        </p:nvSpPr>
        <p:spPr>
          <a:xfrm>
            <a:off x="731520" y="1371600"/>
            <a:ext cx="10058400" cy="54864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2400" b="1" dirty="0">
                <a:solidFill>
                  <a:srgbClr val="FFFFFF"/>
                </a:solidFill>
              </a:rPr>
              <a:t>Enterprise AI Has No Decision Evidence Layer</a:t>
            </a:r>
            <a:endParaRPr lang="en-US" sz="2400" dirty="0"/>
          </a:p>
        </p:txBody>
      </p:sp>
      <p:sp>
        <p:nvSpPr>
          <p:cNvPr id="5" name="Text 3"/>
          <p:cNvSpPr/>
          <p:nvPr/>
        </p:nvSpPr>
        <p:spPr>
          <a:xfrm>
            <a:off x="731520" y="2194560"/>
            <a:ext cx="10058400" cy="2743200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marL="342900" indent="-342900">
              <a:lnSpc>
                <a:spcPct val="150000"/>
              </a:lnSpc>
              <a:buSzPct val="100000"/>
              <a:buChar char="→"/>
            </a:pPr>
            <a:r>
              <a:rPr lang="en-US" sz="1300" dirty="0">
                <a:solidFill>
                  <a:srgbClr val="8B8FA3"/>
                </a:solidFill>
              </a:rPr>
              <a:t>Every enterprise deploying AI will be required to produce decision evidence under regulatory or legal challenge — and no platform exists to generate it</a:t>
            </a:r>
            <a:endParaRPr lang="en-US" sz="1300" dirty="0"/>
          </a:p>
          <a:p>
            <a:pPr marL="342900" indent="-342900">
              <a:lnSpc>
                <a:spcPct val="150000"/>
              </a:lnSpc>
              <a:buSzPct val="100000"/>
              <a:buChar char="→"/>
            </a:pPr>
            <a:r>
              <a:rPr lang="en-US" sz="1300" dirty="0">
                <a:solidFill>
                  <a:srgbClr val="8B8FA3"/>
                </a:solidFill>
              </a:rPr>
              <a:t>EU AI Act (2025–2026) mandates governance for high-risk AI — penalties up to €35M or 7% revenue</a:t>
            </a:r>
            <a:endParaRPr lang="en-US" sz="1300" dirty="0"/>
          </a:p>
          <a:p>
            <a:pPr marL="342900" indent="-342900">
              <a:lnSpc>
                <a:spcPct val="150000"/>
              </a:lnSpc>
              <a:buSzPct val="100000"/>
              <a:buChar char="→"/>
            </a:pPr>
            <a:r>
              <a:rPr lang="en-US" sz="1300" dirty="0">
                <a:solidFill>
                  <a:srgbClr val="8B8FA3"/>
                </a:solidFill>
              </a:rPr>
              <a:t>DORA requires AI operational resilience for financial services by Jan 2025</a:t>
            </a:r>
            <a:endParaRPr lang="en-US" sz="1300" dirty="0"/>
          </a:p>
          <a:p>
            <a:pPr marL="342900" indent="-342900">
              <a:lnSpc>
                <a:spcPct val="150000"/>
              </a:lnSpc>
              <a:buSzPct val="100000"/>
              <a:buChar char="→"/>
            </a:pPr>
            <a:r>
              <a:rPr lang="en-US" sz="1300" dirty="0">
                <a:solidFill>
                  <a:srgbClr val="8B8FA3"/>
                </a:solidFill>
              </a:rPr>
              <a:t>No widely adopted platform provides cryptographically verifiable decision evidence at the decision level</a:t>
            </a:r>
            <a:endParaRPr lang="en-US" sz="1300" dirty="0"/>
          </a:p>
          <a:p>
            <a:pPr marL="342900" indent="-342900">
              <a:lnSpc>
                <a:spcPct val="150000"/>
              </a:lnSpc>
              <a:buSzPct val="100000"/>
              <a:buChar char="→"/>
            </a:pPr>
            <a:r>
              <a:rPr lang="en-US" sz="1300" dirty="0">
                <a:solidFill>
                  <a:srgbClr val="8B8FA3"/>
                </a:solidFill>
              </a:rPr>
              <a:t>Enterprises face regulatory risk with every AI deployment — and have no solution</a:t>
            </a:r>
            <a:endParaRPr lang="en-US" sz="1300" dirty="0"/>
          </a:p>
        </p:txBody>
      </p:sp>
      <p:sp>
        <p:nvSpPr>
          <p:cNvPr id="6" name="Shape 4"/>
          <p:cNvSpPr/>
          <p:nvPr/>
        </p:nvSpPr>
        <p:spPr>
          <a:xfrm>
            <a:off x="731520" y="5029200"/>
            <a:ext cx="2468880" cy="1097280"/>
          </a:xfrm>
          <a:prstGeom prst="roundRect">
            <a:avLst>
              <a:gd name="adj" fmla="val 8333"/>
            </a:avLst>
          </a:prstGeom>
          <a:solidFill>
            <a:srgbClr val="141825"/>
          </a:solidFill>
          <a:ln/>
        </p:spPr>
        <p:txBody>
          <a:bodyPr/>
          <a:p/>
        </p:txBody>
      </p:sp>
      <p:sp>
        <p:nvSpPr>
          <p:cNvPr id="7" name="Text 5"/>
          <p:cNvSpPr/>
          <p:nvPr/>
        </p:nvSpPr>
        <p:spPr>
          <a:xfrm>
            <a:off x="731520" y="5120640"/>
            <a:ext cx="2468880" cy="54864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2400" b="1" dirty="0">
                <a:solidFill>
                  <a:srgbClr val="D4AF37"/>
                </a:solidFill>
              </a:rPr>
              <a:t>€35M</a:t>
            </a:r>
            <a:endParaRPr lang="en-US" sz="2400" dirty="0"/>
          </a:p>
        </p:txBody>
      </p:sp>
      <p:sp>
        <p:nvSpPr>
          <p:cNvPr id="8" name="Text 6"/>
          <p:cNvSpPr/>
          <p:nvPr/>
        </p:nvSpPr>
        <p:spPr>
          <a:xfrm>
            <a:off x="914400" y="5669280"/>
            <a:ext cx="2103120" cy="3657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900" dirty="0">
                <a:solidFill>
                  <a:srgbClr val="8B8FA3"/>
                </a:solidFill>
              </a:rPr>
              <a:t>Max EU AI Act penalty</a:t>
            </a:r>
            <a:endParaRPr lang="en-US" sz="900" dirty="0"/>
          </a:p>
        </p:txBody>
      </p:sp>
      <p:sp>
        <p:nvSpPr>
          <p:cNvPr id="9" name="Shape 7"/>
          <p:cNvSpPr/>
          <p:nvPr/>
        </p:nvSpPr>
        <p:spPr>
          <a:xfrm>
            <a:off x="3474720" y="5029200"/>
            <a:ext cx="2468880" cy="1097280"/>
          </a:xfrm>
          <a:prstGeom prst="roundRect">
            <a:avLst>
              <a:gd name="adj" fmla="val 8333"/>
            </a:avLst>
          </a:prstGeom>
          <a:solidFill>
            <a:srgbClr val="141825"/>
          </a:solidFill>
          <a:ln/>
        </p:spPr>
        <p:txBody>
          <a:bodyPr/>
          <a:p/>
        </p:txBody>
      </p:sp>
      <p:sp>
        <p:nvSpPr>
          <p:cNvPr id="10" name="Text 8"/>
          <p:cNvSpPr/>
          <p:nvPr/>
        </p:nvSpPr>
        <p:spPr>
          <a:xfrm>
            <a:off x="3474720" y="5120640"/>
            <a:ext cx="2468880" cy="54864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2400" b="1" dirty="0">
                <a:solidFill>
                  <a:srgbClr val="D4AF37"/>
                </a:solidFill>
              </a:rPr>
              <a:t>0</a:t>
            </a:r>
            <a:endParaRPr lang="en-US" sz="2400" dirty="0"/>
          </a:p>
        </p:txBody>
      </p:sp>
      <p:sp>
        <p:nvSpPr>
          <p:cNvPr id="11" name="Text 9"/>
          <p:cNvSpPr/>
          <p:nvPr/>
        </p:nvSpPr>
        <p:spPr>
          <a:xfrm>
            <a:off x="3657600" y="5669280"/>
            <a:ext cx="2103120" cy="3657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900" dirty="0">
                <a:solidFill>
                  <a:srgbClr val="8B8FA3"/>
                </a:solidFill>
              </a:rPr>
              <a:t>Widely adopted decision-evidence platforms</a:t>
            </a:r>
            <a:endParaRPr lang="en-US" sz="900" dirty="0"/>
          </a:p>
        </p:txBody>
      </p:sp>
      <p:sp>
        <p:nvSpPr>
          <p:cNvPr id="12" name="Shape 10"/>
          <p:cNvSpPr/>
          <p:nvPr/>
        </p:nvSpPr>
        <p:spPr>
          <a:xfrm>
            <a:off x="6217920" y="5029200"/>
            <a:ext cx="2468880" cy="1097280"/>
          </a:xfrm>
          <a:prstGeom prst="roundRect">
            <a:avLst>
              <a:gd name="adj" fmla="val 8333"/>
            </a:avLst>
          </a:prstGeom>
          <a:solidFill>
            <a:srgbClr val="141825"/>
          </a:solidFill>
          <a:ln/>
        </p:spPr>
        <p:txBody>
          <a:bodyPr/>
          <a:p/>
        </p:txBody>
      </p:sp>
      <p:sp>
        <p:nvSpPr>
          <p:cNvPr id="13" name="Text 11"/>
          <p:cNvSpPr/>
          <p:nvPr/>
        </p:nvSpPr>
        <p:spPr>
          <a:xfrm>
            <a:off x="6217920" y="5120640"/>
            <a:ext cx="2468880" cy="54864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2400" b="1" dirty="0">
                <a:solidFill>
                  <a:srgbClr val="D4AF37"/>
                </a:solidFill>
              </a:rPr>
              <a:t>2025</a:t>
            </a:r>
            <a:endParaRPr lang="en-US" sz="2400" dirty="0"/>
          </a:p>
        </p:txBody>
      </p:sp>
      <p:sp>
        <p:nvSpPr>
          <p:cNvPr id="14" name="Text 12"/>
          <p:cNvSpPr/>
          <p:nvPr/>
        </p:nvSpPr>
        <p:spPr>
          <a:xfrm>
            <a:off x="6400800" y="5669280"/>
            <a:ext cx="2103120" cy="3657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900" dirty="0">
                <a:solidFill>
                  <a:srgbClr val="8B8FA3"/>
                </a:solidFill>
              </a:rPr>
              <a:t>EU AI Act high-risk in effect</a:t>
            </a:r>
            <a:endParaRPr lang="en-US" sz="900" dirty="0"/>
          </a:p>
        </p:txBody>
      </p:sp>
      <p:sp>
        <p:nvSpPr>
          <p:cNvPr id="15" name="Shape 13"/>
          <p:cNvSpPr/>
          <p:nvPr/>
        </p:nvSpPr>
        <p:spPr>
          <a:xfrm>
            <a:off x="8961120" y="5029200"/>
            <a:ext cx="2468880" cy="1097280"/>
          </a:xfrm>
          <a:prstGeom prst="roundRect">
            <a:avLst>
              <a:gd name="adj" fmla="val 8333"/>
            </a:avLst>
          </a:prstGeom>
          <a:solidFill>
            <a:srgbClr val="141825"/>
          </a:solidFill>
          <a:ln/>
        </p:spPr>
        <p:txBody>
          <a:bodyPr/>
          <a:p/>
        </p:txBody>
      </p:sp>
      <p:sp>
        <p:nvSpPr>
          <p:cNvPr id="16" name="Text 14"/>
          <p:cNvSpPr/>
          <p:nvPr/>
        </p:nvSpPr>
        <p:spPr>
          <a:xfrm>
            <a:off x="8961120" y="5120640"/>
            <a:ext cx="2468880" cy="54864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2400" b="1" dirty="0">
                <a:solidFill>
                  <a:srgbClr val="D4AF37"/>
                </a:solidFill>
              </a:rPr>
              <a:t>85%</a:t>
            </a:r>
            <a:endParaRPr lang="en-US" sz="2400" dirty="0"/>
          </a:p>
        </p:txBody>
      </p:sp>
      <p:sp>
        <p:nvSpPr>
          <p:cNvPr id="17" name="Text 15"/>
          <p:cNvSpPr/>
          <p:nvPr/>
        </p:nvSpPr>
        <p:spPr>
          <a:xfrm>
            <a:off x="9144000" y="5669280"/>
            <a:ext cx="2103120" cy="3657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900" dirty="0">
                <a:solidFill>
                  <a:srgbClr val="8B8FA3"/>
                </a:solidFill>
              </a:rPr>
              <a:t>Fortune 500 deploying AI</a:t>
            </a:r>
            <a:endParaRPr lang="en-US" sz="900" dirty="0"/>
          </a:p>
        </p:txBody>
      </p:sp>
      <p:sp>
        <p:nvSpPr>
          <p:cNvPr id="18" name="Text 16"/>
          <p:cNvSpPr/>
          <p:nvPr/>
        </p:nvSpPr>
        <p:spPr>
          <a:xfrm>
            <a:off x="457200" y="6400800"/>
            <a:ext cx="36576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800" dirty="0">
                <a:solidFill>
                  <a:srgbClr val="8B8FA3"/>
                </a:solidFill>
              </a:rPr>
              <a:t>© 2024–2026 Datacendia, LLC</a:t>
            </a:r>
            <a:endParaRPr lang="en-US" sz="800" dirty="0"/>
          </a:p>
        </p:txBody>
      </p:sp>
      <p:sp>
        <p:nvSpPr>
          <p:cNvPr id="19" name="Text 17"/>
          <p:cNvSpPr/>
          <p:nvPr/>
        </p:nvSpPr>
        <p:spPr>
          <a:xfrm>
            <a:off x="8229600" y="6400800"/>
            <a:ext cx="36576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r" indent="0" marL="0">
              <a:buNone/>
            </a:pPr>
            <a:r>
              <a:rPr lang="en-US" sz="800" dirty="0">
                <a:solidFill>
                  <a:srgbClr val="8B8FA3"/>
                </a:solidFill>
              </a:rPr>
              <a:t>datacendia.com</a:t>
            </a:r>
            <a:endParaRPr lang="en-US" sz="800" dirty="0"/>
          </a:p>
        </p:txBody>
      </p:sp>
    </p:spTree>
  </p:cSld>
  <p:clrMapOvr>
    <a:masterClrMapping/>
  </p:clrMapOvr>
</p:sld>
</file>

<file path=ppt/slides/slide4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4">
    <p:bg>
      <p:bgPr>
        <a:solidFill>
          <a:srgbClr val="0A0E1A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457200" y="274320"/>
            <a:ext cx="27432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000" b="1" dirty="0">
                <a:solidFill>
                  <a:srgbClr val="D4AF37"/>
                </a:solidFill>
              </a:rPr>
              <a:t>DATACENDIA</a:t>
            </a:r>
            <a:endParaRPr lang="en-US" sz="1000" dirty="0"/>
          </a:p>
        </p:txBody>
      </p:sp>
      <p:sp>
        <p:nvSpPr>
          <p:cNvPr id="3" name="Text 1"/>
          <p:cNvSpPr/>
          <p:nvPr/>
        </p:nvSpPr>
        <p:spPr>
          <a:xfrm>
            <a:off x="731520" y="914400"/>
            <a:ext cx="36576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100" dirty="0">
                <a:solidFill>
                  <a:srgbClr val="D4AF37"/>
                </a:solidFill>
              </a:rPr>
              <a:t>THE SOLUTION</a:t>
            </a:r>
            <a:endParaRPr lang="en-US" sz="1100" dirty="0"/>
          </a:p>
        </p:txBody>
      </p:sp>
      <p:sp>
        <p:nvSpPr>
          <p:cNvPr id="4" name="Text 2"/>
          <p:cNvSpPr/>
          <p:nvPr/>
        </p:nvSpPr>
        <p:spPr>
          <a:xfrm>
            <a:off x="731520" y="1371600"/>
            <a:ext cx="10058400" cy="54864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2200" b="1" dirty="0">
                <a:solidFill>
                  <a:srgbClr val="FFFFFF"/>
                </a:solidFill>
              </a:rPr>
              <a:t>Multi-Agent Deliberation with Cryptographic Evidence</a:t>
            </a:r>
            <a:endParaRPr lang="en-US" sz="2200" dirty="0"/>
          </a:p>
        </p:txBody>
      </p:sp>
      <p:sp>
        <p:nvSpPr>
          <p:cNvPr id="5" name="Text 3"/>
          <p:cNvSpPr/>
          <p:nvPr/>
        </p:nvSpPr>
        <p:spPr>
          <a:xfrm>
            <a:off x="731520" y="2194560"/>
            <a:ext cx="5029200" cy="3200400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marL="342900" indent="-342900">
              <a:lnSpc>
                <a:spcPct val="150000"/>
              </a:lnSpc>
              <a:buSzPct val="100000"/>
              <a:buChar char="→"/>
            </a:pPr>
            <a:r>
              <a:rPr lang="en-US" sz="1100" dirty="0">
                <a:solidFill>
                  <a:srgbClr val="8B8FA3"/>
                </a:solidFill>
              </a:rPr>
              <a:t>Multi-agent deliberation with role-specific AI agents (CFO, CISO, Legal, Strategy, Risk, and more)</a:t>
            </a:r>
            <a:endParaRPr lang="en-US" sz="1100" dirty="0"/>
          </a:p>
          <a:p>
            <a:pPr marL="342900" indent="-342900">
              <a:lnSpc>
                <a:spcPct val="150000"/>
              </a:lnSpc>
              <a:buSzPct val="100000"/>
              <a:buChar char="→"/>
            </a:pPr>
            <a:r>
              <a:rPr lang="en-US" sz="1100" dirty="0">
                <a:solidFill>
                  <a:srgbClr val="8B8FA3"/>
                </a:solidFill>
              </a:rPr>
              <a:t>Cryptographic decision evidence — Ed25519 signatures, Merkle trees, RFC 3161 timestamps</a:t>
            </a:r>
            <a:endParaRPr lang="en-US" sz="1100" dirty="0"/>
          </a:p>
          <a:p>
            <a:pPr marL="342900" indent="-342900">
              <a:lnSpc>
                <a:spcPct val="150000"/>
              </a:lnSpc>
              <a:buSzPct val="100000"/>
              <a:buChar char="→"/>
            </a:pPr>
            <a:r>
              <a:rPr lang="en-US" sz="1100" dirty="0">
                <a:solidFill>
                  <a:srgbClr val="8B8FA3"/>
                </a:solidFill>
              </a:rPr>
              <a:t>Sovereign deployment — Cloud, Private Cloud, On-Premises, and Air-Gapped</a:t>
            </a:r>
            <a:endParaRPr lang="en-US" sz="1100" dirty="0"/>
          </a:p>
          <a:p>
            <a:pPr marL="342900" indent="-342900">
              <a:lnSpc>
                <a:spcPct val="150000"/>
              </a:lnSpc>
              <a:buSzPct val="100000"/>
              <a:buChar char="→"/>
            </a:pPr>
            <a:r>
              <a:rPr lang="en-US" sz="1100" dirty="0">
                <a:solidFill>
                  <a:srgbClr val="8B8FA3"/>
                </a:solidFill>
              </a:rPr>
              <a:t>EU AI Act, DORA, GDPR, HIPAA compliance mapping across 23 jurisdictions</a:t>
            </a:r>
            <a:endParaRPr lang="en-US" sz="1100" dirty="0"/>
          </a:p>
          <a:p>
            <a:pPr marL="342900" indent="-342900">
              <a:lnSpc>
                <a:spcPct val="150000"/>
              </a:lnSpc>
              <a:buSzPct val="100000"/>
              <a:buChar char="→"/>
            </a:pPr>
            <a:r>
              <a:rPr lang="en-US" sz="1100" dirty="0">
                <a:solidFill>
                  <a:srgbClr val="8B8FA3"/>
                </a:solidFill>
              </a:rPr>
              <a:t>Zero-copy data architecture — data never leaves customer infrastructure</a:t>
            </a:r>
            <a:endParaRPr lang="en-US" sz="1100" dirty="0"/>
          </a:p>
          <a:p>
            <a:pPr marL="342900" indent="-342900">
              <a:lnSpc>
                <a:spcPct val="150000"/>
              </a:lnSpc>
              <a:buSzPct val="100000"/>
              <a:buChar char="→"/>
            </a:pPr>
            <a:r>
              <a:rPr lang="en-US" sz="1100" dirty="0">
                <a:solidFill>
                  <a:srgbClr val="8B8FA3"/>
                </a:solidFill>
              </a:rPr>
              <a:t>Open-source core (Apache 2.0) with enterprise features</a:t>
            </a:r>
            <a:endParaRPr lang="en-US" sz="1100" dirty="0"/>
          </a:p>
        </p:txBody>
      </p:sp>
      <p:sp>
        <p:nvSpPr>
          <p:cNvPr id="6" name="Shape 4"/>
          <p:cNvSpPr/>
          <p:nvPr/>
        </p:nvSpPr>
        <p:spPr>
          <a:xfrm>
            <a:off x="6400800" y="2194560"/>
            <a:ext cx="5029200" cy="1371600"/>
          </a:xfrm>
          <a:prstGeom prst="roundRect">
            <a:avLst>
              <a:gd name="adj" fmla="val 6667"/>
            </a:avLst>
          </a:prstGeom>
          <a:solidFill>
            <a:srgbClr val="141825"/>
          </a:solidFill>
          <a:ln/>
        </p:spPr>
        <p:txBody>
          <a:bodyPr/>
          <a:p/>
        </p:txBody>
      </p:sp>
      <p:sp>
        <p:nvSpPr>
          <p:cNvPr id="7" name="Text 5"/>
          <p:cNvSpPr/>
          <p:nvPr/>
        </p:nvSpPr>
        <p:spPr>
          <a:xfrm>
            <a:off x="6675120" y="2377440"/>
            <a:ext cx="4572000" cy="3657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300" b="1" dirty="0">
                <a:solidFill>
                  <a:srgbClr val="D4AF37"/>
                </a:solidFill>
              </a:rPr>
              <a:t>Key Angle for SEVENTURE PARTNERS</a:t>
            </a:r>
            <a:endParaRPr lang="en-US" sz="1300" dirty="0"/>
          </a:p>
        </p:txBody>
      </p:sp>
      <p:sp>
        <p:nvSpPr>
          <p:cNvPr id="8" name="Text 6"/>
          <p:cNvSpPr/>
          <p:nvPr/>
        </p:nvSpPr>
        <p:spPr>
          <a:xfrm>
            <a:off x="6675120" y="2834640"/>
            <a:ext cx="4389120" cy="640080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indent="0" marL="0">
              <a:buNone/>
            </a:pPr>
            <a:r>
              <a:rPr lang="en-US" sz="1400" b="1" dirty="0">
                <a:solidFill>
                  <a:srgbClr val="FFFFFF"/>
                </a:solidFill>
              </a:rPr>
              <a:t>Health tech and deep tech — regulated industries</a:t>
            </a:r>
            <a:endParaRPr lang="en-US" sz="1400" dirty="0"/>
          </a:p>
        </p:txBody>
      </p:sp>
      <p:sp>
        <p:nvSpPr>
          <p:cNvPr id="9" name="Shape 7"/>
          <p:cNvSpPr/>
          <p:nvPr/>
        </p:nvSpPr>
        <p:spPr>
          <a:xfrm>
            <a:off x="6400800" y="3749040"/>
            <a:ext cx="5029200" cy="731520"/>
          </a:xfrm>
          <a:prstGeom prst="roundRect">
            <a:avLst>
              <a:gd name="adj" fmla="val 12500"/>
            </a:avLst>
          </a:prstGeom>
          <a:solidFill>
            <a:srgbClr val="141825"/>
          </a:solidFill>
          <a:ln/>
        </p:spPr>
        <p:txBody>
          <a:bodyPr/>
          <a:p/>
        </p:txBody>
      </p:sp>
      <p:sp>
        <p:nvSpPr>
          <p:cNvPr id="10" name="Text 8"/>
          <p:cNvSpPr/>
          <p:nvPr/>
        </p:nvSpPr>
        <p:spPr>
          <a:xfrm>
            <a:off x="6675120" y="3749040"/>
            <a:ext cx="4572000" cy="7315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200" dirty="0">
                <a:solidFill>
                  <a:srgbClr val="8B8FA3"/>
                </a:solidFill>
              </a:rPr>
              <a:t>Sector: Decision Evidence Infrastructure
Our moat: We define the evidentiary artifact that regulators will eventually expect. First to codify it wins the category.</a:t>
            </a:r>
            <a:endParaRPr lang="en-US" sz="1200" dirty="0"/>
          </a:p>
        </p:txBody>
      </p:sp>
      <p:sp>
        <p:nvSpPr>
          <p:cNvPr id="11" name="Shape 9"/>
          <p:cNvSpPr/>
          <p:nvPr/>
        </p:nvSpPr>
        <p:spPr>
          <a:xfrm>
            <a:off x="6400800" y="4663440"/>
            <a:ext cx="5029200" cy="1371600"/>
          </a:xfrm>
          <a:prstGeom prst="roundRect">
            <a:avLst>
              <a:gd name="adj" fmla="val 6667"/>
            </a:avLst>
          </a:prstGeom>
          <a:solidFill>
            <a:srgbClr val="141825"/>
          </a:solidFill>
          <a:ln/>
        </p:spPr>
        <p:txBody>
          <a:bodyPr/>
          <a:p/>
        </p:txBody>
      </p:sp>
      <p:sp>
        <p:nvSpPr>
          <p:cNvPr id="12" name="Text 10"/>
          <p:cNvSpPr/>
          <p:nvPr/>
        </p:nvSpPr>
        <p:spPr>
          <a:xfrm>
            <a:off x="6675120" y="4846320"/>
            <a:ext cx="45720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300" b="1" dirty="0">
                <a:solidFill>
                  <a:srgbClr val="D4AF37"/>
                </a:solidFill>
              </a:rPr>
              <a:t>Why This Must Exist Now</a:t>
            </a:r>
            <a:endParaRPr lang="en-US" sz="1300" dirty="0"/>
          </a:p>
        </p:txBody>
      </p:sp>
      <p:sp>
        <p:nvSpPr>
          <p:cNvPr id="13" name="Text 11"/>
          <p:cNvSpPr/>
          <p:nvPr/>
        </p:nvSpPr>
        <p:spPr>
          <a:xfrm>
            <a:off x="6675120" y="5212080"/>
            <a:ext cx="4389120" cy="731520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indent="0" marL="0">
              <a:lnSpc>
                <a:spcPct val="140000"/>
              </a:lnSpc>
              <a:buNone/>
            </a:pPr>
            <a:r>
              <a:rPr lang="en-US" sz="1000" dirty="0">
                <a:solidFill>
                  <a:srgbClr val="8B8FA3"/>
                </a:solidFill>
              </a:rPr>
              <a:t>EU AI Act (2025–2026) → enforceable auditability requirements. DORA → operational traceability for financial services. Litigation risk → retrospective scrutiny of AI decisions. Enterprise AI adoption → exploding unaudited decision surface. This creates a new infrastructure requirement: decision evidence.</a:t>
            </a:r>
            <a:endParaRPr lang="en-US" sz="1000" dirty="0"/>
          </a:p>
        </p:txBody>
      </p:sp>
      <p:sp>
        <p:nvSpPr>
          <p:cNvPr id="14" name="Text 12"/>
          <p:cNvSpPr/>
          <p:nvPr/>
        </p:nvSpPr>
        <p:spPr>
          <a:xfrm>
            <a:off x="457200" y="6400800"/>
            <a:ext cx="36576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800" dirty="0">
                <a:solidFill>
                  <a:srgbClr val="8B8FA3"/>
                </a:solidFill>
              </a:rPr>
              <a:t>© 2024–2026 Datacendia, LLC</a:t>
            </a:r>
            <a:endParaRPr lang="en-US" sz="800" dirty="0"/>
          </a:p>
        </p:txBody>
      </p:sp>
      <p:sp>
        <p:nvSpPr>
          <p:cNvPr id="15" name="Text 13"/>
          <p:cNvSpPr/>
          <p:nvPr/>
        </p:nvSpPr>
        <p:spPr>
          <a:xfrm>
            <a:off x="8229600" y="6400800"/>
            <a:ext cx="36576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r" indent="0" marL="0">
              <a:buNone/>
            </a:pPr>
            <a:r>
              <a:rPr lang="en-US" sz="800" dirty="0">
                <a:solidFill>
                  <a:srgbClr val="8B8FA3"/>
                </a:solidFill>
              </a:rPr>
              <a:t>datacendia.com</a:t>
            </a:r>
            <a:endParaRPr lang="en-US" sz="800" dirty="0"/>
          </a:p>
        </p:txBody>
      </p:sp>
    </p:spTree>
  </p:cSld>
  <p:clrMapOvr>
    <a:masterClrMapping/>
  </p:clrMapOvr>
</p:sld>
</file>

<file path=ppt/slides/slide5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5">
    <p:bg>
      <p:bgPr>
        <a:solidFill>
          <a:srgbClr val="0A0E1A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457200" y="274320"/>
            <a:ext cx="27432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000" b="1" dirty="0">
                <a:solidFill>
                  <a:srgbClr val="D4AF37"/>
                </a:solidFill>
              </a:rPr>
              <a:t>DATACENDIA</a:t>
            </a:r>
            <a:endParaRPr lang="en-US" sz="1000" dirty="0"/>
          </a:p>
        </p:txBody>
      </p:sp>
      <p:sp>
        <p:nvSpPr>
          <p:cNvPr id="3" name="Text 1"/>
          <p:cNvSpPr/>
          <p:nvPr/>
        </p:nvSpPr>
        <p:spPr>
          <a:xfrm>
            <a:off x="731520" y="914400"/>
            <a:ext cx="36576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100" dirty="0">
                <a:solidFill>
                  <a:srgbClr val="D4AF37"/>
                </a:solidFill>
              </a:rPr>
              <a:t>PLATFORM PROOF</a:t>
            </a:r>
            <a:endParaRPr lang="en-US" sz="1100" dirty="0"/>
          </a:p>
        </p:txBody>
      </p:sp>
      <p:sp>
        <p:nvSpPr>
          <p:cNvPr id="4" name="Text 2"/>
          <p:cNvSpPr/>
          <p:nvPr/>
        </p:nvSpPr>
        <p:spPr>
          <a:xfrm>
            <a:off x="731520" y="1371600"/>
            <a:ext cx="10058400" cy="54864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2400" b="1" dirty="0">
                <a:solidFill>
                  <a:srgbClr val="FFFFFF"/>
                </a:solidFill>
              </a:rPr>
              <a:t>This Is Not a Pitch — It’s a Live Platform</a:t>
            </a:r>
            <a:endParaRPr lang="en-US" sz="2400" dirty="0"/>
          </a:p>
        </p:txBody>
      </p:sp>
      <p:sp>
        <p:nvSpPr>
          <p:cNvPr id="5" name="Shape 3"/>
          <p:cNvSpPr/>
          <p:nvPr/>
        </p:nvSpPr>
        <p:spPr>
          <a:xfrm>
            <a:off x="731520" y="2286000"/>
            <a:ext cx="2011680" cy="1371600"/>
          </a:xfrm>
          <a:prstGeom prst="roundRect">
            <a:avLst>
              <a:gd name="adj" fmla="val 6667"/>
            </a:avLst>
          </a:prstGeom>
          <a:solidFill>
            <a:srgbClr val="141825"/>
          </a:solidFill>
          <a:ln/>
        </p:spPr>
        <p:txBody>
          <a:bodyPr/>
          <a:p/>
        </p:txBody>
      </p:sp>
      <p:sp>
        <p:nvSpPr>
          <p:cNvPr id="6" name="Text 4"/>
          <p:cNvSpPr/>
          <p:nvPr/>
        </p:nvSpPr>
        <p:spPr>
          <a:xfrm>
            <a:off x="731520" y="2377440"/>
            <a:ext cx="2011680" cy="7315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2800" b="1" dirty="0">
                <a:solidFill>
                  <a:srgbClr val="D4AF37"/>
                </a:solidFill>
              </a:rPr>
              <a:t>205K+</a:t>
            </a:r>
            <a:endParaRPr lang="en-US" sz="2800" dirty="0"/>
          </a:p>
        </p:txBody>
      </p:sp>
      <p:sp>
        <p:nvSpPr>
          <p:cNvPr id="7" name="Text 5"/>
          <p:cNvSpPr/>
          <p:nvPr/>
        </p:nvSpPr>
        <p:spPr>
          <a:xfrm>
            <a:off x="914400" y="3108960"/>
            <a:ext cx="1645920" cy="4572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000" dirty="0">
                <a:solidFill>
                  <a:srgbClr val="8B8FA3"/>
                </a:solidFill>
              </a:rPr>
              <a:t>Passing Tests</a:t>
            </a:r>
            <a:endParaRPr lang="en-US" sz="1000" dirty="0"/>
          </a:p>
        </p:txBody>
      </p:sp>
      <p:sp>
        <p:nvSpPr>
          <p:cNvPr id="8" name="Shape 6"/>
          <p:cNvSpPr/>
          <p:nvPr/>
        </p:nvSpPr>
        <p:spPr>
          <a:xfrm>
            <a:off x="2926080" y="2286000"/>
            <a:ext cx="2011680" cy="1371600"/>
          </a:xfrm>
          <a:prstGeom prst="roundRect">
            <a:avLst>
              <a:gd name="adj" fmla="val 6667"/>
            </a:avLst>
          </a:prstGeom>
          <a:solidFill>
            <a:srgbClr val="141825"/>
          </a:solidFill>
          <a:ln/>
        </p:spPr>
        <p:txBody>
          <a:bodyPr/>
          <a:p/>
        </p:txBody>
      </p:sp>
      <p:sp>
        <p:nvSpPr>
          <p:cNvPr id="9" name="Text 7"/>
          <p:cNvSpPr/>
          <p:nvPr/>
        </p:nvSpPr>
        <p:spPr>
          <a:xfrm>
            <a:off x="2926080" y="2377440"/>
            <a:ext cx="2011680" cy="7315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2800" b="1" dirty="0">
                <a:solidFill>
                  <a:srgbClr val="D4AF37"/>
                </a:solidFill>
              </a:rPr>
              <a:t>156</a:t>
            </a:r>
            <a:endParaRPr lang="en-US" sz="2800" dirty="0"/>
          </a:p>
        </p:txBody>
      </p:sp>
      <p:sp>
        <p:nvSpPr>
          <p:cNvPr id="10" name="Text 8"/>
          <p:cNvSpPr/>
          <p:nvPr/>
        </p:nvSpPr>
        <p:spPr>
          <a:xfrm>
            <a:off x="3108960" y="3108960"/>
            <a:ext cx="1645920" cy="4572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000" dirty="0">
                <a:solidFill>
                  <a:srgbClr val="8B8FA3"/>
                </a:solidFill>
              </a:rPr>
              <a:t>Validated API Endpoints</a:t>
            </a:r>
            <a:endParaRPr lang="en-US" sz="1000" dirty="0"/>
          </a:p>
        </p:txBody>
      </p:sp>
      <p:sp>
        <p:nvSpPr>
          <p:cNvPr id="11" name="Shape 9"/>
          <p:cNvSpPr/>
          <p:nvPr/>
        </p:nvSpPr>
        <p:spPr>
          <a:xfrm>
            <a:off x="5120640" y="2286000"/>
            <a:ext cx="2011680" cy="1371600"/>
          </a:xfrm>
          <a:prstGeom prst="roundRect">
            <a:avLst>
              <a:gd name="adj" fmla="val 6667"/>
            </a:avLst>
          </a:prstGeom>
          <a:solidFill>
            <a:srgbClr val="141825"/>
          </a:solidFill>
          <a:ln/>
        </p:spPr>
        <p:txBody>
          <a:bodyPr/>
          <a:p/>
        </p:txBody>
      </p:sp>
      <p:sp>
        <p:nvSpPr>
          <p:cNvPr id="12" name="Text 10"/>
          <p:cNvSpPr/>
          <p:nvPr/>
        </p:nvSpPr>
        <p:spPr>
          <a:xfrm>
            <a:off x="5120640" y="2377440"/>
            <a:ext cx="2011680" cy="7315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2800" b="1" dirty="0">
                <a:solidFill>
                  <a:srgbClr val="D4AF37"/>
                </a:solidFill>
              </a:rPr>
              <a:t>50+</a:t>
            </a:r>
            <a:endParaRPr lang="en-US" sz="2800" dirty="0"/>
          </a:p>
        </p:txBody>
      </p:sp>
      <p:sp>
        <p:nvSpPr>
          <p:cNvPr id="13" name="Text 11"/>
          <p:cNvSpPr/>
          <p:nvPr/>
        </p:nvSpPr>
        <p:spPr>
          <a:xfrm>
            <a:off x="5303520" y="3108960"/>
            <a:ext cx="1645920" cy="4572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000" dirty="0">
                <a:solidFill>
                  <a:srgbClr val="8B8FA3"/>
                </a:solidFill>
              </a:rPr>
              <a:t>Agent Presets</a:t>
            </a:r>
            <a:endParaRPr lang="en-US" sz="1000" dirty="0"/>
          </a:p>
        </p:txBody>
      </p:sp>
      <p:sp>
        <p:nvSpPr>
          <p:cNvPr id="14" name="Shape 12"/>
          <p:cNvSpPr/>
          <p:nvPr/>
        </p:nvSpPr>
        <p:spPr>
          <a:xfrm>
            <a:off x="7315200" y="2286000"/>
            <a:ext cx="2011680" cy="1371600"/>
          </a:xfrm>
          <a:prstGeom prst="roundRect">
            <a:avLst>
              <a:gd name="adj" fmla="val 6667"/>
            </a:avLst>
          </a:prstGeom>
          <a:solidFill>
            <a:srgbClr val="141825"/>
          </a:solidFill>
          <a:ln/>
        </p:spPr>
        <p:txBody>
          <a:bodyPr/>
          <a:p/>
        </p:txBody>
      </p:sp>
      <p:sp>
        <p:nvSpPr>
          <p:cNvPr id="15" name="Text 13"/>
          <p:cNvSpPr/>
          <p:nvPr/>
        </p:nvSpPr>
        <p:spPr>
          <a:xfrm>
            <a:off x="7315200" y="2377440"/>
            <a:ext cx="2011680" cy="7315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2800" b="1" dirty="0">
                <a:solidFill>
                  <a:srgbClr val="D4AF37"/>
                </a:solidFill>
              </a:rPr>
              <a:t>23</a:t>
            </a:r>
            <a:endParaRPr lang="en-US" sz="2800" dirty="0"/>
          </a:p>
        </p:txBody>
      </p:sp>
      <p:sp>
        <p:nvSpPr>
          <p:cNvPr id="16" name="Text 14"/>
          <p:cNvSpPr/>
          <p:nvPr/>
        </p:nvSpPr>
        <p:spPr>
          <a:xfrm>
            <a:off x="7498080" y="3108960"/>
            <a:ext cx="1645920" cy="4572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000" dirty="0">
                <a:solidFill>
                  <a:srgbClr val="8B8FA3"/>
                </a:solidFill>
              </a:rPr>
              <a:t>Jurisdictions Covered</a:t>
            </a:r>
            <a:endParaRPr lang="en-US" sz="1000" dirty="0"/>
          </a:p>
        </p:txBody>
      </p:sp>
      <p:sp>
        <p:nvSpPr>
          <p:cNvPr id="17" name="Shape 15"/>
          <p:cNvSpPr/>
          <p:nvPr/>
        </p:nvSpPr>
        <p:spPr>
          <a:xfrm>
            <a:off x="9509760" y="2286000"/>
            <a:ext cx="2011680" cy="1371600"/>
          </a:xfrm>
          <a:prstGeom prst="roundRect">
            <a:avLst>
              <a:gd name="adj" fmla="val 6667"/>
            </a:avLst>
          </a:prstGeom>
          <a:solidFill>
            <a:srgbClr val="141825"/>
          </a:solidFill>
          <a:ln/>
        </p:spPr>
        <p:txBody>
          <a:bodyPr/>
          <a:p/>
        </p:txBody>
      </p:sp>
      <p:sp>
        <p:nvSpPr>
          <p:cNvPr id="18" name="Text 16"/>
          <p:cNvSpPr/>
          <p:nvPr/>
        </p:nvSpPr>
        <p:spPr>
          <a:xfrm>
            <a:off x="9509760" y="2377440"/>
            <a:ext cx="2011680" cy="7315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2800" b="1" dirty="0">
                <a:solidFill>
                  <a:srgbClr val="D4AF37"/>
                </a:solidFill>
              </a:rPr>
              <a:t>4</a:t>
            </a:r>
            <a:endParaRPr lang="en-US" sz="2800" dirty="0"/>
          </a:p>
        </p:txBody>
      </p:sp>
      <p:sp>
        <p:nvSpPr>
          <p:cNvPr id="19" name="Text 17"/>
          <p:cNvSpPr/>
          <p:nvPr/>
        </p:nvSpPr>
        <p:spPr>
          <a:xfrm>
            <a:off x="9692640" y="3108960"/>
            <a:ext cx="1645920" cy="4572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000" dirty="0">
                <a:solidFill>
                  <a:srgbClr val="8B8FA3"/>
                </a:solidFill>
              </a:rPr>
              <a:t>Deployment Modes</a:t>
            </a:r>
            <a:endParaRPr lang="en-US" sz="1000" dirty="0"/>
          </a:p>
        </p:txBody>
      </p:sp>
      <p:sp>
        <p:nvSpPr>
          <p:cNvPr id="20" name="Shape 18"/>
          <p:cNvSpPr/>
          <p:nvPr/>
        </p:nvSpPr>
        <p:spPr>
          <a:xfrm>
            <a:off x="731520" y="4114800"/>
            <a:ext cx="5029200" cy="1828800"/>
          </a:xfrm>
          <a:prstGeom prst="roundRect">
            <a:avLst>
              <a:gd name="adj" fmla="val 5000"/>
            </a:avLst>
          </a:prstGeom>
          <a:solidFill>
            <a:srgbClr val="141825"/>
          </a:solidFill>
          <a:ln/>
        </p:spPr>
        <p:txBody>
          <a:bodyPr/>
          <a:p/>
        </p:txBody>
      </p:sp>
      <p:sp>
        <p:nvSpPr>
          <p:cNvPr id="21" name="Text 19"/>
          <p:cNvSpPr/>
          <p:nvPr/>
        </p:nvSpPr>
        <p:spPr>
          <a:xfrm>
            <a:off x="1005840" y="4297680"/>
            <a:ext cx="45720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300" b="1" dirty="0">
                <a:solidFill>
                  <a:srgbClr val="D4AF37"/>
                </a:solidFill>
              </a:rPr>
              <a:t>Live Demo</a:t>
            </a:r>
            <a:endParaRPr lang="en-US" sz="1300" dirty="0"/>
          </a:p>
        </p:txBody>
      </p:sp>
      <p:sp>
        <p:nvSpPr>
          <p:cNvPr id="22" name="Text 20"/>
          <p:cNvSpPr/>
          <p:nvPr/>
        </p:nvSpPr>
        <p:spPr>
          <a:xfrm>
            <a:off x="1005840" y="4663440"/>
            <a:ext cx="4389120" cy="1097280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indent="0" marL="0">
              <a:lnSpc>
                <a:spcPct val="150000"/>
              </a:lnSpc>
              <a:buNone/>
            </a:pPr>
            <a:r>
              <a:rPr lang="en-US" sz="1100" dirty="0">
                <a:solidFill>
                  <a:srgbClr val="8B8FA3"/>
                </a:solidFill>
              </a:rPr>
              <a:t>Production platform at app.datacendia.com</a:t>
            </a:r>
            <a:endParaRPr lang="en-US" sz="1100" dirty="0"/>
          </a:p>
          <a:p>
            <a:pPr indent="0" marL="0">
              <a:lnSpc>
                <a:spcPct val="150000"/>
              </a:lnSpc>
              <a:buNone/>
            </a:pPr>
            <a:r>
              <a:rPr lang="en-US" sz="1100" dirty="0">
                <a:solidFill>
                  <a:srgbClr val="8B8FA3"/>
                </a:solidFill>
              </a:rPr>
              <a:t>Multi-agent deliberation, decision audit trails, compliance dashboards, AI governance gateway — all live.</a:t>
            </a:r>
            <a:endParaRPr lang="en-US" sz="1100" dirty="0"/>
          </a:p>
        </p:txBody>
      </p:sp>
      <p:sp>
        <p:nvSpPr>
          <p:cNvPr id="23" name="Shape 21"/>
          <p:cNvSpPr/>
          <p:nvPr/>
        </p:nvSpPr>
        <p:spPr>
          <a:xfrm>
            <a:off x="6400800" y="4114800"/>
            <a:ext cx="5029200" cy="1828800"/>
          </a:xfrm>
          <a:prstGeom prst="roundRect">
            <a:avLst>
              <a:gd name="adj" fmla="val 5000"/>
            </a:avLst>
          </a:prstGeom>
          <a:solidFill>
            <a:srgbClr val="141825"/>
          </a:solidFill>
          <a:ln/>
        </p:spPr>
        <p:txBody>
          <a:bodyPr/>
          <a:p/>
        </p:txBody>
      </p:sp>
      <p:sp>
        <p:nvSpPr>
          <p:cNvPr id="24" name="Text 22"/>
          <p:cNvSpPr/>
          <p:nvPr/>
        </p:nvSpPr>
        <p:spPr>
          <a:xfrm>
            <a:off x="6675120" y="4297680"/>
            <a:ext cx="45720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300" b="1" dirty="0">
                <a:solidFill>
                  <a:srgbClr val="D4AF37"/>
                </a:solidFill>
              </a:rPr>
              <a:t>NVIDIA Inception Member</a:t>
            </a:r>
            <a:endParaRPr lang="en-US" sz="1300" dirty="0"/>
          </a:p>
        </p:txBody>
      </p:sp>
      <p:sp>
        <p:nvSpPr>
          <p:cNvPr id="25" name="Text 23"/>
          <p:cNvSpPr/>
          <p:nvPr/>
        </p:nvSpPr>
        <p:spPr>
          <a:xfrm>
            <a:off x="6675120" y="4663440"/>
            <a:ext cx="4389120" cy="1097280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indent="0" marL="0">
              <a:lnSpc>
                <a:spcPct val="150000"/>
              </a:lnSpc>
              <a:buNone/>
            </a:pPr>
            <a:r>
              <a:rPr lang="en-US" sz="1100" dirty="0">
                <a:solidFill>
                  <a:srgbClr val="8B8FA3"/>
                </a:solidFill>
              </a:rPr>
              <a:t>Accepted into NVIDIA’s elite startup program.</a:t>
            </a:r>
            <a:endParaRPr lang="en-US" sz="1100" dirty="0"/>
          </a:p>
          <a:p>
            <a:pPr indent="0" marL="0">
              <a:lnSpc>
                <a:spcPct val="150000"/>
              </a:lnSpc>
              <a:buNone/>
            </a:pPr>
            <a:r>
              <a:rPr lang="en-US" sz="1100" dirty="0">
                <a:solidFill>
                  <a:srgbClr val="8B8FA3"/>
                </a:solidFill>
              </a:rPr>
              <a:t>DGX Cloud access, technical mentorship, co-marketing, and enterprise customer introductions.</a:t>
            </a:r>
            <a:endParaRPr lang="en-US" sz="1100" dirty="0"/>
          </a:p>
        </p:txBody>
      </p:sp>
      <p:sp>
        <p:nvSpPr>
          <p:cNvPr id="26" name="Text 24"/>
          <p:cNvSpPr/>
          <p:nvPr/>
        </p:nvSpPr>
        <p:spPr>
          <a:xfrm>
            <a:off x="457200" y="6400800"/>
            <a:ext cx="36576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800" dirty="0">
                <a:solidFill>
                  <a:srgbClr val="8B8FA3"/>
                </a:solidFill>
              </a:rPr>
              <a:t>© 2024–2026 Datacendia, LLC</a:t>
            </a:r>
            <a:endParaRPr lang="en-US" sz="800" dirty="0"/>
          </a:p>
        </p:txBody>
      </p:sp>
      <p:sp>
        <p:nvSpPr>
          <p:cNvPr id="27" name="Text 25"/>
          <p:cNvSpPr/>
          <p:nvPr/>
        </p:nvSpPr>
        <p:spPr>
          <a:xfrm>
            <a:off x="8229600" y="6400800"/>
            <a:ext cx="36576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r" indent="0" marL="0">
              <a:buNone/>
            </a:pPr>
            <a:r>
              <a:rPr lang="en-US" sz="800" dirty="0">
                <a:solidFill>
                  <a:srgbClr val="8B8FA3"/>
                </a:solidFill>
              </a:rPr>
              <a:t>datacendia.com</a:t>
            </a:r>
            <a:endParaRPr lang="en-US" sz="800" dirty="0"/>
          </a:p>
        </p:txBody>
      </p:sp>
    </p:spTree>
  </p:cSld>
  <p:clrMapOvr>
    <a:masterClrMapping/>
  </p:clrMapOvr>
</p:sld>
</file>

<file path=ppt/slides/slide6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6">
    <p:bg>
      <p:bgPr>
        <a:solidFill>
          <a:srgbClr val="0A0E1A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457200" y="274320"/>
            <a:ext cx="27432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000" b="1" dirty="0">
                <a:solidFill>
                  <a:srgbClr val="D4AF37"/>
                </a:solidFill>
              </a:rPr>
              <a:t>DATACENDIA</a:t>
            </a:r>
            <a:endParaRPr lang="en-US" sz="1000" dirty="0"/>
          </a:p>
        </p:txBody>
      </p:sp>
      <p:sp>
        <p:nvSpPr>
          <p:cNvPr id="3" name="Text 1"/>
          <p:cNvSpPr/>
          <p:nvPr/>
        </p:nvSpPr>
        <p:spPr>
          <a:xfrm>
            <a:off x="8229600" y="274320"/>
            <a:ext cx="36576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r" indent="0" marL="0">
              <a:buNone/>
            </a:pPr>
            <a:r>
              <a:rPr lang="en-US" sz="800" dirty="0">
                <a:solidFill>
                  <a:srgbClr val="8B8FA3"/>
                </a:solidFill>
              </a:rPr>
              <a:t>PLATFORM PROOF</a:t>
            </a:r>
            <a:endParaRPr lang="en-US" sz="800" dirty="0"/>
          </a:p>
        </p:txBody>
      </p:sp>
      <p:sp>
        <p:nvSpPr>
          <p:cNvPr id="4" name="Text 2"/>
          <p:cNvSpPr/>
          <p:nvPr/>
        </p:nvSpPr>
        <p:spPr>
          <a:xfrm>
            <a:off x="731520" y="1097280"/>
            <a:ext cx="41148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100" dirty="0">
                <a:solidFill>
                  <a:srgbClr val="D4AF37"/>
                </a:solidFill>
              </a:rPr>
              <a:t>MULTI-AGENT DECISION ENGINE</a:t>
            </a:r>
            <a:endParaRPr lang="en-US" sz="1100" dirty="0"/>
          </a:p>
        </p:txBody>
      </p:sp>
      <p:sp>
        <p:nvSpPr>
          <p:cNvPr id="5" name="Text 3"/>
          <p:cNvSpPr/>
          <p:nvPr/>
        </p:nvSpPr>
        <p:spPr>
          <a:xfrm>
            <a:off x="731520" y="1554480"/>
            <a:ext cx="4114800" cy="9144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2000" b="1" dirty="0">
                <a:solidFill>
                  <a:srgbClr val="FFFFFF"/>
                </a:solidFill>
              </a:rPr>
              <a:t>Decisions Made by Specialized AI Agents</a:t>
            </a:r>
            <a:endParaRPr lang="en-US" sz="2000" dirty="0"/>
          </a:p>
        </p:txBody>
      </p:sp>
      <p:sp>
        <p:nvSpPr>
          <p:cNvPr id="6" name="Text 4"/>
          <p:cNvSpPr/>
          <p:nvPr/>
        </p:nvSpPr>
        <p:spPr>
          <a:xfrm>
            <a:off x="731520" y="2743200"/>
            <a:ext cx="4114800" cy="3200400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marL="342900" indent="-342900">
              <a:lnSpc>
                <a:spcPct val="150000"/>
              </a:lnSpc>
              <a:buSzPct val="100000"/>
              <a:buChar char="→"/>
            </a:pPr>
            <a:r>
              <a:rPr lang="en-US" sz="1100" dirty="0">
                <a:solidFill>
                  <a:srgbClr val="8B8FA3"/>
                </a:solidFill>
              </a:rPr>
              <a:t>Role-specific agents: CFO, CISO, Legal, Strategy, Risk</a:t>
            </a:r>
            <a:endParaRPr lang="en-US" sz="1100" dirty="0"/>
          </a:p>
          <a:p>
            <a:pPr marL="342900" indent="-342900">
              <a:lnSpc>
                <a:spcPct val="150000"/>
              </a:lnSpc>
              <a:buSzPct val="100000"/>
              <a:buChar char="→"/>
            </a:pPr>
            <a:r>
              <a:rPr lang="en-US" sz="1100" dirty="0">
                <a:solidFill>
                  <a:srgbClr val="8B8FA3"/>
                </a:solidFill>
              </a:rPr>
              <a:t>Confidence scores and reasoning — dissent preserved</a:t>
            </a:r>
            <a:endParaRPr lang="en-US" sz="1100" dirty="0"/>
          </a:p>
          <a:p>
            <a:pPr marL="342900" indent="-342900">
              <a:lnSpc>
                <a:spcPct val="150000"/>
              </a:lnSpc>
              <a:buSzPct val="100000"/>
              <a:buChar char="→"/>
            </a:pPr>
            <a:r>
              <a:rPr lang="en-US" sz="1100" dirty="0">
                <a:solidFill>
                  <a:srgbClr val="8B8FA3"/>
                </a:solidFill>
              </a:rPr>
              <a:t>War Room, Governed, and Quick Brief modes</a:t>
            </a:r>
            <a:endParaRPr lang="en-US" sz="1100" dirty="0"/>
          </a:p>
        </p:txBody>
      </p:sp>
      <p:sp>
        <p:nvSpPr>
          <p:cNvPr id="8" name="Text 5"/>
          <p:cNvSpPr/>
          <p:nvPr/>
        </p:nvSpPr>
        <p:spPr>
          <a:xfrm>
            <a:off x="457200" y="6400800"/>
            <a:ext cx="36576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800" dirty="0">
                <a:solidFill>
                  <a:srgbClr val="8B8FA3"/>
                </a:solidFill>
              </a:rPr>
              <a:t>© 2024–2026 Datacendia, LLC</a:t>
            </a:r>
            <a:endParaRPr lang="en-US" sz="800" dirty="0"/>
          </a:p>
        </p:txBody>
      </p:sp>
      <p:sp>
        <p:nvSpPr>
          <p:cNvPr id="9" name="Text 6"/>
          <p:cNvSpPr/>
          <p:nvPr/>
        </p:nvSpPr>
        <p:spPr>
          <a:xfrm>
            <a:off x="8229600" y="6400800"/>
            <a:ext cx="36576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r" indent="0" marL="0">
              <a:buNone/>
            </a:pPr>
            <a:r>
              <a:rPr lang="en-US" sz="800" dirty="0">
                <a:solidFill>
                  <a:srgbClr val="8B8FA3"/>
                </a:solidFill>
              </a:rPr>
              <a:t>datacendia.com</a:t>
            </a:r>
            <a:endParaRPr lang="en-US" sz="800" dirty="0"/>
          </a:p>
        </p:txBody>
      </p:sp>
      <p:pic>
        <p:nvPicPr>
          <p:cNvPr id="10" name="Picture 9" descr="image.png"/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5303520" y="1097280"/>
            <a:ext cx="6400800" cy="4846320"/>
          </a:xfrm>
          <a:prstGeom prst="rect">
            <a:avLst/>
          </a:prstGeom>
        </p:spPr>
      </p:pic>
    </p:spTree>
  </p:cSld>
  <p:clrMapOvr>
    <a:masterClrMapping/>
  </p:clrMapOvr>
</p:sld>
</file>

<file path=ppt/slides/slide7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7">
    <p:bg>
      <p:bgPr>
        <a:solidFill>
          <a:srgbClr val="0A0E1A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457200" y="274320"/>
            <a:ext cx="27432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000" b="1" dirty="0">
                <a:solidFill>
                  <a:srgbClr val="D4AF37"/>
                </a:solidFill>
              </a:rPr>
              <a:t>DATACENDIA</a:t>
            </a:r>
            <a:endParaRPr lang="en-US" sz="1000" dirty="0"/>
          </a:p>
        </p:txBody>
      </p:sp>
      <p:sp>
        <p:nvSpPr>
          <p:cNvPr id="3" name="Text 1"/>
          <p:cNvSpPr/>
          <p:nvPr/>
        </p:nvSpPr>
        <p:spPr>
          <a:xfrm>
            <a:off x="8229600" y="274320"/>
            <a:ext cx="36576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r" indent="0" marL="0">
              <a:buNone/>
            </a:pPr>
            <a:r>
              <a:rPr lang="en-US" sz="800" dirty="0">
                <a:solidFill>
                  <a:srgbClr val="8B8FA3"/>
                </a:solidFill>
              </a:rPr>
              <a:t>PLATFORM PROOF</a:t>
            </a:r>
            <a:endParaRPr lang="en-US" sz="800" dirty="0"/>
          </a:p>
        </p:txBody>
      </p:sp>
      <p:sp>
        <p:nvSpPr>
          <p:cNvPr id="4" name="Text 2"/>
          <p:cNvSpPr/>
          <p:nvPr/>
        </p:nvSpPr>
        <p:spPr>
          <a:xfrm>
            <a:off x="731520" y="1097280"/>
            <a:ext cx="41148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100" dirty="0">
                <a:solidFill>
                  <a:srgbClr val="D4AF37"/>
                </a:solidFill>
              </a:rPr>
              <a:t>DECISION AUDIT TRAIL</a:t>
            </a:r>
            <a:endParaRPr lang="en-US" sz="1100" dirty="0"/>
          </a:p>
        </p:txBody>
      </p:sp>
      <p:sp>
        <p:nvSpPr>
          <p:cNvPr id="5" name="Text 3"/>
          <p:cNvSpPr/>
          <p:nvPr/>
        </p:nvSpPr>
        <p:spPr>
          <a:xfrm>
            <a:off x="731520" y="1554480"/>
            <a:ext cx="4114800" cy="9144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2000" b="1" dirty="0">
                <a:solidFill>
                  <a:srgbClr val="FFFFFF"/>
                </a:solidFill>
              </a:rPr>
              <a:t>Every Decision Tracked with Full Evidence Chain</a:t>
            </a:r>
            <a:endParaRPr lang="en-US" sz="2000" dirty="0"/>
          </a:p>
        </p:txBody>
      </p:sp>
      <p:sp>
        <p:nvSpPr>
          <p:cNvPr id="6" name="Text 4"/>
          <p:cNvSpPr/>
          <p:nvPr/>
        </p:nvSpPr>
        <p:spPr>
          <a:xfrm>
            <a:off x="731520" y="2743200"/>
            <a:ext cx="4114800" cy="3200400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marL="342900" indent="-342900">
              <a:lnSpc>
                <a:spcPct val="150000"/>
              </a:lnSpc>
              <a:buSzPct val="100000"/>
              <a:buChar char="→"/>
            </a:pPr>
            <a:r>
              <a:rPr lang="en-US" sz="1100" dirty="0">
                <a:solidFill>
                  <a:srgbClr val="8B8FA3"/>
                </a:solidFill>
              </a:rPr>
              <a:t>Complete searchable decision history</a:t>
            </a:r>
            <a:endParaRPr lang="en-US" sz="1100" dirty="0"/>
          </a:p>
          <a:p>
            <a:pPr marL="342900" indent="-342900">
              <a:lnSpc>
                <a:spcPct val="150000"/>
              </a:lnSpc>
              <a:buSzPct val="100000"/>
              <a:buChar char="→"/>
            </a:pPr>
            <a:r>
              <a:rPr lang="en-US" sz="1100" dirty="0">
                <a:solidFill>
                  <a:srgbClr val="8B8FA3"/>
                </a:solidFill>
              </a:rPr>
              <a:t>Full deliberation records linked to each decision</a:t>
            </a:r>
            <a:endParaRPr lang="en-US" sz="1100" dirty="0"/>
          </a:p>
          <a:p>
            <a:pPr marL="342900" indent="-342900">
              <a:lnSpc>
                <a:spcPct val="150000"/>
              </a:lnSpc>
              <a:buSzPct val="100000"/>
              <a:buChar char="→"/>
            </a:pPr>
            <a:r>
              <a:rPr lang="en-US" sz="1100" dirty="0">
                <a:solidFill>
                  <a:srgbClr val="8B8FA3"/>
                </a:solidFill>
              </a:rPr>
              <a:t>Trace any decision back to evidence in seconds</a:t>
            </a:r>
            <a:endParaRPr lang="en-US" sz="1100" dirty="0"/>
          </a:p>
        </p:txBody>
      </p:sp>
      <p:sp>
        <p:nvSpPr>
          <p:cNvPr id="8" name="Text 5"/>
          <p:cNvSpPr/>
          <p:nvPr/>
        </p:nvSpPr>
        <p:spPr>
          <a:xfrm>
            <a:off x="457200" y="6400800"/>
            <a:ext cx="36576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800" dirty="0">
                <a:solidFill>
                  <a:srgbClr val="8B8FA3"/>
                </a:solidFill>
              </a:rPr>
              <a:t>© 2024–2026 Datacendia, LLC</a:t>
            </a:r>
            <a:endParaRPr lang="en-US" sz="800" dirty="0"/>
          </a:p>
        </p:txBody>
      </p:sp>
      <p:sp>
        <p:nvSpPr>
          <p:cNvPr id="9" name="Text 6"/>
          <p:cNvSpPr/>
          <p:nvPr/>
        </p:nvSpPr>
        <p:spPr>
          <a:xfrm>
            <a:off x="8229600" y="6400800"/>
            <a:ext cx="36576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r" indent="0" marL="0">
              <a:buNone/>
            </a:pPr>
            <a:r>
              <a:rPr lang="en-US" sz="800" dirty="0">
                <a:solidFill>
                  <a:srgbClr val="8B8FA3"/>
                </a:solidFill>
              </a:rPr>
              <a:t>datacendia.com</a:t>
            </a:r>
            <a:endParaRPr lang="en-US" sz="800" dirty="0"/>
          </a:p>
        </p:txBody>
      </p:sp>
      <p:pic>
        <p:nvPicPr>
          <p:cNvPr id="10" name="Picture 9" descr="image.png"/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5303520" y="1097280"/>
            <a:ext cx="6400800" cy="4846320"/>
          </a:xfrm>
          <a:prstGeom prst="rect">
            <a:avLst/>
          </a:prstGeom>
        </p:spPr>
      </p:pic>
    </p:spTree>
  </p:cSld>
  <p:clrMapOvr>
    <a:masterClrMapping/>
  </p:clrMapOvr>
</p:sld>
</file>

<file path=ppt/slides/slide8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8">
    <p:bg>
      <p:bgPr>
        <a:solidFill>
          <a:srgbClr val="0A0E1A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457200" y="274320"/>
            <a:ext cx="27432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000" b="1" dirty="0">
                <a:solidFill>
                  <a:srgbClr val="D4AF37"/>
                </a:solidFill>
              </a:rPr>
              <a:t>DATACENDIA</a:t>
            </a:r>
            <a:endParaRPr lang="en-US" sz="1000" dirty="0"/>
          </a:p>
        </p:txBody>
      </p:sp>
      <p:sp>
        <p:nvSpPr>
          <p:cNvPr id="3" name="Text 1"/>
          <p:cNvSpPr/>
          <p:nvPr/>
        </p:nvSpPr>
        <p:spPr>
          <a:xfrm>
            <a:off x="731520" y="914400"/>
            <a:ext cx="36576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100" dirty="0">
                <a:solidFill>
                  <a:srgbClr val="D4AF37"/>
                </a:solidFill>
              </a:rPr>
              <a:t>FOUNDER</a:t>
            </a:r>
            <a:endParaRPr lang="en-US" sz="1100" dirty="0"/>
          </a:p>
        </p:txBody>
      </p:sp>
      <p:sp>
        <p:nvSpPr>
          <p:cNvPr id="4" name="Text 2"/>
          <p:cNvSpPr/>
          <p:nvPr/>
        </p:nvSpPr>
        <p:spPr>
          <a:xfrm>
            <a:off x="731520" y="1371600"/>
            <a:ext cx="10058400" cy="54864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2400" b="1" dirty="0">
                <a:solidFill>
                  <a:srgbClr val="FFFFFF"/>
                </a:solidFill>
              </a:rPr>
              <a:t>Stuart Rainey — Founder &amp; CEO</a:t>
            </a:r>
            <a:endParaRPr lang="en-US" sz="2400" dirty="0"/>
          </a:p>
        </p:txBody>
      </p:sp>
      <p:sp>
        <p:nvSpPr>
          <p:cNvPr id="5" name="Text 3"/>
          <p:cNvSpPr/>
          <p:nvPr/>
        </p:nvSpPr>
        <p:spPr>
          <a:xfrm>
            <a:off x="731520" y="2194560"/>
            <a:ext cx="5029200" cy="2743200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marL="342900" indent="-342900">
              <a:lnSpc>
                <a:spcPct val="150000"/>
              </a:lnSpc>
              <a:buSzPct val="100000"/>
              <a:buChar char="→"/>
            </a:pPr>
            <a:r>
              <a:rPr lang="en-US" sz="1200" dirty="0">
                <a:solidFill>
                  <a:srgbClr val="8B8FA3"/>
                </a:solidFill>
              </a:rPr>
              <a:t>7 years as Senior Data Analyst at TCS, embedded with PGIM Fixed Income ($800B+ AUM)</a:t>
            </a:r>
            <a:endParaRPr lang="en-US" sz="1200" dirty="0"/>
          </a:p>
          <a:p>
            <a:pPr marL="342900" indent="-342900">
              <a:lnSpc>
                <a:spcPct val="150000"/>
              </a:lnSpc>
              <a:buSzPct val="100000"/>
              <a:buChar char="→"/>
            </a:pPr>
            <a:r>
              <a:rPr lang="en-US" sz="1200" dirty="0">
                <a:solidFill>
                  <a:srgbClr val="8B8FA3"/>
                </a:solidFill>
              </a:rPr>
              <a:t>Built data infrastructure for regulated investment decisions at institutional scale</a:t>
            </a:r>
            <a:endParaRPr lang="en-US" sz="1200" dirty="0"/>
          </a:p>
          <a:p>
            <a:pPr marL="342900" indent="-342900">
              <a:lnSpc>
                <a:spcPct val="150000"/>
              </a:lnSpc>
              <a:buSzPct val="100000"/>
              <a:buChar char="→"/>
            </a:pPr>
            <a:r>
              <a:rPr lang="en-US" sz="1200" dirty="0">
                <a:solidFill>
                  <a:srgbClr val="8B8FA3"/>
                </a:solidFill>
              </a:rPr>
              <a:t>M.S. in Big Data Analytics</a:t>
            </a:r>
            <a:endParaRPr lang="en-US" sz="1200" dirty="0"/>
          </a:p>
          <a:p>
            <a:pPr marL="342900" indent="-342900">
              <a:lnSpc>
                <a:spcPct val="150000"/>
              </a:lnSpc>
              <a:buSzPct val="100000"/>
              <a:buChar char="→"/>
            </a:pPr>
            <a:r>
              <a:rPr lang="en-US" sz="1200" dirty="0">
                <a:solidFill>
                  <a:srgbClr val="8B8FA3"/>
                </a:solidFill>
              </a:rPr>
              <a:t>Author of the DDGI framework — ISO/IEC JTC 1/SC 42 standards track</a:t>
            </a:r>
            <a:endParaRPr lang="en-US" sz="1200" dirty="0"/>
          </a:p>
          <a:p>
            <a:pPr marL="342900" indent="-342900">
              <a:lnSpc>
                <a:spcPct val="150000"/>
              </a:lnSpc>
              <a:buSzPct val="100000"/>
              <a:buChar char="→"/>
            </a:pPr>
            <a:r>
              <a:rPr lang="en-US" sz="1200" dirty="0">
                <a:solidFill>
                  <a:srgbClr val="8B8FA3"/>
                </a:solidFill>
              </a:rPr>
              <a:t>NVIDIA Inception member</a:t>
            </a:r>
            <a:endParaRPr lang="en-US" sz="1200" dirty="0"/>
          </a:p>
        </p:txBody>
      </p:sp>
      <p:sp>
        <p:nvSpPr>
          <p:cNvPr id="6" name="Shape 4"/>
          <p:cNvSpPr/>
          <p:nvPr/>
        </p:nvSpPr>
        <p:spPr>
          <a:xfrm>
            <a:off x="6400800" y="2194560"/>
            <a:ext cx="5029200" cy="2286000"/>
          </a:xfrm>
          <a:prstGeom prst="roundRect">
            <a:avLst>
              <a:gd name="adj" fmla="val 4000"/>
            </a:avLst>
          </a:prstGeom>
          <a:solidFill>
            <a:srgbClr val="141825"/>
          </a:solidFill>
          <a:ln/>
        </p:spPr>
        <p:txBody>
          <a:bodyPr/>
          <a:p/>
        </p:txBody>
      </p:sp>
      <p:sp>
        <p:nvSpPr>
          <p:cNvPr id="7" name="Text 5"/>
          <p:cNvSpPr/>
          <p:nvPr/>
        </p:nvSpPr>
        <p:spPr>
          <a:xfrm>
            <a:off x="6675120" y="2377440"/>
            <a:ext cx="4572000" cy="3657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400" b="1" dirty="0">
                <a:solidFill>
                  <a:srgbClr val="D4AF37"/>
                </a:solidFill>
              </a:rPr>
              <a:t>Why This Founder</a:t>
            </a:r>
            <a:endParaRPr lang="en-US" sz="1400" dirty="0"/>
          </a:p>
        </p:txBody>
      </p:sp>
      <p:sp>
        <p:nvSpPr>
          <p:cNvPr id="8" name="Text 6"/>
          <p:cNvSpPr/>
          <p:nvPr/>
        </p:nvSpPr>
        <p:spPr>
          <a:xfrm>
            <a:off x="6675120" y="2926080"/>
            <a:ext cx="4389120" cy="1371600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indent="0" marL="0">
              <a:lnSpc>
                <a:spcPct val="150000"/>
              </a:lnSpc>
              <a:buNone/>
            </a:pPr>
            <a:r>
              <a:rPr lang="en-US" sz="1200" dirty="0">
                <a:solidFill>
                  <a:srgbClr val="8B8FA3"/>
                </a:solidFill>
              </a:rPr>
              <a:t>Built the exact data infrastructure that financial institutions need for AI governance — at one of the world's largest asset managers.</a:t>
            </a:r>
            <a:endParaRPr lang="en-US" sz="1200" dirty="0"/>
          </a:p>
        </p:txBody>
      </p:sp>
      <p:sp>
        <p:nvSpPr>
          <p:cNvPr id="9" name="Text 7"/>
          <p:cNvSpPr/>
          <p:nvPr/>
        </p:nvSpPr>
        <p:spPr>
          <a:xfrm>
            <a:off x="457200" y="6400800"/>
            <a:ext cx="36576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800" dirty="0">
                <a:solidFill>
                  <a:srgbClr val="8B8FA3"/>
                </a:solidFill>
              </a:rPr>
              <a:t>© 2024–2026 Datacendia, LLC</a:t>
            </a:r>
            <a:endParaRPr lang="en-US" sz="800" dirty="0"/>
          </a:p>
        </p:txBody>
      </p:sp>
      <p:sp>
        <p:nvSpPr>
          <p:cNvPr id="10" name="Text 8"/>
          <p:cNvSpPr/>
          <p:nvPr/>
        </p:nvSpPr>
        <p:spPr>
          <a:xfrm>
            <a:off x="8229600" y="6400800"/>
            <a:ext cx="36576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r" indent="0" marL="0">
              <a:buNone/>
            </a:pPr>
            <a:r>
              <a:rPr lang="en-US" sz="800" dirty="0">
                <a:solidFill>
                  <a:srgbClr val="8B8FA3"/>
                </a:solidFill>
              </a:rPr>
              <a:t>datacendia.com</a:t>
            </a:r>
            <a:endParaRPr lang="en-US" sz="800" dirty="0"/>
          </a:p>
        </p:txBody>
      </p:sp>
    </p:spTree>
  </p:cSld>
  <p:clrMapOvr>
    <a:masterClrMapping/>
  </p:clrMapOvr>
</p:sld>
</file>

<file path=ppt/slides/slide9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9">
    <p:bg>
      <p:bgPr>
        <a:solidFill>
          <a:srgbClr val="0A0E1A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457200" y="274320"/>
            <a:ext cx="27432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000" b="1" dirty="0">
                <a:solidFill>
                  <a:srgbClr val="D4AF37"/>
                </a:solidFill>
              </a:rPr>
              <a:t>DATACENDIA</a:t>
            </a:r>
            <a:endParaRPr lang="en-US" sz="1000" dirty="0"/>
          </a:p>
        </p:txBody>
      </p:sp>
      <p:sp>
        <p:nvSpPr>
          <p:cNvPr id="3" name="Text 1"/>
          <p:cNvSpPr/>
          <p:nvPr/>
        </p:nvSpPr>
        <p:spPr>
          <a:xfrm>
            <a:off x="731520" y="914400"/>
            <a:ext cx="36576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100" dirty="0">
                <a:solidFill>
                  <a:srgbClr val="D4AF37"/>
                </a:solidFill>
              </a:rPr>
              <a:t>THE ASK</a:t>
            </a:r>
            <a:endParaRPr lang="en-US" sz="1100" dirty="0"/>
          </a:p>
        </p:txBody>
      </p:sp>
      <p:sp>
        <p:nvSpPr>
          <p:cNvPr id="4" name="Text 2"/>
          <p:cNvSpPr/>
          <p:nvPr/>
        </p:nvSpPr>
        <p:spPr>
          <a:xfrm>
            <a:off x="731520" y="1371600"/>
            <a:ext cx="10058400" cy="54864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2400" b="1" dirty="0">
                <a:solidFill>
                  <a:srgbClr val="FFFFFF"/>
                </a:solidFill>
              </a:rPr>
              <a:t>$1.5M Pre-Seed — $7M Pre-Money Valuation</a:t>
            </a:r>
            <a:endParaRPr lang="en-US" sz="2400" dirty="0"/>
          </a:p>
        </p:txBody>
      </p:sp>
      <p:sp>
        <p:nvSpPr>
          <p:cNvPr id="5" name="Shape 3"/>
          <p:cNvSpPr/>
          <p:nvPr/>
        </p:nvSpPr>
        <p:spPr>
          <a:xfrm>
            <a:off x="731520" y="2286000"/>
            <a:ext cx="3291840" cy="2011680"/>
          </a:xfrm>
          <a:prstGeom prst="roundRect">
            <a:avLst>
              <a:gd name="adj" fmla="val 4545"/>
            </a:avLst>
          </a:prstGeom>
          <a:solidFill>
            <a:srgbClr val="141825"/>
          </a:solidFill>
          <a:ln/>
        </p:spPr>
        <p:txBody>
          <a:bodyPr/>
          <a:p/>
        </p:txBody>
      </p:sp>
      <p:sp>
        <p:nvSpPr>
          <p:cNvPr id="6" name="Text 4"/>
          <p:cNvSpPr/>
          <p:nvPr/>
        </p:nvSpPr>
        <p:spPr>
          <a:xfrm>
            <a:off x="1005840" y="2468880"/>
            <a:ext cx="2743200" cy="3657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400" b="1" dirty="0">
                <a:solidFill>
                  <a:srgbClr val="D4AF37"/>
                </a:solidFill>
              </a:rPr>
              <a:t>What's Built</a:t>
            </a:r>
            <a:endParaRPr lang="en-US" sz="1400" dirty="0"/>
          </a:p>
        </p:txBody>
      </p:sp>
      <p:sp>
        <p:nvSpPr>
          <p:cNvPr id="7" name="Text 5"/>
          <p:cNvSpPr/>
          <p:nvPr/>
        </p:nvSpPr>
        <p:spPr>
          <a:xfrm>
            <a:off x="1005840" y="2926080"/>
            <a:ext cx="2743200" cy="1188720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indent="0" marL="0">
              <a:lnSpc>
                <a:spcPct val="140000"/>
              </a:lnSpc>
              <a:buNone/>
            </a:pPr>
            <a:r>
              <a:rPr lang="en-US" sz="1100" dirty="0">
                <a:solidFill>
                  <a:srgbClr val="8B8FA3"/>
                </a:solidFill>
              </a:rPr>
              <a:t>205K+ passing tests. 156 validated API endpoints. Live production platform at app.datacendia.com.</a:t>
            </a:r>
            <a:endParaRPr lang="en-US" sz="1100" dirty="0"/>
          </a:p>
        </p:txBody>
      </p:sp>
      <p:sp>
        <p:nvSpPr>
          <p:cNvPr id="8" name="Shape 6"/>
          <p:cNvSpPr/>
          <p:nvPr/>
        </p:nvSpPr>
        <p:spPr>
          <a:xfrm>
            <a:off x="4389120" y="2286000"/>
            <a:ext cx="3291840" cy="2011680"/>
          </a:xfrm>
          <a:prstGeom prst="roundRect">
            <a:avLst>
              <a:gd name="adj" fmla="val 4545"/>
            </a:avLst>
          </a:prstGeom>
          <a:solidFill>
            <a:srgbClr val="141825"/>
          </a:solidFill>
          <a:ln/>
        </p:spPr>
        <p:txBody>
          <a:bodyPr/>
          <a:p/>
        </p:txBody>
      </p:sp>
      <p:sp>
        <p:nvSpPr>
          <p:cNvPr id="9" name="Text 7"/>
          <p:cNvSpPr/>
          <p:nvPr/>
        </p:nvSpPr>
        <p:spPr>
          <a:xfrm>
            <a:off x="4663440" y="2468880"/>
            <a:ext cx="2743200" cy="3657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400" b="1" dirty="0">
                <a:solidFill>
                  <a:srgbClr val="D4AF37"/>
                </a:solidFill>
              </a:rPr>
              <a:t>Traction</a:t>
            </a:r>
            <a:endParaRPr lang="en-US" sz="1400" dirty="0"/>
          </a:p>
        </p:txBody>
      </p:sp>
      <p:sp>
        <p:nvSpPr>
          <p:cNvPr id="10" name="Text 8"/>
          <p:cNvSpPr/>
          <p:nvPr/>
        </p:nvSpPr>
        <p:spPr>
          <a:xfrm>
            <a:off x="4663440" y="2926080"/>
            <a:ext cx="2743200" cy="1188720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indent="0" marL="0">
              <a:lnSpc>
                <a:spcPct val="140000"/>
              </a:lnSpc>
              <a:buNone/>
            </a:pPr>
            <a:r>
              <a:rPr lang="en-US" sz="1100" dirty="0">
                <a:solidFill>
                  <a:srgbClr val="8B8FA3"/>
                </a:solidFill>
              </a:rPr>
              <a:t>Active enterprise design-partner conversations (financial institution, Big 4 channel). NVIDIA Inception member. 3 LOI-stage discussions.</a:t>
            </a:r>
            <a:endParaRPr lang="en-US" sz="1100" dirty="0"/>
          </a:p>
        </p:txBody>
      </p:sp>
      <p:sp>
        <p:nvSpPr>
          <p:cNvPr id="11" name="Shape 9"/>
          <p:cNvSpPr/>
          <p:nvPr/>
        </p:nvSpPr>
        <p:spPr>
          <a:xfrm>
            <a:off x="8046720" y="2286000"/>
            <a:ext cx="3291840" cy="2011680"/>
          </a:xfrm>
          <a:prstGeom prst="roundRect">
            <a:avLst>
              <a:gd name="adj" fmla="val 4545"/>
            </a:avLst>
          </a:prstGeom>
          <a:solidFill>
            <a:srgbClr val="141825"/>
          </a:solidFill>
          <a:ln/>
        </p:spPr>
        <p:txBody>
          <a:bodyPr/>
          <a:p/>
        </p:txBody>
      </p:sp>
      <p:sp>
        <p:nvSpPr>
          <p:cNvPr id="12" name="Text 10"/>
          <p:cNvSpPr/>
          <p:nvPr/>
        </p:nvSpPr>
        <p:spPr>
          <a:xfrm>
            <a:off x="8321040" y="2468880"/>
            <a:ext cx="2743200" cy="3657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400" b="1" dirty="0">
                <a:solidFill>
                  <a:srgbClr val="D4AF37"/>
                </a:solidFill>
              </a:rPr>
              <a:t>Use of Funds</a:t>
            </a:r>
            <a:endParaRPr lang="en-US" sz="1400" dirty="0"/>
          </a:p>
        </p:txBody>
      </p:sp>
      <p:sp>
        <p:nvSpPr>
          <p:cNvPr id="13" name="Text 11"/>
          <p:cNvSpPr/>
          <p:nvPr/>
        </p:nvSpPr>
        <p:spPr>
          <a:xfrm>
            <a:off x="8321040" y="2926080"/>
            <a:ext cx="2743200" cy="1188720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indent="0" marL="0">
              <a:lnSpc>
                <a:spcPct val="140000"/>
              </a:lnSpc>
              <a:buNone/>
            </a:pPr>
            <a:r>
              <a:rPr lang="en-US" sz="1100" dirty="0">
                <a:solidFill>
                  <a:srgbClr val="8B8FA3"/>
                </a:solidFill>
              </a:rPr>
              <a:t>First 3 design partners signed, SOC 2 Type II certification, regulatory validation (EU AI Act compliance audit).</a:t>
            </a:r>
            <a:endParaRPr lang="en-US" sz="1100" dirty="0"/>
          </a:p>
        </p:txBody>
      </p:sp>
      <p:sp>
        <p:nvSpPr>
          <p:cNvPr id="14" name="Text 12"/>
          <p:cNvSpPr/>
          <p:nvPr/>
        </p:nvSpPr>
        <p:spPr>
          <a:xfrm>
            <a:off x="914400" y="4754880"/>
            <a:ext cx="10058400" cy="3657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200" dirty="0">
                <a:solidFill>
                  <a:srgbClr val="8B8FA3"/>
                </a:solidFill>
              </a:rPr>
              <a:t>$8.5M post-money · 21.5% dilution · Engineering risk resolved — GTM-stage investment.</a:t>
            </a:r>
            <a:endParaRPr lang="en-US" sz="1200" dirty="0"/>
          </a:p>
        </p:txBody>
      </p:sp>
      <p:sp>
        <p:nvSpPr>
          <p:cNvPr id="15" name="Text 13"/>
          <p:cNvSpPr/>
          <p:nvPr/>
        </p:nvSpPr>
        <p:spPr>
          <a:xfrm>
            <a:off x="457200" y="6400800"/>
            <a:ext cx="36576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800" dirty="0">
                <a:solidFill>
                  <a:srgbClr val="8B8FA3"/>
                </a:solidFill>
              </a:rPr>
              <a:t>© 2024–2026 Datacendia, LLC</a:t>
            </a:r>
            <a:endParaRPr lang="en-US" sz="800" dirty="0"/>
          </a:p>
        </p:txBody>
      </p:sp>
      <p:sp>
        <p:nvSpPr>
          <p:cNvPr id="16" name="Text 14"/>
          <p:cNvSpPr/>
          <p:nvPr/>
        </p:nvSpPr>
        <p:spPr>
          <a:xfrm>
            <a:off x="8229600" y="6400800"/>
            <a:ext cx="36576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r" indent="0" marL="0">
              <a:buNone/>
            </a:pPr>
            <a:r>
              <a:rPr lang="en-US" sz="800" dirty="0">
                <a:solidFill>
                  <a:srgbClr val="8B8FA3"/>
                </a:solidFill>
              </a:rPr>
              <a:t>datacendia.com</a:t>
            </a:r>
            <a:endParaRPr lang="en-US" sz="800" dirty="0"/>
          </a:p>
        </p:txBody>
      </p:sp>
    </p:spTree>
  </p:cSld>
  <p:clrMapOvr>
    <a:masterClrMapping/>
  </p:clrMapOvr>
</p:sld>
</file>

<file path=ppt/slides/slide10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0">
    <p:bg>
      <p:bgPr>
        <a:solidFill>
          <a:srgbClr val="0A0E1A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457200" y="274320"/>
            <a:ext cx="27432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000" b="1" dirty="0">
                <a:solidFill>
                  <a:srgbClr val="D4AF37"/>
                </a:solidFill>
              </a:rPr>
              <a:t>DATACENDIA</a:t>
            </a:r>
            <a:endParaRPr lang="en-US" sz="1000" dirty="0"/>
          </a:p>
        </p:txBody>
      </p:sp>
      <p:sp>
        <p:nvSpPr>
          <p:cNvPr id="3" name="Text 1"/>
          <p:cNvSpPr/>
          <p:nvPr/>
        </p:nvSpPr>
        <p:spPr>
          <a:xfrm>
            <a:off x="457200" y="1828800"/>
            <a:ext cx="109728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100" dirty="0">
                <a:solidFill>
                  <a:srgbClr val="D4AF37"/>
                </a:solidFill>
              </a:rPr>
              <a:t>NEXT STEPS</a:t>
            </a:r>
            <a:endParaRPr lang="en-US" sz="1100" dirty="0"/>
          </a:p>
        </p:txBody>
      </p:sp>
      <p:sp>
        <p:nvSpPr>
          <p:cNvPr id="4" name="Text 2"/>
          <p:cNvSpPr/>
          <p:nvPr/>
        </p:nvSpPr>
        <p:spPr>
          <a:xfrm>
            <a:off x="457200" y="2286000"/>
            <a:ext cx="10972800" cy="7315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3600" b="1" dirty="0">
                <a:solidFill>
                  <a:srgbClr val="FFFFFF"/>
                </a:solidFill>
              </a:rPr>
              <a:t>Let’s Talk</a:t>
            </a:r>
            <a:endParaRPr lang="en-US" sz="3600" dirty="0"/>
          </a:p>
        </p:txBody>
      </p:sp>
      <p:sp>
        <p:nvSpPr>
          <p:cNvPr id="5" name="Text 3"/>
          <p:cNvSpPr/>
          <p:nvPr/>
        </p:nvSpPr>
        <p:spPr>
          <a:xfrm>
            <a:off x="1371600" y="3200400"/>
            <a:ext cx="9144000" cy="4572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400" dirty="0">
                <a:solidFill>
                  <a:srgbClr val="8B8FA3"/>
                </a:solidFill>
              </a:rPr>
              <a:t>Prepared for SEVENTURE PARTNERS — Health tech and deep tech — regulated industries</a:t>
            </a:r>
            <a:endParaRPr lang="en-US" sz="1400" dirty="0"/>
          </a:p>
        </p:txBody>
      </p:sp>
      <p:sp>
        <p:nvSpPr>
          <p:cNvPr id="6" name="Shape 4"/>
          <p:cNvSpPr/>
          <p:nvPr/>
        </p:nvSpPr>
        <p:spPr>
          <a:xfrm>
            <a:off x="2286000" y="3931920"/>
            <a:ext cx="1828800" cy="457200"/>
          </a:xfrm>
          <a:prstGeom prst="roundRect">
            <a:avLst>
              <a:gd name="adj" fmla="val 10000"/>
            </a:avLst>
          </a:prstGeom>
          <a:solidFill>
            <a:srgbClr val="141825"/>
          </a:solidFill>
          <a:ln/>
        </p:spPr>
        <p:txBody>
          <a:bodyPr/>
          <a:p/>
        </p:txBody>
      </p:sp>
      <p:sp>
        <p:nvSpPr>
          <p:cNvPr id="7" name="Text 5"/>
          <p:cNvSpPr/>
          <p:nvPr/>
        </p:nvSpPr>
        <p:spPr>
          <a:xfrm>
            <a:off x="2286000" y="3931920"/>
            <a:ext cx="1828800" cy="4572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100" b="1" dirty="0">
                <a:solidFill>
                  <a:srgbClr val="D4AF37"/>
                </a:solidFill>
              </a:rPr>
              <a:t>Schedule Deep Dive</a:t>
            </a:r>
            <a:endParaRPr lang="en-US" sz="1100" dirty="0"/>
          </a:p>
        </p:txBody>
      </p:sp>
      <p:sp>
        <p:nvSpPr>
          <p:cNvPr id="8" name="Shape 6"/>
          <p:cNvSpPr/>
          <p:nvPr/>
        </p:nvSpPr>
        <p:spPr>
          <a:xfrm>
            <a:off x="4297680" y="3931920"/>
            <a:ext cx="1828800" cy="457200"/>
          </a:xfrm>
          <a:prstGeom prst="roundRect">
            <a:avLst>
              <a:gd name="adj" fmla="val 10000"/>
            </a:avLst>
          </a:prstGeom>
          <a:solidFill>
            <a:srgbClr val="141825"/>
          </a:solidFill>
          <a:ln/>
        </p:spPr>
        <p:txBody>
          <a:bodyPr/>
          <a:p/>
        </p:txBody>
      </p:sp>
      <p:sp>
        <p:nvSpPr>
          <p:cNvPr id="9" name="Text 7"/>
          <p:cNvSpPr/>
          <p:nvPr/>
        </p:nvSpPr>
        <p:spPr>
          <a:xfrm>
            <a:off x="4297680" y="3931920"/>
            <a:ext cx="1828800" cy="4572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100" b="1" dirty="0">
                <a:solidFill>
                  <a:srgbClr val="D4AF37"/>
                </a:solidFill>
              </a:rPr>
              <a:t>Technical Demo</a:t>
            </a:r>
            <a:endParaRPr lang="en-US" sz="1100" dirty="0"/>
          </a:p>
        </p:txBody>
      </p:sp>
      <p:sp>
        <p:nvSpPr>
          <p:cNvPr id="10" name="Shape 8"/>
          <p:cNvSpPr/>
          <p:nvPr/>
        </p:nvSpPr>
        <p:spPr>
          <a:xfrm>
            <a:off x="6309360" y="3931920"/>
            <a:ext cx="1828800" cy="457200"/>
          </a:xfrm>
          <a:prstGeom prst="roundRect">
            <a:avLst>
              <a:gd name="adj" fmla="val 10000"/>
            </a:avLst>
          </a:prstGeom>
          <a:solidFill>
            <a:srgbClr val="141825"/>
          </a:solidFill>
          <a:ln/>
        </p:spPr>
        <p:txBody>
          <a:bodyPr/>
          <a:p/>
        </p:txBody>
      </p:sp>
      <p:sp>
        <p:nvSpPr>
          <p:cNvPr id="11" name="Text 9"/>
          <p:cNvSpPr/>
          <p:nvPr/>
        </p:nvSpPr>
        <p:spPr>
          <a:xfrm>
            <a:off x="6309360" y="3931920"/>
            <a:ext cx="1828800" cy="4572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100" b="1" dirty="0">
                <a:solidFill>
                  <a:srgbClr val="D4AF37"/>
                </a:solidFill>
              </a:rPr>
              <a:t>Data Room Access</a:t>
            </a:r>
            <a:endParaRPr lang="en-US" sz="1100" dirty="0"/>
          </a:p>
        </p:txBody>
      </p:sp>
      <p:sp>
        <p:nvSpPr>
          <p:cNvPr id="12" name="Shape 10"/>
          <p:cNvSpPr/>
          <p:nvPr/>
        </p:nvSpPr>
        <p:spPr>
          <a:xfrm>
            <a:off x="8321040" y="3931920"/>
            <a:ext cx="1828800" cy="457200"/>
          </a:xfrm>
          <a:prstGeom prst="roundRect">
            <a:avLst>
              <a:gd name="adj" fmla="val 10000"/>
            </a:avLst>
          </a:prstGeom>
          <a:solidFill>
            <a:srgbClr val="D4AF37"/>
          </a:solidFill>
          <a:ln/>
        </p:spPr>
        <p:txBody>
          <a:bodyPr/>
          <a:p/>
        </p:txBody>
      </p:sp>
      <p:sp>
        <p:nvSpPr>
          <p:cNvPr id="13" name="Text 11"/>
          <p:cNvSpPr/>
          <p:nvPr/>
        </p:nvSpPr>
        <p:spPr>
          <a:xfrm>
            <a:off x="8321040" y="3931920"/>
            <a:ext cx="1828800" cy="4572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100" b="1" dirty="0">
                <a:solidFill>
                  <a:srgbClr val="0A0E1A"/>
                </a:solidFill>
              </a:rPr>
              <a:t>Try Live Demo →</a:t>
            </a:r>
            <a:endParaRPr lang="en-US" sz="1100" dirty="0"/>
          </a:p>
        </p:txBody>
      </p:sp>
      <p:sp>
        <p:nvSpPr>
          <p:cNvPr id="14" name="Text 12"/>
          <p:cNvSpPr/>
          <p:nvPr/>
        </p:nvSpPr>
        <p:spPr>
          <a:xfrm>
            <a:off x="1828800" y="5029200"/>
            <a:ext cx="8229600" cy="3657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200" dirty="0">
                <a:solidFill>
                  <a:srgbClr val="8B8FA3"/>
                </a:solidFill>
              </a:rPr>
              <a:t>contact@datacendia.com | datacendia.com | app.datacendia.com</a:t>
            </a:r>
            <a:endParaRPr lang="en-US" sz="1200" dirty="0"/>
          </a:p>
        </p:txBody>
      </p:sp>
      <p:sp>
        <p:nvSpPr>
          <p:cNvPr id="15" name="Text 13"/>
          <p:cNvSpPr/>
          <p:nvPr/>
        </p:nvSpPr>
        <p:spPr>
          <a:xfrm>
            <a:off x="457200" y="6400800"/>
            <a:ext cx="36576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800" dirty="0">
                <a:solidFill>
                  <a:srgbClr val="8B8FA3"/>
                </a:solidFill>
              </a:rPr>
              <a:t>© 2024–2026 Datacendia, LLC</a:t>
            </a:r>
            <a:endParaRPr lang="en-US" sz="800" dirty="0"/>
          </a:p>
        </p:txBody>
      </p:sp>
      <p:sp>
        <p:nvSpPr>
          <p:cNvPr id="16" name="Text 14"/>
          <p:cNvSpPr/>
          <p:nvPr/>
        </p:nvSpPr>
        <p:spPr>
          <a:xfrm>
            <a:off x="8229600" y="6400800"/>
            <a:ext cx="36576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r" indent="0" marL="0">
              <a:buNone/>
            </a:pPr>
            <a:r>
              <a:rPr lang="en-US" sz="800" dirty="0">
                <a:solidFill>
                  <a:srgbClr val="8B8FA3"/>
                </a:solidFill>
              </a:rPr>
              <a:t>datacendia.com</a:t>
            </a:r>
            <a:endParaRPr lang="en-US" sz="800" dirty="0"/>
          </a:p>
        </p:txBody>
      </p:sp>
    </p:spTree>
  </p:cSld>
  <p:clrMapOvr>
    <a:masterClrMapping/>
  </p:clrMapOvr>
</p:sld>
</file>

<file path=ppt/theme/theme1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44546A"/>
      </a:dk2>
      <a:lt2>
        <a:srgbClr val="E7E6E6"/>
      </a:lt2>
      <a:accent1>
        <a:srgbClr val="4472C4"/>
      </a:accent1>
      <a:accent2>
        <a:srgbClr val="ED7D31"/>
      </a:accent2>
      <a:accent3>
        <a:srgbClr val="A5A5A5"/>
      </a:accent3>
      <a:accent4>
        <a:srgbClr val="FFC000"/>
      </a:accent4>
      <a:accent5>
        <a:srgbClr val="5B9BD5"/>
      </a:accent5>
      <a:accent6>
        <a:srgbClr val="70AD47"/>
      </a:accent6>
      <a:hlink>
        <a:srgbClr val="0563C1"/>
      </a:hlink>
      <a:folHlink>
        <a:srgbClr val="954F72"/>
      </a:folHlink>
    </a:clrScheme>
    <a:fontScheme name="Office">
      <a:majorFont>
        <a:latin typeface="Calibri Light" panose="020F0302020204030204"/>
        <a:ea typeface=""/>
        <a:cs typeface=""/>
        <a:font script="Jpan" typeface="游ゴシック Light"/>
        <a:font script="Hang" typeface="맑은 고딕"/>
        <a:font script="Hans" typeface="等线 Light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ajorFont>
      <a:minorFont>
        <a:latin typeface="Calibri" panose="020F0502020204030204"/>
        <a:ea typeface=""/>
        <a:cs typeface=""/>
        <a:font script="Jpan" typeface="游ゴシック"/>
        <a:font script="Hang" typeface="맑은 고딕"/>
        <a:font script="Hans" typeface="等线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lumMod val="110000"/>
                <a:satMod val="105000"/>
                <a:tint val="67000"/>
              </a:schemeClr>
            </a:gs>
            <a:gs pos="50000">
              <a:schemeClr val="phClr">
                <a:lumMod val="105000"/>
                <a:satMod val="103000"/>
                <a:tint val="73000"/>
              </a:schemeClr>
            </a:gs>
            <a:gs pos="100000">
              <a:schemeClr val="phClr">
                <a:lumMod val="105000"/>
                <a:satMod val="109000"/>
                <a:tint val="81000"/>
              </a:schemeClr>
            </a:gs>
          </a:gsLst>
          <a:lin ang="5400000" scaled="0"/>
        </a:gradFill>
        <a:gradFill rotWithShape="1">
          <a:gsLst>
            <a:gs pos="0">
              <a:schemeClr val="phClr">
                <a:satMod val="103000"/>
                <a:lumMod val="102000"/>
                <a:tint val="94000"/>
              </a:schemeClr>
            </a:gs>
            <a:gs pos="50000">
              <a:schemeClr val="phClr">
                <a:satMod val="110000"/>
                <a:lumMod val="100000"/>
                <a:shade val="100000"/>
              </a:schemeClr>
            </a:gs>
            <a:gs pos="100000">
              <a:schemeClr val="phClr">
                <a:lumMod val="99000"/>
                <a:satMod val="120000"/>
                <a:shade val="78000"/>
              </a:schemeClr>
            </a:gs>
          </a:gsLst>
          <a:lin ang="5400000" scaled="0"/>
        </a:gradFill>
      </a:fillStyleLst>
      <a:lnStyleLst>
        <a:ln w="6350" cap="flat" cmpd="sng" algn="ctr">
          <a:solidFill>
            <a:schemeClr val="phClr"/>
          </a:solidFill>
          <a:prstDash val="solid"/>
          <a:miter lim="800000"/>
        </a:ln>
        <a:ln w="12700" cap="flat" cmpd="sng" algn="ctr">
          <a:solidFill>
            <a:schemeClr val="phClr"/>
          </a:solidFill>
          <a:prstDash val="solid"/>
          <a:miter lim="800000"/>
        </a:ln>
        <a:ln w="19050" cap="flat" cmpd="sng" algn="ctr">
          <a:solidFill>
            <a:schemeClr val="phClr"/>
          </a:solidFill>
          <a:prstDash val="solid"/>
          <a:miter lim="800000"/>
        </a:ln>
      </a:lnStyleLst>
      <a:effectStyleLst>
        <a:effectStyle>
          <a:effectLst/>
        </a:effectStyle>
        <a:effectStyle>
          <a:effectLst/>
        </a:effectStyle>
        <a:effectStyle>
          <a:effectLst>
            <a:outerShdw blurRad="57150" dist="19050" dir="5400000" algn="ctr" rotWithShape="0">
              <a:srgbClr val="000000">
                <a:alpha val="63000"/>
              </a:srgbClr>
            </a:outerShdw>
          </a:effectLst>
        </a:effectStyle>
      </a:effectStyleLst>
      <a:bgFillStyleLst>
        <a:solidFill>
          <a:schemeClr val="phClr"/>
        </a:solidFill>
        <a:solidFill>
          <a:schemeClr val="phClr">
            <a:tint val="95000"/>
            <a:satMod val="170000"/>
          </a:schemeClr>
        </a:solidFill>
        <a:gradFill rotWithShape="1">
          <a:gsLst>
            <a:gs pos="0">
              <a:schemeClr val="phClr">
                <a:tint val="93000"/>
                <a:satMod val="150000"/>
                <a:shade val="98000"/>
                <a:lumMod val="102000"/>
              </a:schemeClr>
            </a:gs>
            <a:gs pos="50000">
              <a:schemeClr val="phClr">
                <a:tint val="98000"/>
                <a:satMod val="130000"/>
                <a:shade val="90000"/>
                <a:lumMod val="103000"/>
              </a:schemeClr>
            </a:gs>
            <a:gs pos="100000">
              <a:schemeClr val="phClr">
                <a:shade val="63000"/>
                <a:satMod val="120000"/>
              </a:schemeClr>
            </a:gs>
          </a:gsLst>
          <a:lin ang="5400000" scaled="0"/>
        </a:gradFill>
      </a:bgFillStyleLst>
    </a:fmtScheme>
  </a:themeElements>
  <a:objectDefaults/>
  <a:extraClrSchemeLst/>
  <a:extLst>
    <a:ext uri="{05A4C25C-085E-4340-85A3-A5531E510DB2}">
      <thm15:themeFamily xmlns:thm15="http://schemas.microsoft.com/office/thememl/2012/main" name="Office Theme" id="{62F939B6-93AF-4DB8-9C6B-D6C7DFDC589F}" vid="{4A3C46E8-61CC-4603-A589-7422A47A8E4A}"/>
    </a:ext>
  </a:extLst>
</a:theme>
</file>

<file path=docProps/app.xml><?xml version="1.0" encoding="utf-8"?>
<Properties xmlns="http://schemas.openxmlformats.org/officeDocument/2006/extended-properties" xmlns:vt="http://schemas.openxmlformats.org/officeDocument/2006/docPropsVTypes">
  <TotalTime>0</TotalTime>
  <Words>0</Words>
  <Application>Microsoft Office PowerPoint</Application>
  <PresentationFormat>On-screen Show (16:9)</PresentationFormat>
  <Paragraphs>0</Paragraphs>
  <Slides>10</Slides>
  <Notes>10</Notes>
  <HiddenSlides>0</HiddenSlides>
  <MMClips>0</MMClips>
  <ScaleCrop>false</ScaleCrop>
  <HeadingPairs>
    <vt:vector size="6" baseType="variant">
      <vt:variant>
        <vt:lpstr>Fonts Used</vt:lpstr>
      </vt:variant>
      <vt:variant>
        <vt:i4>2</vt:i4>
      </vt:variant>
      <vt:variant>
        <vt:lpstr>Theme</vt:lpstr>
      </vt:variant>
      <vt:variant>
        <vt:i4>1</vt:i4>
      </vt:variant>
      <vt:variant>
        <vt:lpstr>Slide Titles</vt:lpstr>
      </vt:variant>
      <vt:variant>
        <vt:i4>10</vt:i4>
      </vt:variant>
    </vt:vector>
  </HeadingPairs>
  <TitlesOfParts>
    <vt:vector size="13" baseType="lpstr">
      <vt:lpstr>Arial</vt:lpstr>
      <vt:lpstr>Calibri</vt:lpstr>
      <vt:lpstr>Office Theme</vt:lpstr>
      <vt:lpstr>Slide 1</vt:lpstr>
      <vt:lpstr>Slide 2</vt:lpstr>
      <vt:lpstr>Slide 3</vt:lpstr>
      <vt:lpstr>Slide 4</vt:lpstr>
      <vt:lpstr>Slide 5</vt:lpstr>
      <vt:lpstr>Slide 6</vt:lpstr>
      <vt:lpstr>Slide 7</vt:lpstr>
      <vt:lpstr>Slide 8</vt:lpstr>
      <vt:lpstr>Slide 9</vt:lpstr>
      <vt:lpstr>Slide 10</vt:lpstr>
    </vt:vector>
  </TitlesOfParts>
  <Company>Datacendia, LLC</Company>
  <LinksUpToDate>false</LinksUpToDate>
  <SharedDoc>false</SharedDoc>
  <HyperlinksChanged>false</HyperlinksChanged>
  <AppVersion>16.0000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title>Datacendia for Andreessen Horowitz (a16z)</dc:title>
  <dc:subject>PptxGenJS Presentation</dc:subject>
  <dc:creator>Datacendia</dc:creator>
  <cp:lastModifiedBy>Datacendia</cp:lastModifiedBy>
  <cp:revision>1</cp:revision>
  <dcterms:created xsi:type="dcterms:W3CDTF">2026-03-17T15:48:25Z</dcterms:created>
  <dcterms:modified xsi:type="dcterms:W3CDTF">2026-03-17T15:48:25Z</dcterms:modified>
</cp:coreProperties>
</file>