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6400800" y="2743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PREPARED FOR DST GLOBAL</a:t>
            </a:r>
            <a:endParaRPr lang="en-US" sz="800" dirty="0"/>
          </a:p>
        </p:txBody>
      </p:sp>
      <p:sp>
        <p:nvSpPr>
          <p:cNvPr id="4" name="Shape 2"/>
          <p:cNvSpPr/>
          <p:nvPr/>
        </p:nvSpPr>
        <p:spPr>
          <a:xfrm>
            <a:off x="4114800" y="1645920"/>
            <a:ext cx="3931920" cy="411480"/>
          </a:xfrm>
          <a:prstGeom prst="roundRect">
            <a:avLst>
              <a:gd name="adj" fmla="val 8889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4114800" y="1645920"/>
            <a:ext cx="39319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0A0E1A"/>
                </a:solidFill>
              </a:rPr>
              <a:t>PREPARED FOR DST GLOBAL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457200" y="228600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457200" y="274320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</a:rPr>
              <a:t>Datacendia for DST GLOBAL</a:t>
            </a:r>
            <a:endParaRPr lang="en-US" sz="3400" dirty="0"/>
          </a:p>
        </p:txBody>
      </p:sp>
      <p:sp>
        <p:nvSpPr>
          <p:cNvPr id="8" name="Text 6"/>
          <p:cNvSpPr/>
          <p:nvPr/>
        </p:nvSpPr>
        <p:spPr>
          <a:xfrm>
            <a:off x="1371600" y="402336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dirty="0">
                <a:solidFill>
                  <a:srgbClr val="8B8FA3"/>
                </a:solidFill>
              </a:rPr>
              <a:t>Decision Evidence Infrastructure for AI Systems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5029200" y="466344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1828800" y="493776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Growth Equity · Hong Kong / US · $30B+ AUM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2" name="Text 10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INVESTOR ALIGNMENT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DST GLOBAL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Why Datacendia Aligns with DST GLOBAL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731520" y="2194560"/>
            <a:ext cx="502920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AI is eating software. dst-global's dedicated AI fund backs infrastructure that becomes the default layer for enterprise AI adoption.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731520" y="365760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1005840" y="384048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Your Thesis → Our Mission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1005840" y="4297680"/>
            <a:ext cx="457200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Datacendia is the missing decision-evidence layer for enterprise AI — the infrastructure that sits between AI deployment and regulatory compliance. As AI adoption accelerates, every enterprise needs cryptographic proof of AI decisions.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400800" y="2194560"/>
            <a:ext cx="5029200" cy="3749040"/>
          </a:xfrm>
          <a:prstGeom prst="roundRect">
            <a:avLst>
              <a:gd name="adj" fmla="val 2439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Portfolio Adjacency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675120" y="283464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Facebook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Airbnb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Spotify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Stripe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✓"/>
            </a:pPr>
            <a:r>
              <a:rPr lang="en-US" sz="1100" dirty="0">
                <a:solidFill>
                  <a:srgbClr val="D4AF37"/>
                </a:solidFill>
              </a:rPr>
              <a:t>Replit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675120" y="438912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dst-global has backed the data stack (Facebook, dbt) and AI infra (Airbnb). Datacendia completes the stack: decision evidence, accountability, and regulatory compliance for every AI decision.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Enterprise AI Has No Decision Evidence Layer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Every enterprise deploying AI will be required to produce decision evidence under regulatory or legal challenge — and no platform exists to generate it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EU AI Act (2025–2026) mandates governance for high-risk AI — penalties up to €35M or 7% revenue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DORA requires AI operational resilience for financial services by Jan 2025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No widely adopted platform provides cryptographically verifiable decision evidence at the decision level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Enterprises face regulatory risk with every AI deployment — and have no solution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7315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7315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€35M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9144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Max EU AI Act penalty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4747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34747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0</a:t>
            </a:r>
            <a:endParaRPr lang="en-US" sz="2400" dirty="0"/>
          </a:p>
        </p:txBody>
      </p:sp>
      <p:sp>
        <p:nvSpPr>
          <p:cNvPr id="11" name="Text 9"/>
          <p:cNvSpPr/>
          <p:nvPr/>
        </p:nvSpPr>
        <p:spPr>
          <a:xfrm>
            <a:off x="36576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Widely adopted decision-evidence platforms</a:t>
            </a:r>
            <a:endParaRPr lang="en-US" sz="900" dirty="0"/>
          </a:p>
        </p:txBody>
      </p:sp>
      <p:sp>
        <p:nvSpPr>
          <p:cNvPr id="12" name="Shape 10"/>
          <p:cNvSpPr/>
          <p:nvPr/>
        </p:nvSpPr>
        <p:spPr>
          <a:xfrm>
            <a:off x="62179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62179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2025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008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EU AI Act high-risk in effect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8961120" y="5029200"/>
            <a:ext cx="2468880" cy="1097280"/>
          </a:xfrm>
          <a:prstGeom prst="roundRect">
            <a:avLst>
              <a:gd name="adj" fmla="val 8333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6" name="Text 14"/>
          <p:cNvSpPr/>
          <p:nvPr/>
        </p:nvSpPr>
        <p:spPr>
          <a:xfrm>
            <a:off x="8961120" y="5120640"/>
            <a:ext cx="2468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400" b="1" dirty="0">
                <a:solidFill>
                  <a:srgbClr val="D4AF37"/>
                </a:solidFill>
              </a:rPr>
              <a:t>85%</a:t>
            </a:r>
            <a:endParaRPr lang="en-US" sz="2400" dirty="0"/>
          </a:p>
        </p:txBody>
      </p:sp>
      <p:sp>
        <p:nvSpPr>
          <p:cNvPr id="17" name="Text 15"/>
          <p:cNvSpPr/>
          <p:nvPr/>
        </p:nvSpPr>
        <p:spPr>
          <a:xfrm>
            <a:off x="9144000" y="5669280"/>
            <a:ext cx="2103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8B8FA3"/>
                </a:solidFill>
              </a:rPr>
              <a:t>Fortune 500 deploying AI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9" name="Text 17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</a:rPr>
              <a:t>Multi-Agent Deliberation with Cryptographic Evidence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Multi-agent deliberation with role-specific AI agents (CFO, CISO, Legal, Strategy, Risk, and more)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Cryptographic decision evidence — Ed25519 signatures, Merkle trees, RFC 3161 timestamps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Sovereign deployment — Cloud, Private Cloud, On-Premises, and Air-Gapped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EU AI Act, DORA, GDPR, HIPAA compliance mapping across 23 jurisdictions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Zero-copy data architecture — data never leaves customer infrastructure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Open-source core (Apache 2.0) with enterprise features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Key Angle for DST GLOBAL</a:t>
            </a:r>
            <a:endParaRPr lang="en-US" sz="13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</a:rPr>
              <a:t>Late-stage global technology platforms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6400800" y="3749040"/>
            <a:ext cx="5029200" cy="731520"/>
          </a:xfrm>
          <a:prstGeom prst="roundRect">
            <a:avLst>
              <a:gd name="adj" fmla="val 125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0" name="Text 8"/>
          <p:cNvSpPr/>
          <p:nvPr/>
        </p:nvSpPr>
        <p:spPr>
          <a:xfrm>
            <a:off x="6675120" y="3749040"/>
            <a:ext cx="45720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Sector: Decision Evidence Infrastructure
Our moat: We define the evidentiary artifact that regulators will eventually expect. First to codify it wins the category.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6400800" y="4663440"/>
            <a:ext cx="502920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6675120" y="484632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Why This Must Exist Now</a:t>
            </a:r>
            <a:endParaRPr lang="en-US" sz="1300" dirty="0"/>
          </a:p>
        </p:txBody>
      </p:sp>
      <p:sp>
        <p:nvSpPr>
          <p:cNvPr id="13" name="Text 11"/>
          <p:cNvSpPr/>
          <p:nvPr/>
        </p:nvSpPr>
        <p:spPr>
          <a:xfrm>
            <a:off x="6675120" y="5212080"/>
            <a:ext cx="438912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000" dirty="0">
                <a:solidFill>
                  <a:srgbClr val="8B8FA3"/>
                </a:solidFill>
              </a:rPr>
              <a:t>EU AI Act (2025–2026) → enforceable auditability requirements. DORA → operational traceability for financial services. Litigation risk → retrospective scrutiny of AI decisions. Enterprise AI adoption → exploding unaudited decision surface. This creates a new infrastructure requirement: decision evidence.</a:t>
            </a:r>
            <a:endParaRPr lang="en-US" sz="1000" dirty="0"/>
          </a:p>
        </p:txBody>
      </p:sp>
      <p:sp>
        <p:nvSpPr>
          <p:cNvPr id="14" name="Text 12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5" name="Text 13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PLATFORM PROOF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This Is Not a Pitch — It’s a Live Platform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73152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205K+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Passing Tests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292608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292608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156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10896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Validated API Endpoints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512064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512064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50+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530352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Agent Presets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731520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23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749808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Jurisdictions Covered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9509760" y="2286000"/>
            <a:ext cx="2011680" cy="1371600"/>
          </a:xfrm>
          <a:prstGeom prst="roundRect">
            <a:avLst>
              <a:gd name="adj" fmla="val 666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9509760" y="2377440"/>
            <a:ext cx="201168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4</a:t>
            </a:r>
            <a:endParaRPr lang="en-US" sz="2800" dirty="0"/>
          </a:p>
        </p:txBody>
      </p:sp>
      <p:sp>
        <p:nvSpPr>
          <p:cNvPr id="19" name="Text 17"/>
          <p:cNvSpPr/>
          <p:nvPr/>
        </p:nvSpPr>
        <p:spPr>
          <a:xfrm>
            <a:off x="9692640" y="3108960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Deployment Modes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73152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1" name="Text 19"/>
          <p:cNvSpPr/>
          <p:nvPr/>
        </p:nvSpPr>
        <p:spPr>
          <a:xfrm>
            <a:off x="100584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Live Demo</a:t>
            </a:r>
            <a:endParaRPr lang="en-US" sz="1300" dirty="0"/>
          </a:p>
        </p:txBody>
      </p:sp>
      <p:sp>
        <p:nvSpPr>
          <p:cNvPr id="22" name="Text 20"/>
          <p:cNvSpPr/>
          <p:nvPr/>
        </p:nvSpPr>
        <p:spPr>
          <a:xfrm>
            <a:off x="100584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Production platform at app.datacendia.com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Multi-agent deliberation, decision audit trails, compliance dashboards, AI governance gateway — all live.</a:t>
            </a:r>
            <a:endParaRPr lang="en-US" sz="1100" dirty="0"/>
          </a:p>
        </p:txBody>
      </p:sp>
      <p:sp>
        <p:nvSpPr>
          <p:cNvPr id="23" name="Shape 21"/>
          <p:cNvSpPr/>
          <p:nvPr/>
        </p:nvSpPr>
        <p:spPr>
          <a:xfrm>
            <a:off x="6400800" y="4114800"/>
            <a:ext cx="5029200" cy="1828800"/>
          </a:xfrm>
          <a:prstGeom prst="roundRect">
            <a:avLst>
              <a:gd name="adj" fmla="val 5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24" name="Text 22"/>
          <p:cNvSpPr/>
          <p:nvPr/>
        </p:nvSpPr>
        <p:spPr>
          <a:xfrm>
            <a:off x="6675120" y="4297680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D4AF37"/>
                </a:solidFill>
              </a:rPr>
              <a:t>NVIDIA Inception Member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6675120" y="4663440"/>
            <a:ext cx="438912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Accepted into NVIDIA’s elite startup program.</a:t>
            </a:r>
            <a:endParaRPr lang="en-US" sz="1100" dirty="0"/>
          </a:p>
          <a:p>
            <a:pPr indent="0" marL="0">
              <a:lnSpc>
                <a:spcPct val="15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DGX Cloud access, technical mentorship, co-marketing, and enterprise customer introductions.</a:t>
            </a:r>
            <a:endParaRPr lang="en-US" sz="1100" dirty="0"/>
          </a:p>
        </p:txBody>
      </p:sp>
      <p:sp>
        <p:nvSpPr>
          <p:cNvPr id="26" name="Text 2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27" name="Text 2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exact data infrastructure that financial institutions need for AI governance — at one of the world's largest asset managers.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 at app.datacendia.com.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Active enterprise design-partner conversations (financial institution, Big 4 channel). NVIDIA Inception member. 3 LOI-stage discussions.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First 3 design partners signed, SOC 2 Type II certification, regulatory validation (EU AI Act compliance audit).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Prepared for DST GLOBAL — Late-stage global technology platforms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 | app.datacendia.com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2024–2026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for Andreessen Horowitz (a16z)</dc:title>
  <dc:subject>PptxGenJS Presentation</dc:subject>
  <dc:creator>Datacendia</dc:creator>
  <cp:lastModifiedBy>Datacendia</cp:lastModifiedBy>
  <cp:revision>1</cp:revision>
  <dcterms:created xsi:type="dcterms:W3CDTF">2026-03-17T15:48:25Z</dcterms:created>
  <dcterms:modified xsi:type="dcterms:W3CDTF">2026-03-17T15:48:25Z</dcterms:modified>
</cp:coreProperties>
</file>