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2188952" cy="6858000"/>
  <p:notesSz cx="6858000" cy="12188952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6400800" y="27432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PREPARED FOR TLCOM CAPITAL</a:t>
            </a:r>
            <a:endParaRPr lang="en-US" sz="800" dirty="0"/>
          </a:p>
        </p:txBody>
      </p:sp>
      <p:sp>
        <p:nvSpPr>
          <p:cNvPr id="4" name="Shape 2"/>
          <p:cNvSpPr/>
          <p:nvPr/>
        </p:nvSpPr>
        <p:spPr>
          <a:xfrm>
            <a:off x="4114800" y="1645920"/>
            <a:ext cx="3931920" cy="411480"/>
          </a:xfrm>
          <a:prstGeom prst="roundRect">
            <a:avLst>
              <a:gd name="adj" fmla="val 8889"/>
            </a:avLst>
          </a:prstGeom>
          <a:solidFill>
            <a:srgbClr val="D4AF37"/>
          </a:solidFill>
          <a:ln/>
        </p:spPr>
        <p:txBody>
          <a:bodyPr/>
          <a:p/>
        </p:txBody>
      </p:sp>
      <p:sp>
        <p:nvSpPr>
          <p:cNvPr id="5" name="Text 3"/>
          <p:cNvSpPr/>
          <p:nvPr/>
        </p:nvSpPr>
        <p:spPr>
          <a:xfrm>
            <a:off x="4114800" y="1645920"/>
            <a:ext cx="39319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A0E1A"/>
                </a:solidFill>
              </a:rPr>
              <a:t>PREPARED FOR TLCOM CAPITAL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457200" y="228600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DATACENDIA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457200" y="2743200"/>
            <a:ext cx="109728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FFFFFF"/>
                </a:solidFill>
              </a:rPr>
              <a:t>Datacendia for TLCOM CAPITAL</a:t>
            </a:r>
            <a:endParaRPr lang="en-US" sz="3400" dirty="0"/>
          </a:p>
        </p:txBody>
      </p:sp>
      <p:sp>
        <p:nvSpPr>
          <p:cNvPr id="8" name="Text 6"/>
          <p:cNvSpPr/>
          <p:nvPr/>
        </p:nvSpPr>
        <p:spPr>
          <a:xfrm>
            <a:off x="1371600" y="4023360"/>
            <a:ext cx="9144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8B8FA3"/>
                </a:solidFill>
              </a:rPr>
              <a:t>Decision Crisis Immunization Infrastructure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5029200" y="4663440"/>
            <a:ext cx="2103120" cy="0"/>
          </a:xfrm>
          <a:prstGeom prst="line">
            <a:avLst/>
          </a:prstGeom>
          <a:noFill/>
          <a:ln w="25400">
            <a:solidFill>
              <a:srgbClr val="D4AF37"/>
            </a:solidFill>
            <a:prstDash val="solid"/>
          </a:ln>
        </p:spPr>
        <p:txBody>
          <a:bodyPr/>
          <a:p/>
        </p:txBody>
      </p:sp>
      <p:sp>
        <p:nvSpPr>
          <p:cNvPr id="10" name="Text 8"/>
          <p:cNvSpPr/>
          <p:nvPr/>
        </p:nvSpPr>
        <p:spPr>
          <a:xfrm>
            <a:off x="1828800" y="493776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Venture Capital · London / Lagos / Nairobi · $300M+ AUM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INVESTOR ALIGNMENT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91440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WHY TLCOM CAPITAL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Why Datacendia Aligns with TLCOM CAPITAL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731520" y="2194560"/>
            <a:ext cx="5029200" cy="1280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200" dirty="0">
                <a:solidFill>
                  <a:srgbClr val="8B8FA3"/>
                </a:solidFill>
              </a:rPr>
              <a:t>AI is eating software. tlcom's dedicated AI fund backs infrastructure that becomes the default layer for enterprise AI adoption.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731520" y="3657600"/>
            <a:ext cx="5029200" cy="2286000"/>
          </a:xfrm>
          <a:prstGeom prst="roundRect">
            <a:avLst>
              <a:gd name="adj" fmla="val 4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8" name="Text 6"/>
          <p:cNvSpPr/>
          <p:nvPr/>
        </p:nvSpPr>
        <p:spPr>
          <a:xfrm>
            <a:off x="1005840" y="384048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Your Thesis → Our Mission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1005840" y="4297680"/>
            <a:ext cx="4572000" cy="1463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Datacendia is the missing governance layer for enterprise AI — the infrastructure that sits between AI deployment and regulatory compliance. As AI adoption accelerates, every enterprise needs cryptographic proof of AI decisions.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6400800" y="2194560"/>
            <a:ext cx="5029200" cy="3749040"/>
          </a:xfrm>
          <a:prstGeom prst="roundRect">
            <a:avLst>
              <a:gd name="adj" fmla="val 2439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1" name="Text 9"/>
          <p:cNvSpPr/>
          <p:nvPr/>
        </p:nvSpPr>
        <p:spPr>
          <a:xfrm>
            <a:off x="6675120" y="23774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Portfolio Adjacency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6675120" y="2834640"/>
            <a:ext cx="438912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40000"/>
              </a:lnSpc>
              <a:buSzPct val="100000"/>
              <a:buChar char="✓"/>
            </a:pPr>
            <a:r>
              <a:rPr lang="en-US" sz="1100" dirty="0">
                <a:solidFill>
                  <a:srgbClr val="D4AF37"/>
                </a:solidFill>
              </a:rPr>
              <a:t>African enterprise tech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✓"/>
            </a:pPr>
            <a:r>
              <a:rPr lang="en-US" sz="1100" dirty="0">
                <a:solidFill>
                  <a:srgbClr val="D4AF37"/>
                </a:solidFill>
              </a:rPr>
              <a:t>Anyscale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✓"/>
            </a:pPr>
            <a:r>
              <a:rPr lang="en-US" sz="1100" dirty="0">
                <a:solidFill>
                  <a:srgbClr val="D4AF37"/>
                </a:solidFill>
              </a:rPr>
              <a:t>Hex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✓"/>
            </a:pPr>
            <a:r>
              <a:rPr lang="en-US" sz="1100" dirty="0">
                <a:solidFill>
                  <a:srgbClr val="D4AF37"/>
                </a:solidFill>
              </a:rPr>
              <a:t>dbt Labs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✓"/>
            </a:pPr>
            <a:r>
              <a:rPr lang="en-US" sz="1100" dirty="0">
                <a:solidFill>
                  <a:srgbClr val="D4AF37"/>
                </a:solidFill>
              </a:rPr>
              <a:t>Replit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6675120" y="4389120"/>
            <a:ext cx="438912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tlcom has backed the data stack (African enterprise tech, dbt) and AI infra (Anyscale). Datacendia completes the stack: governance, accountability, and regulatory compliance for every AI decision.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5" name="Text 13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THE PROBLEM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Enterprise AI Has No Accountability Layer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1005840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AI systems make high-stakes decisions with no audit trail, no evidence, and no dissent tracking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EU AI Act (2025–2026) mandates governance for high-risk AI — penalties up to €35M or 7% revenue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DORA requires AI operational resilience for financial services by Jan 2025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No existing platform provides cryptographic proof of AI-assisted decisions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Enterprises face regulatory risk with every AI deployment — and have no solution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731520" y="5029200"/>
            <a:ext cx="2468880" cy="1097280"/>
          </a:xfrm>
          <a:prstGeom prst="roundRect">
            <a:avLst>
              <a:gd name="adj" fmla="val 8333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731520" y="5120640"/>
            <a:ext cx="2468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D4AF37"/>
                </a:solidFill>
              </a:rPr>
              <a:t>€35M</a:t>
            </a:r>
            <a:endParaRPr lang="en-US" sz="2400" dirty="0"/>
          </a:p>
        </p:txBody>
      </p:sp>
      <p:sp>
        <p:nvSpPr>
          <p:cNvPr id="8" name="Text 6"/>
          <p:cNvSpPr/>
          <p:nvPr/>
        </p:nvSpPr>
        <p:spPr>
          <a:xfrm>
            <a:off x="914400" y="5669280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B8FA3"/>
                </a:solidFill>
              </a:rPr>
              <a:t>Max EU AI Act penalty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3474720" y="5029200"/>
            <a:ext cx="2468880" cy="1097280"/>
          </a:xfrm>
          <a:prstGeom prst="roundRect">
            <a:avLst>
              <a:gd name="adj" fmla="val 8333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0" name="Text 8"/>
          <p:cNvSpPr/>
          <p:nvPr/>
        </p:nvSpPr>
        <p:spPr>
          <a:xfrm>
            <a:off x="3474720" y="5120640"/>
            <a:ext cx="2468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D4AF37"/>
                </a:solidFill>
              </a:rPr>
              <a:t>0</a:t>
            </a:r>
            <a:endParaRPr lang="en-US" sz="2400" dirty="0"/>
          </a:p>
        </p:txBody>
      </p:sp>
      <p:sp>
        <p:nvSpPr>
          <p:cNvPr id="11" name="Text 9"/>
          <p:cNvSpPr/>
          <p:nvPr/>
        </p:nvSpPr>
        <p:spPr>
          <a:xfrm>
            <a:off x="3657600" y="5669280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B8FA3"/>
                </a:solidFill>
              </a:rPr>
              <a:t>Platforms w/ crypto AI evidence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6217920" y="5029200"/>
            <a:ext cx="2468880" cy="1097280"/>
          </a:xfrm>
          <a:prstGeom prst="roundRect">
            <a:avLst>
              <a:gd name="adj" fmla="val 8333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3" name="Text 11"/>
          <p:cNvSpPr/>
          <p:nvPr/>
        </p:nvSpPr>
        <p:spPr>
          <a:xfrm>
            <a:off x="6217920" y="5120640"/>
            <a:ext cx="2468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D4AF37"/>
                </a:solidFill>
              </a:rPr>
              <a:t>2025</a:t>
            </a:r>
            <a:endParaRPr lang="en-US" sz="2400" dirty="0"/>
          </a:p>
        </p:txBody>
      </p:sp>
      <p:sp>
        <p:nvSpPr>
          <p:cNvPr id="14" name="Text 12"/>
          <p:cNvSpPr/>
          <p:nvPr/>
        </p:nvSpPr>
        <p:spPr>
          <a:xfrm>
            <a:off x="6400800" y="5669280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B8FA3"/>
                </a:solidFill>
              </a:rPr>
              <a:t>EU AI Act high-risk in effect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8961120" y="5029200"/>
            <a:ext cx="2468880" cy="1097280"/>
          </a:xfrm>
          <a:prstGeom prst="roundRect">
            <a:avLst>
              <a:gd name="adj" fmla="val 8333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6" name="Text 14"/>
          <p:cNvSpPr/>
          <p:nvPr/>
        </p:nvSpPr>
        <p:spPr>
          <a:xfrm>
            <a:off x="8961120" y="5120640"/>
            <a:ext cx="2468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D4AF37"/>
                </a:solidFill>
              </a:rPr>
              <a:t>85%</a:t>
            </a:r>
            <a:endParaRPr lang="en-US" sz="2400" dirty="0"/>
          </a:p>
        </p:txBody>
      </p:sp>
      <p:sp>
        <p:nvSpPr>
          <p:cNvPr id="17" name="Text 15"/>
          <p:cNvSpPr/>
          <p:nvPr/>
        </p:nvSpPr>
        <p:spPr>
          <a:xfrm>
            <a:off x="9144000" y="5669280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B8FA3"/>
                </a:solidFill>
              </a:rPr>
              <a:t>Fortune 500 deploying AI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9" name="Text 17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THE SOLUTION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Multi-Agent Deliberation with Cryptographic Evidence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50292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Multi-agent deliberation with role-specific AI agents (CFO, CISO, Legal, Strategy, Risk, and more)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Cryptographic decision evidence — Ed25519 signatures, Merkle trees, RFC 3161 timestamps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Sovereign deployment — Cloud, Private Cloud, On-Premises, and Air-Gapped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EU AI Act, DORA, GDPR, HIPAA compliance mapping across 23 jurisdictions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Zero-copy data architecture — data never leaves customer infrastructure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Open-source core (Apache 2.0) with enterprise features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6400800" y="2194560"/>
            <a:ext cx="502920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6675120" y="23774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Key Angle for TLCOM CAPITAL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6675120" y="2834640"/>
            <a:ext cx="438912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Africa enterprise technology leader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6400800" y="3749040"/>
            <a:ext cx="5029200" cy="731520"/>
          </a:xfrm>
          <a:prstGeom prst="roundRect">
            <a:avLst>
              <a:gd name="adj" fmla="val 125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0" name="Text 8"/>
          <p:cNvSpPr/>
          <p:nvPr/>
        </p:nvSpPr>
        <p:spPr>
          <a:xfrm>
            <a:off x="6675120" y="3749040"/>
            <a:ext cx="45720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Sector: AI Infrastructure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6400800" y="4663440"/>
            <a:ext cx="502920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2" name="Text 10"/>
          <p:cNvSpPr/>
          <p:nvPr/>
        </p:nvSpPr>
        <p:spPr>
          <a:xfrm>
            <a:off x="6675120" y="484632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90-Day Guarantee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6675120" y="5212080"/>
            <a:ext cx="438912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000" dirty="0">
                <a:solidFill>
                  <a:srgbClr val="8B8FA3"/>
                </a:solidFill>
              </a:rPr>
              <a:t>Deploy Datacendia for 90 days on a single strategic problem. If the Council doesn't identify at least 3 critical risks you missed, we refund the pilot fee.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5" name="Text 13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PLATFORM PROOF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This Is Not a Pitch — It’s a Live Platform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731520" y="2286000"/>
            <a:ext cx="201168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6" name="Text 4"/>
          <p:cNvSpPr/>
          <p:nvPr/>
        </p:nvSpPr>
        <p:spPr>
          <a:xfrm>
            <a:off x="731520" y="2377440"/>
            <a:ext cx="2011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205K+</a:t>
            </a:r>
            <a:endParaRPr lang="en-US" sz="2800" dirty="0"/>
          </a:p>
        </p:txBody>
      </p:sp>
      <p:sp>
        <p:nvSpPr>
          <p:cNvPr id="7" name="Text 5"/>
          <p:cNvSpPr/>
          <p:nvPr/>
        </p:nvSpPr>
        <p:spPr>
          <a:xfrm>
            <a:off x="914400" y="310896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Passing Tests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2926080" y="2286000"/>
            <a:ext cx="201168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2926080" y="2377440"/>
            <a:ext cx="2011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156</a:t>
            </a:r>
            <a:endParaRPr lang="en-US" sz="2800" dirty="0"/>
          </a:p>
        </p:txBody>
      </p:sp>
      <p:sp>
        <p:nvSpPr>
          <p:cNvPr id="10" name="Text 8"/>
          <p:cNvSpPr/>
          <p:nvPr/>
        </p:nvSpPr>
        <p:spPr>
          <a:xfrm>
            <a:off x="3108960" y="310896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Validated API Endpoints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5120640" y="2286000"/>
            <a:ext cx="201168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2" name="Text 10"/>
          <p:cNvSpPr/>
          <p:nvPr/>
        </p:nvSpPr>
        <p:spPr>
          <a:xfrm>
            <a:off x="5120640" y="2377440"/>
            <a:ext cx="2011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50+</a:t>
            </a:r>
            <a:endParaRPr lang="en-US" sz="2800" dirty="0"/>
          </a:p>
        </p:txBody>
      </p:sp>
      <p:sp>
        <p:nvSpPr>
          <p:cNvPr id="13" name="Text 11"/>
          <p:cNvSpPr/>
          <p:nvPr/>
        </p:nvSpPr>
        <p:spPr>
          <a:xfrm>
            <a:off x="5303520" y="310896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Agent Presets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7315200" y="2286000"/>
            <a:ext cx="201168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5" name="Text 13"/>
          <p:cNvSpPr/>
          <p:nvPr/>
        </p:nvSpPr>
        <p:spPr>
          <a:xfrm>
            <a:off x="7315200" y="2377440"/>
            <a:ext cx="2011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23</a:t>
            </a:r>
            <a:endParaRPr lang="en-US" sz="2800" dirty="0"/>
          </a:p>
        </p:txBody>
      </p:sp>
      <p:sp>
        <p:nvSpPr>
          <p:cNvPr id="16" name="Text 14"/>
          <p:cNvSpPr/>
          <p:nvPr/>
        </p:nvSpPr>
        <p:spPr>
          <a:xfrm>
            <a:off x="7498080" y="310896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Jurisdictions Covered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9509760" y="2286000"/>
            <a:ext cx="201168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8" name="Text 16"/>
          <p:cNvSpPr/>
          <p:nvPr/>
        </p:nvSpPr>
        <p:spPr>
          <a:xfrm>
            <a:off x="9509760" y="2377440"/>
            <a:ext cx="2011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4</a:t>
            </a:r>
            <a:endParaRPr lang="en-US" sz="2800" dirty="0"/>
          </a:p>
        </p:txBody>
      </p:sp>
      <p:sp>
        <p:nvSpPr>
          <p:cNvPr id="19" name="Text 17"/>
          <p:cNvSpPr/>
          <p:nvPr/>
        </p:nvSpPr>
        <p:spPr>
          <a:xfrm>
            <a:off x="9692640" y="310896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Deployment Modes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731520" y="4114800"/>
            <a:ext cx="5029200" cy="1828800"/>
          </a:xfrm>
          <a:prstGeom prst="roundRect">
            <a:avLst>
              <a:gd name="adj" fmla="val 5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21" name="Text 19"/>
          <p:cNvSpPr/>
          <p:nvPr/>
        </p:nvSpPr>
        <p:spPr>
          <a:xfrm>
            <a:off x="1005840" y="429768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Live Demo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1005840" y="4663440"/>
            <a:ext cx="438912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Production platform at app.datacendia.com</a:t>
            </a:r>
            <a:endParaRPr lang="en-US" sz="11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Multi-agent deliberation, decision audit trails, compliance dashboards, AI governance gateway — all live.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6400800" y="4114800"/>
            <a:ext cx="5029200" cy="1828800"/>
          </a:xfrm>
          <a:prstGeom prst="roundRect">
            <a:avLst>
              <a:gd name="adj" fmla="val 5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24" name="Text 22"/>
          <p:cNvSpPr/>
          <p:nvPr/>
        </p:nvSpPr>
        <p:spPr>
          <a:xfrm>
            <a:off x="6675120" y="429768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NVIDIA Inception Member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6675120" y="4663440"/>
            <a:ext cx="438912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Accepted into NVIDIA’s elite startup program.</a:t>
            </a:r>
            <a:endParaRPr lang="en-US" sz="11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DGX Cloud access, technical mentorship, co-marketing, and enterprise customer introductions.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27" name="Text 25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PLATFORM PROOF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1097280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MULTI-AGENT DECISION ENGINE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554480"/>
            <a:ext cx="4114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Decisions Made by Specialized AI Agents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731520" y="2743200"/>
            <a:ext cx="41148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Role-specific agents: CFO, CISO, Legal, Strategy, Risk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Confidence scores and reasoning — dissent preserved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War Room, Governed, and Quick Brief modes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9" name="Text 6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03520" y="1097280"/>
            <a:ext cx="6400800" cy="484632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PLATFORM PROOF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1097280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DECISION AUDIT TRAIL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554480"/>
            <a:ext cx="4114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Every Decision Tracked with Full Evidence Chain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731520" y="2743200"/>
            <a:ext cx="41148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Complete searchable decision history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Full deliberation records linked to each decision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Trace any decision back to evidence in seconds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9" name="Text 6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03520" y="1097280"/>
            <a:ext cx="6400800" cy="484632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FOUNDER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Stuart Rainey — Founder &amp; CEO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502920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7 years as Senior Data Analyst at TCS, embedded with PGIM Fixed Income ($800B+ AUM)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Built data infrastructure for regulated investment decisions at institutional scale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M.S. in Big Data Analytics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Author of the DDGI framework — ISO/IEC JTC 1/SC 42 standards track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NVIDIA Inception member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6400800" y="2194560"/>
            <a:ext cx="5029200" cy="2286000"/>
          </a:xfrm>
          <a:prstGeom prst="roundRect">
            <a:avLst>
              <a:gd name="adj" fmla="val 4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6675120" y="23774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Why This Founder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6675120" y="2926080"/>
            <a:ext cx="438912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200" dirty="0">
                <a:solidFill>
                  <a:srgbClr val="8B8FA3"/>
                </a:solidFill>
              </a:rPr>
              <a:t>Built the exact data infrastructure that financial institutions need for AI governance — at one of the world's largest asset managers.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THE ASK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$1.5M Pre-Seed — $7M Pre-Money Valuation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731520" y="2286000"/>
            <a:ext cx="3291840" cy="2011680"/>
          </a:xfrm>
          <a:prstGeom prst="roundRect">
            <a:avLst>
              <a:gd name="adj" fmla="val 4545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6" name="Text 4"/>
          <p:cNvSpPr/>
          <p:nvPr/>
        </p:nvSpPr>
        <p:spPr>
          <a:xfrm>
            <a:off x="1005840" y="24688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What's Built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1005840" y="2926080"/>
            <a:ext cx="274320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205K+ passing tests. 156 validated API endpoints. Live production platform at app.datacendia.com.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389120" y="2286000"/>
            <a:ext cx="3291840" cy="2011680"/>
          </a:xfrm>
          <a:prstGeom prst="roundRect">
            <a:avLst>
              <a:gd name="adj" fmla="val 4545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4663440" y="24688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Traction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4663440" y="2926080"/>
            <a:ext cx="274320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2 warm enterprise intros (financial institution, Big 4 channel). NVIDIA Inception member.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8046720" y="2286000"/>
            <a:ext cx="3291840" cy="2011680"/>
          </a:xfrm>
          <a:prstGeom prst="roundRect">
            <a:avLst>
              <a:gd name="adj" fmla="val 4545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2" name="Text 10"/>
          <p:cNvSpPr/>
          <p:nvPr/>
        </p:nvSpPr>
        <p:spPr>
          <a:xfrm>
            <a:off x="8321040" y="24688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Use of Funds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8321040" y="2926080"/>
            <a:ext cx="274320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GTM hiring, SOC 2 Type II certification, first enterprise pilots.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914400" y="4754880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$8.5M post-money · 21.5% dilution · Engineering risk resolved — GTM-stage investment.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457200" y="1828800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NEXT STEPS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57200" y="2286000"/>
            <a:ext cx="10972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FFFFF"/>
                </a:solidFill>
              </a:rPr>
              <a:t>Let’s Talk</a:t>
            </a:r>
            <a:endParaRPr lang="en-US" sz="3600" dirty="0"/>
          </a:p>
        </p:txBody>
      </p:sp>
      <p:sp>
        <p:nvSpPr>
          <p:cNvPr id="5" name="Text 3"/>
          <p:cNvSpPr/>
          <p:nvPr/>
        </p:nvSpPr>
        <p:spPr>
          <a:xfrm>
            <a:off x="1371600" y="3200400"/>
            <a:ext cx="9144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8B8FA3"/>
                </a:solidFill>
              </a:rPr>
              <a:t>Personalized for TLCOM CAPITAL — Africa enterprise technology leader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228600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228600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F37"/>
                </a:solidFill>
              </a:rPr>
              <a:t>Schedule Deep Dive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29768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429768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F37"/>
                </a:solidFill>
              </a:rPr>
              <a:t>Technical Demo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630936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1" name="Text 9"/>
          <p:cNvSpPr/>
          <p:nvPr/>
        </p:nvSpPr>
        <p:spPr>
          <a:xfrm>
            <a:off x="630936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F37"/>
                </a:solidFill>
              </a:rPr>
              <a:t>Data Room Access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832104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D4AF37"/>
          </a:solidFill>
          <a:ln/>
        </p:spPr>
        <p:txBody>
          <a:bodyPr/>
          <a:p/>
        </p:txBody>
      </p:sp>
      <p:sp>
        <p:nvSpPr>
          <p:cNvPr id="13" name="Text 11"/>
          <p:cNvSpPr/>
          <p:nvPr/>
        </p:nvSpPr>
        <p:spPr>
          <a:xfrm>
            <a:off x="832104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A0E1A"/>
                </a:solidFill>
              </a:rPr>
              <a:t>Try Live Demo →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1828800" y="502920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contact@datacendia.com | datacendia.com | app.datacendia.com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Datacendia, LLC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Datacendia for Andreessen Horowitz (a16z)</dc:title>
  <dc:subject>PptxGenJS Presentation</dc:subject>
  <dc:creator>Datacendia</dc:creator>
  <cp:lastModifiedBy>Datacendia</cp:lastModifiedBy>
  <cp:revision>1</cp:revision>
  <dcterms:created xsi:type="dcterms:W3CDTF">2026-03-17T15:48:25Z</dcterms:created>
  <dcterms:modified xsi:type="dcterms:W3CDTF">2026-03-17T15:48:25Z</dcterms:modified>
</cp:coreProperties>
</file>