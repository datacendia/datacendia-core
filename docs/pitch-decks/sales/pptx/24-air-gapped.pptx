
<file path=[Content_Types].xml><?xml version="1.0" encoding="utf-8"?>
<Types xmlns="http://schemas.openxmlformats.org/package/2006/content-types"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notesMasters/notesMaster1.xml" ContentType="application/vnd.openxmlformats-officedocument.presentationml.notesMaster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3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</p:sldIdLst>
  <p:notesMasterIdLst>
    <p:notesMasterId r:id="rId10"/>
  </p:notesMasterIdLst>
  <p:sldSz cx="12188952" cy="6858000"/>
  <p:notesSz cx="6858000" cy="12188952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notesMaster" Target="notesMasters/notesMaster1.xml"/><Relationship Id="rId11" Type="http://schemas.openxmlformats.org/officeDocument/2006/relationships/presProps" Target="presProps.xml"/><Relationship Id="rId12" Type="http://schemas.openxmlformats.org/officeDocument/2006/relationships/viewProps" Target="viewProps.xml"/><Relationship Id="rId13" Type="http://schemas.openxmlformats.org/officeDocument/2006/relationships/theme" Target="theme/theme1.xml"/><Relationship Id="rId14" Type="http://schemas.openxmlformats.org/officeDocument/2006/relationships/tableStyles" Target="tableStyles.xml"/></Relationships>
</file>

<file path=ppt/notesMasters/_rels/notesMaster1.xml.rels><?xml version='1.0' encoding='UTF-8' standalone='yes'?>
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1.xml"/></Relationships>
</file>

<file path=ppt/notesSlides/_rels/notesSlide2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2.xml"/></Relationships>
</file>

<file path=ppt/notesSlides/_rels/notesSlide3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3.xml"/></Relationships>
</file>

<file path=ppt/notesSlides/_rels/notesSlide4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4.xml"/></Relationships>
</file>

<file path=ppt/notesSlides/_rels/notesSlide5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5.xml"/></Relationships>
</file>

<file path=ppt/notesSlides/_rels/notesSlide6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6.xml"/></Relationships>
</file>

<file path=ppt/notesSlides/_rels/notesSlide7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7.xml"/></Relationships>
</file>

<file path=ppt/notesSlides/_rels/notesSlide8.xml.rels><?xml version='1.0' encoding='UTF-8' standalone='yes'?>
<Relationships xmlns="http://schemas.openxmlformats.org/package/2006/relationships"><Relationship Id="rId1" Type="http://schemas.openxmlformats.org/officeDocument/2006/relationships/notesMaster" Target="../notesMasters/notesMaster1.xml"/><Relationship Id="rId2" Type="http://schemas.openxmlformats.org/officeDocument/2006/relationships/slide" Target="../slides/slide8.xml"/>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Relationship Id="rId3" Type="http://schemas.openxmlformats.org/officeDocument/2006/relationships/image" Target="../media/image1.png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Relationship Id="rId3" Type="http://schemas.openxmlformats.org/officeDocument/2006/relationships/image" Target="../media/image2.png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Relationship Id="rId3" Type="http://schemas.openxmlformats.org/officeDocument/2006/relationships/image" Target="../media/image2.png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Relationship Id="rId3" Type="http://schemas.openxmlformats.org/officeDocument/2006/relationships/image" Target="../media/image-7-1.png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2.png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1.xml"/><Relationship Id="rId3" Type="http://schemas.openxmlformats.org/officeDocument/2006/relationships/notesSlide" Target="../notesSlides/notesSlide8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DATACENDIA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Datacendia Air-Gapped Deployment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Physically isolated — zero connectivity, hardware-rooted trust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Decision Crisis Immunization Infrastructure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04-dcii-dashboard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AIR-GAPPED DEPLOYMENT</a:t>
            </a:r>
            <a:endParaRPr lang="en-US" sz="1100" dirty="0"/>
          </a:p>
        </p:txBody>
      </p:sp>
      <p:sp>
        <p:nvSpPr>
          <p:cNvPr id="5" name="Shape 3"/>
          <p:cNvSpPr/>
          <p:nvPr/>
        </p:nvSpPr>
        <p:spPr>
          <a:xfrm>
            <a:off x="73152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6" name="Text 4"/>
          <p:cNvSpPr/>
          <p:nvPr/>
        </p:nvSpPr>
        <p:spPr>
          <a:xfrm>
            <a:off x="73152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0</a:t>
            </a:r>
            <a:endParaRPr lang="en-US" sz="2800" dirty="0"/>
          </a:p>
        </p:txBody>
      </p:sp>
      <p:sp>
        <p:nvSpPr>
          <p:cNvPr id="7" name="Text 5"/>
          <p:cNvSpPr/>
          <p:nvPr/>
        </p:nvSpPr>
        <p:spPr>
          <a:xfrm>
            <a:off x="91440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External Connectivity</a:t>
            </a:r>
            <a:endParaRPr lang="en-US" sz="1000" dirty="0"/>
          </a:p>
        </p:txBody>
      </p:sp>
      <p:sp>
        <p:nvSpPr>
          <p:cNvPr id="8" name="Shape 6"/>
          <p:cNvSpPr/>
          <p:nvPr/>
        </p:nvSpPr>
        <p:spPr>
          <a:xfrm>
            <a:off x="352044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9" name="Text 7"/>
          <p:cNvSpPr/>
          <p:nvPr/>
        </p:nvSpPr>
        <p:spPr>
          <a:xfrm>
            <a:off x="352044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TPM 2.0</a:t>
            </a:r>
            <a:endParaRPr lang="en-US" sz="2800" dirty="0"/>
          </a:p>
        </p:txBody>
      </p:sp>
      <p:sp>
        <p:nvSpPr>
          <p:cNvPr id="10" name="Text 8"/>
          <p:cNvSpPr/>
          <p:nvPr/>
        </p:nvSpPr>
        <p:spPr>
          <a:xfrm>
            <a:off x="370332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Hardware-Rooted Trust</a:t>
            </a:r>
            <a:endParaRPr lang="en-US" sz="1000" dirty="0"/>
          </a:p>
        </p:txBody>
      </p:sp>
      <p:sp>
        <p:nvSpPr>
          <p:cNvPr id="11" name="Shape 9"/>
          <p:cNvSpPr/>
          <p:nvPr/>
        </p:nvSpPr>
        <p:spPr>
          <a:xfrm>
            <a:off x="630936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2" name="Text 10"/>
          <p:cNvSpPr/>
          <p:nvPr/>
        </p:nvSpPr>
        <p:spPr>
          <a:xfrm>
            <a:off x="630936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11</a:t>
            </a:r>
            <a:endParaRPr lang="en-US" sz="2800" dirty="0"/>
          </a:p>
        </p:txBody>
      </p:sp>
      <p:sp>
        <p:nvSpPr>
          <p:cNvPr id="13" name="Text 11"/>
          <p:cNvSpPr/>
          <p:nvPr/>
        </p:nvSpPr>
        <p:spPr>
          <a:xfrm>
            <a:off x="649224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Sovereign Patterns</a:t>
            </a:r>
            <a:endParaRPr lang="en-US" sz="1000" dirty="0"/>
          </a:p>
        </p:txBody>
      </p:sp>
      <p:sp>
        <p:nvSpPr>
          <p:cNvPr id="14" name="Shape 12"/>
          <p:cNvSpPr/>
          <p:nvPr/>
        </p:nvSpPr>
        <p:spPr>
          <a:xfrm>
            <a:off x="9098280" y="2560320"/>
            <a:ext cx="2514600" cy="1645920"/>
          </a:xfrm>
          <a:prstGeom prst="roundRect">
            <a:avLst>
              <a:gd name="adj" fmla="val 5556"/>
            </a:avLst>
          </a:prstGeom>
          <a:solidFill>
            <a:srgbClr val="141825"/>
          </a:solidFill>
          <a:ln/>
        </p:spPr>
        <p:txBody>
          <a:bodyPr/>
          <a:p/>
        </p:txBody>
      </p:sp>
      <p:sp>
        <p:nvSpPr>
          <p:cNvPr id="15" name="Text 13"/>
          <p:cNvSpPr/>
          <p:nvPr/>
        </p:nvSpPr>
        <p:spPr>
          <a:xfrm>
            <a:off x="9098280" y="2743200"/>
            <a:ext cx="25146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2800" b="1" dirty="0">
                <a:solidFill>
                  <a:srgbClr val="D4AF37"/>
                </a:solidFill>
              </a:rPr>
              <a:t>USB</a:t>
            </a:r>
            <a:endParaRPr lang="en-US" sz="2800" dirty="0"/>
          </a:p>
        </p:txBody>
      </p:sp>
      <p:sp>
        <p:nvSpPr>
          <p:cNvPr id="16" name="Text 14"/>
          <p:cNvSpPr/>
          <p:nvPr/>
        </p:nvSpPr>
        <p:spPr>
          <a:xfrm>
            <a:off x="9281160" y="3474720"/>
            <a:ext cx="214884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1000" dirty="0">
                <a:solidFill>
                  <a:srgbClr val="8B8FA3"/>
                </a:solidFill>
              </a:rPr>
              <a:t>Portable Deployment Option</a:t>
            </a:r>
            <a:endParaRPr lang="en-US" sz="1000" dirty="0"/>
          </a:p>
        </p:txBody>
      </p:sp>
      <p:sp>
        <p:nvSpPr>
          <p:cNvPr id="17" name="Text 1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18" name="Text 1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9" name="Picture 1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THE PROBLEM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What You're Facing Today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Classified data cannot be exposed to any external system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ITAR/export control prohibits foreign access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Critical infrastructure must operate in isolation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Intelligence operations require zero external dependency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Regulatory environment mandates physical isolation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 existing AI platform supports true air-gap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WHAT WE BUILD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Decision Crisis Immunization Infrastructure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Multi-agent deliberation — 50+ specialized agent presets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Cryptographic audit trail — immutable evidence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Zero-copy architecture — data never leaves your DB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Sovereign deployment — air-gapped to cloud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Not a chatbot. A system of specialized intelligences that debate, dissent, and decide — with cryptographic proof of every step.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50+ agent presets (CFO, CISO, Risk, Strategy, Legal) deliberate on your data. You get a boardroom debate, not a chatbot answer.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Every decision, vote, dissent — hashed, timestamped, exportable. When the auditor says "prove it," hand them this.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image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YOUR SOLUTION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How Datacendia Solves This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731520" y="2377440"/>
            <a:ext cx="10058400" cy="36576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Zero connectivity — Physically isolated, no external network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TPM attestation — Hardware-rooted trust, not software-only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Portable USB instance — Deploy from secure media in field conditions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QR Air-Gap Bridge — Optical data transfer across classification boundaries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Data Diode — One-way data flow enforcement</a:t>
            </a:r>
            <a:endParaRPr lang="en-US" sz="12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200" dirty="0">
                <a:solidFill>
                  <a:srgbClr val="8B8FA3"/>
                </a:solidFill>
              </a:rPr>
              <a:t>Deterministic Replay — Reproduce decisions without connectivity</a:t>
            </a:r>
            <a:endParaRPr lang="en-US" sz="1200" dirty="0"/>
          </a:p>
        </p:txBody>
      </p:sp>
      <p:sp>
        <p:nvSpPr>
          <p:cNvPr id="7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8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9" name="Picture 8" descr="31-sovereign.png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914400"/>
            <a:ext cx="54864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PRICING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371600"/>
            <a:ext cx="1005840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b="1" dirty="0">
                <a:solidFill>
                  <a:srgbClr val="FFFFFF"/>
                </a:solidFill>
              </a:rPr>
              <a:t>Transparent, Procurement-Ready Pricing</a:t>
            </a:r>
            <a:endParaRPr lang="en-US" sz="2400" dirty="0"/>
          </a:p>
        </p:txBody>
      </p:sp>
      <p:sp>
        <p:nvSpPr>
          <p:cNvPr id="6" name="Text 4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7" name="Text 5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MULTI-AGENT DECISION ENGINE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Decisions Made by Specialized AI Agents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Role-specific agents: CFO, CISO, Legal, Strategy, Risk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Confidence scores and reasoning — dissent preserved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War Room, Governed, and Quick Brief modes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0A0E1A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457200" y="274320"/>
            <a:ext cx="27432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000" b="1" dirty="0">
                <a:solidFill>
                  <a:srgbClr val="D4AF37"/>
                </a:solidFill>
              </a:rPr>
              <a:t>DATACENDIA</a:t>
            </a:r>
            <a:endParaRPr lang="en-US" sz="1000" dirty="0"/>
          </a:p>
        </p:txBody>
      </p:sp>
      <p:sp>
        <p:nvSpPr>
          <p:cNvPr id="3" name="Text 1"/>
          <p:cNvSpPr/>
          <p:nvPr/>
        </p:nvSpPr>
        <p:spPr>
          <a:xfrm>
            <a:off x="8229600" y="27432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SALES DECK</a:t>
            </a:r>
            <a:endParaRPr lang="en-US" sz="800" dirty="0"/>
          </a:p>
        </p:txBody>
      </p:sp>
      <p:sp>
        <p:nvSpPr>
          <p:cNvPr id="4" name="Text 2"/>
          <p:cNvSpPr/>
          <p:nvPr/>
        </p:nvSpPr>
        <p:spPr>
          <a:xfrm>
            <a:off x="731520" y="1097280"/>
            <a:ext cx="41148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D4AF37"/>
                </a:solidFill>
              </a:rPr>
              <a:t>DECISION AUDIT TRAIL</a:t>
            </a:r>
            <a:endParaRPr lang="en-US" sz="1100" dirty="0"/>
          </a:p>
        </p:txBody>
      </p:sp>
      <p:sp>
        <p:nvSpPr>
          <p:cNvPr id="5" name="Text 3"/>
          <p:cNvSpPr/>
          <p:nvPr/>
        </p:nvSpPr>
        <p:spPr>
          <a:xfrm>
            <a:off x="731520" y="1554480"/>
            <a:ext cx="4114800" cy="9144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FFFFFF"/>
                </a:solidFill>
              </a:rPr>
              <a:t>Every Decision Tracked with Full Evidence Chain</a:t>
            </a:r>
            <a:endParaRPr lang="en-US" sz="2000" dirty="0"/>
          </a:p>
        </p:txBody>
      </p:sp>
      <p:sp>
        <p:nvSpPr>
          <p:cNvPr id="6" name="Text 4"/>
          <p:cNvSpPr/>
          <p:nvPr/>
        </p:nvSpPr>
        <p:spPr>
          <a:xfrm>
            <a:off x="731520" y="2743200"/>
            <a:ext cx="4114800" cy="320040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Complete searchable decision history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Full deliberation records linked to each decision</a:t>
            </a:r>
            <a:endParaRPr lang="en-US" sz="1100" dirty="0"/>
          </a:p>
          <a:p>
            <a:pPr marL="342900" indent="-342900">
              <a:lnSpc>
                <a:spcPct val="150000"/>
              </a:lnSpc>
              <a:buSzPct val="100000"/>
              <a:buChar char="→"/>
            </a:pPr>
            <a:r>
              <a:rPr lang="en-US" sz="1100" dirty="0">
                <a:solidFill>
                  <a:srgbClr val="8B8FA3"/>
                </a:solidFill>
              </a:rPr>
              <a:t>Trace any decision back to evidence in seconds</a:t>
            </a:r>
            <a:endParaRPr lang="en-US" sz="1100" dirty="0"/>
          </a:p>
        </p:txBody>
      </p:sp>
      <p:sp>
        <p:nvSpPr>
          <p:cNvPr id="8" name="Text 5"/>
          <p:cNvSpPr/>
          <p:nvPr/>
        </p:nvSpPr>
        <p:spPr>
          <a:xfrm>
            <a:off x="4572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© 2024-2026 Datacendia, LLC</a:t>
            </a:r>
            <a:endParaRPr lang="en-US" sz="800" dirty="0"/>
          </a:p>
        </p:txBody>
      </p:sp>
      <p:sp>
        <p:nvSpPr>
          <p:cNvPr id="9" name="Text 6"/>
          <p:cNvSpPr/>
          <p:nvPr/>
        </p:nvSpPr>
        <p:spPr>
          <a:xfrm>
            <a:off x="8229600" y="6400800"/>
            <a:ext cx="3657600" cy="2743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r" indent="0" marL="0">
              <a:buNone/>
            </a:pPr>
            <a:r>
              <a:rPr lang="en-US" sz="800" dirty="0">
                <a:solidFill>
                  <a:srgbClr val="8B8FA3"/>
                </a:solidFill>
              </a:rPr>
              <a:t>datacendia.com</a:t>
            </a:r>
            <a:endParaRPr lang="en-US" sz="800" dirty="0"/>
          </a:p>
        </p:txBody>
      </p:sp>
      <p:pic>
        <p:nvPicPr>
          <p:cNvPr id="10" name="Picture 9" descr="image.png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885432" y="1371600"/>
            <a:ext cx="5029200" cy="310896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8</Slides>
  <Notes>8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8</vt:i4>
      </vt:variant>
    </vt:vector>
  </HeadingPairs>
  <TitlesOfParts>
    <vt:vector size="11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</vt:vector>
  </TitlesOfParts>
  <Company>Datacendia, LLC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Datacendia Air-Gapped Deployment — Datacendia</dc:title>
  <dc:subject>PptxGenJS Presentation</dc:subject>
  <dc:creator>Datacendia</dc:creator>
  <cp:lastModifiedBy>Datacendia</cp:lastModifiedBy>
  <cp:revision>1</cp:revision>
  <dcterms:created xsi:type="dcterms:W3CDTF">2026-03-17T14:12:19Z</dcterms:created>
  <dcterms:modified xsi:type="dcterms:W3CDTF">2026-03-17T14:12:19Z</dcterms:modified>
</cp:coreProperties>
</file>