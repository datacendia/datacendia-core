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12188952" cy="6858000"/>
  <p:notesSz cx="6858000" cy="12188952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6400800" y="27432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PREPARED FOR BPIFRANCE (LA FRENCH TECH)</a:t>
            </a:r>
            <a:endParaRPr lang="en-US" sz="800" dirty="0"/>
          </a:p>
        </p:txBody>
      </p:sp>
      <p:sp>
        <p:nvSpPr>
          <p:cNvPr id="4" name="Shape 2"/>
          <p:cNvSpPr/>
          <p:nvPr/>
        </p:nvSpPr>
        <p:spPr>
          <a:xfrm>
            <a:off x="4114800" y="1645920"/>
            <a:ext cx="3931920" cy="411480"/>
          </a:xfrm>
          <a:prstGeom prst="roundRect">
            <a:avLst>
              <a:gd name="adj" fmla="val 8889"/>
            </a:avLst>
          </a:prstGeom>
          <a:solidFill>
            <a:srgbClr val="D4AF37"/>
          </a:solidFill>
          <a:ln/>
        </p:spPr>
      </p:sp>
      <p:sp>
        <p:nvSpPr>
          <p:cNvPr id="5" name="Text 3"/>
          <p:cNvSpPr/>
          <p:nvPr/>
        </p:nvSpPr>
        <p:spPr>
          <a:xfrm>
            <a:off x="4114800" y="1645920"/>
            <a:ext cx="39319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A0E1A"/>
                </a:solidFill>
              </a:rPr>
              <a:t>PREPARED FOR BPIFRANCE (LA FRENCH TECH)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457200" y="228600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DATACENDIA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457200" y="2743200"/>
            <a:ext cx="1097280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FFFFFF"/>
                </a:solidFill>
              </a:rPr>
              <a:t>Datacendia for Bpifrance (La French Tech)</a:t>
            </a:r>
            <a:endParaRPr lang="en-US" sz="3400" dirty="0"/>
          </a:p>
        </p:txBody>
      </p:sp>
      <p:sp>
        <p:nvSpPr>
          <p:cNvPr id="8" name="Text 6"/>
          <p:cNvSpPr/>
          <p:nvPr/>
        </p:nvSpPr>
        <p:spPr>
          <a:xfrm>
            <a:off x="1371600" y="402336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8B8FA3"/>
                </a:solidFill>
              </a:rPr>
              <a:t>Decision Crisis Immunization Infrastructure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5029200" y="4663440"/>
            <a:ext cx="2103120" cy="0"/>
          </a:xfrm>
          <a:prstGeom prst="line">
            <a:avLst/>
          </a:prstGeom>
          <a:noFill/>
          <a:ln w="25400">
            <a:solidFill>
              <a:srgbClr val="D4AF37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1828800" y="493776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Government VC · Paris, France · Seed to Growth · €40B+ AUM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2" name="Text 10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INVESTOR ALIGNMENT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91440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WHY BPIFRANCE (LA FRENCH TECH)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Why Datacendia Aligns with Bpifrance (La French Tech)</a:t>
            </a:r>
            <a:endParaRPr lang="en-US" sz="2200" dirty="0"/>
          </a:p>
        </p:txBody>
      </p:sp>
      <p:sp>
        <p:nvSpPr>
          <p:cNvPr id="6" name="Text 4"/>
          <p:cNvSpPr/>
          <p:nvPr/>
        </p:nvSpPr>
        <p:spPr>
          <a:xfrm>
            <a:off x="731520" y="2194560"/>
            <a:ext cx="5029200" cy="12801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French sovereign technology and strategic autonomy. France's public investment bank. Massive AI commitment — €2.5B+ for sovereign AI under France 2030.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731520" y="365760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</p:sp>
      <p:sp>
        <p:nvSpPr>
          <p:cNvPr id="8" name="Text 6"/>
          <p:cNvSpPr/>
          <p:nvPr/>
        </p:nvSpPr>
        <p:spPr>
          <a:xfrm>
            <a:off x="1005840" y="384048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Your Thesis → Our Mission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1005840" y="4297680"/>
            <a:ext cx="4572000" cy="1463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France is investing €2.5B+ in sovereign AI. Datacendia's air-gapped deployment with French/EU data residency serves France's sovereign AI governance needs.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400800" y="2194560"/>
            <a:ext cx="5029200" cy="3749040"/>
          </a:xfrm>
          <a:prstGeom prst="roundRect">
            <a:avLst>
              <a:gd name="adj" fmla="val 2439"/>
            </a:avLst>
          </a:prstGeom>
          <a:solidFill>
            <a:srgbClr val="141825"/>
          </a:solidFill>
          <a:ln/>
        </p:spPr>
      </p:sp>
      <p:sp>
        <p:nvSpPr>
          <p:cNvPr id="11" name="Text 9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Portfolio Adjacency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6675120" y="283464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Mistral AI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Doctolib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OVHcloud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Qonto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6675120" y="438912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Bpifrance invests €2.5B+ in sovereign AI (France 2030). Datacendia deploys sovereign: air-gapped, on-prem, EU data residency. AI governance for French strategic autonomy.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PROBLEM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Enterprise AI Has No Accountability Layer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100584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AI systems make high-stakes decisions with no audit trail, no evidence, and no dissent tracking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EU AI Act (2025–2026) mandates governance for high-risk AI — penalties up to €35M or 7% revenue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DORA requires AI operational resilience for financial services by Jan 2025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No existing platform provides cryptographic proof of AI-assisted decisions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Enterprises face regulatory risk with every AI deployment — and have no solution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7315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7315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€35M</a:t>
            </a:r>
            <a:endParaRPr lang="en-US" sz="2400" dirty="0"/>
          </a:p>
        </p:txBody>
      </p:sp>
      <p:sp>
        <p:nvSpPr>
          <p:cNvPr id="8" name="Text 6"/>
          <p:cNvSpPr/>
          <p:nvPr/>
        </p:nvSpPr>
        <p:spPr>
          <a:xfrm>
            <a:off x="9144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Max EU AI Act penalty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34747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</p:sp>
      <p:sp>
        <p:nvSpPr>
          <p:cNvPr id="10" name="Text 8"/>
          <p:cNvSpPr/>
          <p:nvPr/>
        </p:nvSpPr>
        <p:spPr>
          <a:xfrm>
            <a:off x="34747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0</a:t>
            </a:r>
            <a:endParaRPr lang="en-US" sz="2400" dirty="0"/>
          </a:p>
        </p:txBody>
      </p:sp>
      <p:sp>
        <p:nvSpPr>
          <p:cNvPr id="11" name="Text 9"/>
          <p:cNvSpPr/>
          <p:nvPr/>
        </p:nvSpPr>
        <p:spPr>
          <a:xfrm>
            <a:off x="36576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Platforms w/ crypto AI evidence</a:t>
            </a:r>
            <a:endParaRPr lang="en-US" sz="900" dirty="0"/>
          </a:p>
        </p:txBody>
      </p:sp>
      <p:sp>
        <p:nvSpPr>
          <p:cNvPr id="12" name="Shape 10"/>
          <p:cNvSpPr/>
          <p:nvPr/>
        </p:nvSpPr>
        <p:spPr>
          <a:xfrm>
            <a:off x="62179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</p:sp>
      <p:sp>
        <p:nvSpPr>
          <p:cNvPr id="13" name="Text 11"/>
          <p:cNvSpPr/>
          <p:nvPr/>
        </p:nvSpPr>
        <p:spPr>
          <a:xfrm>
            <a:off x="62179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2025</a:t>
            </a:r>
            <a:endParaRPr lang="en-US" sz="2400" dirty="0"/>
          </a:p>
        </p:txBody>
      </p:sp>
      <p:sp>
        <p:nvSpPr>
          <p:cNvPr id="14" name="Text 12"/>
          <p:cNvSpPr/>
          <p:nvPr/>
        </p:nvSpPr>
        <p:spPr>
          <a:xfrm>
            <a:off x="64008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EU AI Act high-risk in effect</a:t>
            </a:r>
            <a:endParaRPr lang="en-US" sz="900" dirty="0"/>
          </a:p>
        </p:txBody>
      </p:sp>
      <p:sp>
        <p:nvSpPr>
          <p:cNvPr id="15" name="Shape 13"/>
          <p:cNvSpPr/>
          <p:nvPr/>
        </p:nvSpPr>
        <p:spPr>
          <a:xfrm>
            <a:off x="89611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</p:sp>
      <p:sp>
        <p:nvSpPr>
          <p:cNvPr id="16" name="Text 14"/>
          <p:cNvSpPr/>
          <p:nvPr/>
        </p:nvSpPr>
        <p:spPr>
          <a:xfrm>
            <a:off x="89611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85%</a:t>
            </a:r>
            <a:endParaRPr lang="en-US" sz="2400" dirty="0"/>
          </a:p>
        </p:txBody>
      </p:sp>
      <p:sp>
        <p:nvSpPr>
          <p:cNvPr id="17" name="Text 15"/>
          <p:cNvSpPr/>
          <p:nvPr/>
        </p:nvSpPr>
        <p:spPr>
          <a:xfrm>
            <a:off x="91440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Fortune 500 deploying AI</a:t>
            </a:r>
            <a:endParaRPr lang="en-US" sz="900" dirty="0"/>
          </a:p>
        </p:txBody>
      </p:sp>
      <p:sp>
        <p:nvSpPr>
          <p:cNvPr id="18" name="Text 16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9" name="Text 17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SOLUTION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Multi-Agent Deliberation with Cryptographic Evidence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Multi-agent deliberation with role-specific AI agents (CFO, CISO, Legal, Strategy, Risk, and more)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Cryptographic decision evidence — Ed25519 signatures, Merkle trees, RFC 3161 timestamps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Sovereign deployment — Cloud, Private Cloud, On-Premises, and Air-Gapped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EU AI Act, DORA, GDPR, HIPAA compliance mapping across 23 jurisdictions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Zero-copy data architecture — data never leaves customer infrastructure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Open-source core (Apache 2.0) with enterprise features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Key Angle for Bpifrance (La French Tech)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6675120" y="2834640"/>
            <a:ext cx="438912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Sovereign AI governance for France 2030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6400800" y="3749040"/>
            <a:ext cx="5029200" cy="731520"/>
          </a:xfrm>
          <a:prstGeom prst="roundRect">
            <a:avLst>
              <a:gd name="adj" fmla="val 12500"/>
            </a:avLst>
          </a:prstGeom>
          <a:solidFill>
            <a:srgbClr val="141825"/>
          </a:solidFill>
          <a:ln/>
        </p:spPr>
      </p:sp>
      <p:sp>
        <p:nvSpPr>
          <p:cNvPr id="10" name="Text 8"/>
          <p:cNvSpPr/>
          <p:nvPr/>
        </p:nvSpPr>
        <p:spPr>
          <a:xfrm>
            <a:off x="6675120" y="3749040"/>
            <a:ext cx="45720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Sector: Digital Sovereignty / French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6400800" y="4663440"/>
            <a:ext cx="502920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12" name="Text 10"/>
          <p:cNvSpPr/>
          <p:nvPr/>
        </p:nvSpPr>
        <p:spPr>
          <a:xfrm>
            <a:off x="6675120" y="484632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90-Day Guarantee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6675120" y="5212080"/>
            <a:ext cx="4389120" cy="731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000" dirty="0">
                <a:solidFill>
                  <a:srgbClr val="8B8FA3"/>
                </a:solidFill>
              </a:rPr>
              <a:t>Deploy Datacendia for 90 days on a single strategic problem. If the Council doesn't identify at least 3 critical risks you missed, we refund the pilot fee.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PLATFORM PROOF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This Is Not a Pitch — It’s a Live Platform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6" name="Text 4"/>
          <p:cNvSpPr/>
          <p:nvPr/>
        </p:nvSpPr>
        <p:spPr>
          <a:xfrm>
            <a:off x="73152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205K+</a:t>
            </a:r>
            <a:endParaRPr lang="en-US" sz="2800" dirty="0"/>
          </a:p>
        </p:txBody>
      </p:sp>
      <p:sp>
        <p:nvSpPr>
          <p:cNvPr id="7" name="Text 5"/>
          <p:cNvSpPr/>
          <p:nvPr/>
        </p:nvSpPr>
        <p:spPr>
          <a:xfrm>
            <a:off x="91440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Passing Tests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292608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9" name="Text 7"/>
          <p:cNvSpPr/>
          <p:nvPr/>
        </p:nvSpPr>
        <p:spPr>
          <a:xfrm>
            <a:off x="292608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156</a:t>
            </a:r>
            <a:endParaRPr lang="en-US" sz="2800" dirty="0"/>
          </a:p>
        </p:txBody>
      </p:sp>
      <p:sp>
        <p:nvSpPr>
          <p:cNvPr id="10" name="Text 8"/>
          <p:cNvSpPr/>
          <p:nvPr/>
        </p:nvSpPr>
        <p:spPr>
          <a:xfrm>
            <a:off x="310896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Validated API Endpoints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512064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12" name="Text 10"/>
          <p:cNvSpPr/>
          <p:nvPr/>
        </p:nvSpPr>
        <p:spPr>
          <a:xfrm>
            <a:off x="512064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50+</a:t>
            </a:r>
            <a:endParaRPr lang="en-US" sz="2800" dirty="0"/>
          </a:p>
        </p:txBody>
      </p:sp>
      <p:sp>
        <p:nvSpPr>
          <p:cNvPr id="13" name="Text 11"/>
          <p:cNvSpPr/>
          <p:nvPr/>
        </p:nvSpPr>
        <p:spPr>
          <a:xfrm>
            <a:off x="530352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Agent Presets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731520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15" name="Text 13"/>
          <p:cNvSpPr/>
          <p:nvPr/>
        </p:nvSpPr>
        <p:spPr>
          <a:xfrm>
            <a:off x="731520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23</a:t>
            </a:r>
            <a:endParaRPr lang="en-US" sz="2800" dirty="0"/>
          </a:p>
        </p:txBody>
      </p:sp>
      <p:sp>
        <p:nvSpPr>
          <p:cNvPr id="16" name="Text 14"/>
          <p:cNvSpPr/>
          <p:nvPr/>
        </p:nvSpPr>
        <p:spPr>
          <a:xfrm>
            <a:off x="749808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Jurisdictions Covered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950976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18" name="Text 16"/>
          <p:cNvSpPr/>
          <p:nvPr/>
        </p:nvSpPr>
        <p:spPr>
          <a:xfrm>
            <a:off x="950976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4</a:t>
            </a:r>
            <a:endParaRPr lang="en-US" sz="2800" dirty="0"/>
          </a:p>
        </p:txBody>
      </p:sp>
      <p:sp>
        <p:nvSpPr>
          <p:cNvPr id="19" name="Text 17"/>
          <p:cNvSpPr/>
          <p:nvPr/>
        </p:nvSpPr>
        <p:spPr>
          <a:xfrm>
            <a:off x="969264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Deployment Modes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731520" y="4114800"/>
            <a:ext cx="5029200" cy="1828800"/>
          </a:xfrm>
          <a:prstGeom prst="roundRect">
            <a:avLst>
              <a:gd name="adj" fmla="val 5000"/>
            </a:avLst>
          </a:prstGeom>
          <a:solidFill>
            <a:srgbClr val="141825"/>
          </a:solidFill>
          <a:ln/>
        </p:spPr>
      </p:sp>
      <p:sp>
        <p:nvSpPr>
          <p:cNvPr id="21" name="Text 19"/>
          <p:cNvSpPr/>
          <p:nvPr/>
        </p:nvSpPr>
        <p:spPr>
          <a:xfrm>
            <a:off x="1005840" y="42976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Live Demo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1005840" y="4663440"/>
            <a:ext cx="43891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Production platform at app.datacendia.com</a:t>
            </a:r>
            <a:endParaRPr lang="en-US" sz="11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Multi-agent deliberation, decision audit trails, compliance dashboards, AI governance gateway — all live.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6400800" y="4114800"/>
            <a:ext cx="5029200" cy="1828800"/>
          </a:xfrm>
          <a:prstGeom prst="roundRect">
            <a:avLst>
              <a:gd name="adj" fmla="val 5000"/>
            </a:avLst>
          </a:prstGeom>
          <a:solidFill>
            <a:srgbClr val="141825"/>
          </a:solidFill>
          <a:ln/>
        </p:spPr>
      </p:sp>
      <p:sp>
        <p:nvSpPr>
          <p:cNvPr id="24" name="Text 22"/>
          <p:cNvSpPr/>
          <p:nvPr/>
        </p:nvSpPr>
        <p:spPr>
          <a:xfrm>
            <a:off x="6675120" y="42976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NVIDIA Inception Member</a:t>
            </a:r>
            <a:endParaRPr lang="en-US" sz="1300" dirty="0"/>
          </a:p>
        </p:txBody>
      </p:sp>
      <p:sp>
        <p:nvSpPr>
          <p:cNvPr id="25" name="Text 23"/>
          <p:cNvSpPr/>
          <p:nvPr/>
        </p:nvSpPr>
        <p:spPr>
          <a:xfrm>
            <a:off x="6675120" y="4663440"/>
            <a:ext cx="43891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Accepted into NVIDIA’s elite startup program.</a:t>
            </a:r>
            <a:endParaRPr lang="en-US" sz="11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DGX Cloud access, technical mentorship, co-marketing, and enterprise customer introductions.</a:t>
            </a:r>
            <a:endParaRPr lang="en-US" sz="1100" dirty="0"/>
          </a:p>
        </p:txBody>
      </p:sp>
      <p:sp>
        <p:nvSpPr>
          <p:cNvPr id="26" name="Text 24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27" name="Text 25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MULTI-AGENT DECISION ENGINE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Decisions Made by Specialized AI Agents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Role-specific agents: CFO, CISO, Legal, Strategy, Risk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Confidence scores and reasoning — dissent preserved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War Room, Governed, and Quick Brief modes</a:t>
            </a:r>
            <a:endParaRPr lang="en-US" sz="1100" dirty="0"/>
          </a:p>
        </p:txBody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DECISION AUDIT TRAIL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Every Decision Tracked with Full Evidence Chain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Complete searchable decision history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Full deliberation records linked to each decision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Trace any decision back to evidence in seconds</a:t>
            </a:r>
            <a:endParaRPr lang="en-US" sz="1100" dirty="0"/>
          </a:p>
        </p:txBody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FOUNDER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Stuart Rainey — Founder &amp; CEO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7 years as Senior Data Analyst at TCS, embedded with PGIM Fixed Income ($800B+ AUM)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Built data infrastructure for regulated investment decisions at institutional scale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M.S. in Big Data Analytics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Author of the DDGI framework — ISO/IEC JTC 1/SC 42 standards track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NVIDIA Inception member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Why This Founder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6675120" y="292608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Built the exact data infrastructure that financial institutions need for AI governance — at one of the world's largest asset managers.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ASK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$1.5M Pre-Seed — $7M Pre-Money Valuation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</p:sp>
      <p:sp>
        <p:nvSpPr>
          <p:cNvPr id="6" name="Text 4"/>
          <p:cNvSpPr/>
          <p:nvPr/>
        </p:nvSpPr>
        <p:spPr>
          <a:xfrm>
            <a:off x="10058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What's Built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10058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205K+ passing tests. 156 validated API endpoints. Live production platform at app.datacendia.com.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3891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</p:sp>
      <p:sp>
        <p:nvSpPr>
          <p:cNvPr id="9" name="Text 7"/>
          <p:cNvSpPr/>
          <p:nvPr/>
        </p:nvSpPr>
        <p:spPr>
          <a:xfrm>
            <a:off x="46634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Traction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46634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2 warm enterprise intros (financial institution, Big 4 channel). NVIDIA Inception member.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80467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</p:sp>
      <p:sp>
        <p:nvSpPr>
          <p:cNvPr id="12" name="Text 10"/>
          <p:cNvSpPr/>
          <p:nvPr/>
        </p:nvSpPr>
        <p:spPr>
          <a:xfrm>
            <a:off x="83210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Use of Funds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83210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GTM hiring, SOC 2 Type II certification, first enterprise pilots.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914400" y="4754880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$8.5M post-money · 21.5% dilution · Engineering risk resolved — GTM-stage investment.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457200" y="1828800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NEXT STEPS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457200" y="2286000"/>
            <a:ext cx="109728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FFFFFF"/>
                </a:solidFill>
              </a:rPr>
              <a:t>Let’s Talk</a:t>
            </a:r>
            <a:endParaRPr lang="en-US" sz="3600" dirty="0"/>
          </a:p>
        </p:txBody>
      </p:sp>
      <p:sp>
        <p:nvSpPr>
          <p:cNvPr id="5" name="Text 3"/>
          <p:cNvSpPr/>
          <p:nvPr/>
        </p:nvSpPr>
        <p:spPr>
          <a:xfrm>
            <a:off x="1371600" y="320040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8B8FA3"/>
                </a:solidFill>
              </a:rPr>
              <a:t>Personalized for Bpifrance (La French Tech) — Sovereign AI governance for France 2030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228600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228600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Schedule Deep Dive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29768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</p:sp>
      <p:sp>
        <p:nvSpPr>
          <p:cNvPr id="9" name="Text 7"/>
          <p:cNvSpPr/>
          <p:nvPr/>
        </p:nvSpPr>
        <p:spPr>
          <a:xfrm>
            <a:off x="429768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Technical Demo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30936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</p:sp>
      <p:sp>
        <p:nvSpPr>
          <p:cNvPr id="11" name="Text 9"/>
          <p:cNvSpPr/>
          <p:nvPr/>
        </p:nvSpPr>
        <p:spPr>
          <a:xfrm>
            <a:off x="630936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Data Room Access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832104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D4AF37"/>
          </a:solidFill>
          <a:ln/>
        </p:spPr>
      </p:sp>
      <p:sp>
        <p:nvSpPr>
          <p:cNvPr id="13" name="Text 11"/>
          <p:cNvSpPr/>
          <p:nvPr/>
        </p:nvSpPr>
        <p:spPr>
          <a:xfrm>
            <a:off x="832104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A0E1A"/>
                </a:solidFill>
              </a:rPr>
              <a:t>Try Live Demo →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1828800" y="502920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contact@datacendia.com | datacendia.com | app.datacendia.com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Datacendia, LLC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Datacendia for Bpifrance (La French Tech)</dc:title>
  <dc:subject>PptxGenJS Presentation</dc:subject>
  <dc:creator>Datacendia</dc:creator>
  <cp:lastModifiedBy>Datacendia</cp:lastModifiedBy>
  <cp:revision>1</cp:revision>
  <dcterms:created xsi:type="dcterms:W3CDTF">2026-03-17T15:13:08Z</dcterms:created>
  <dcterms:modified xsi:type="dcterms:W3CDTF">2026-03-17T15:13:08Z</dcterms:modified>
</cp:coreProperties>
</file>