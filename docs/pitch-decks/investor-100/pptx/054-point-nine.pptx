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</p:sldIdLst>
  <p:notesMasterIdLst>
    <p:notesMasterId r:id="rId12"/>
  </p:notesMasterIdLst>
  <p:sldSz cx="12188952" cy="6858000"/>
  <p:notesSz cx="6858000" cy="12188952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notesMaster" Target="notesMasters/notesMaster1.xml"/><Relationship Id="rId13" Type="http://schemas.openxmlformats.org/officeDocument/2006/relationships/presProps" Target="presProps.xml"/><Relationship Id="rId14" Type="http://schemas.openxmlformats.org/officeDocument/2006/relationships/viewProps" Target="viewProps.xml"/><Relationship Id="rId15" Type="http://schemas.openxmlformats.org/officeDocument/2006/relationships/theme" Target="theme/theme1.xml"/><Relationship Id="rId16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image" Target="../media/image-6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image" Target="../media/image-7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0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6400800" y="274320"/>
            <a:ext cx="54864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PREPARED FOR POINT NINE CAPITAL</a:t>
            </a:r>
            <a:endParaRPr lang="en-US" sz="800" dirty="0"/>
          </a:p>
        </p:txBody>
      </p:sp>
      <p:sp>
        <p:nvSpPr>
          <p:cNvPr id="4" name="Shape 2"/>
          <p:cNvSpPr/>
          <p:nvPr/>
        </p:nvSpPr>
        <p:spPr>
          <a:xfrm>
            <a:off x="4114800" y="1645920"/>
            <a:ext cx="3931920" cy="411480"/>
          </a:xfrm>
          <a:prstGeom prst="roundRect">
            <a:avLst>
              <a:gd name="adj" fmla="val 8889"/>
            </a:avLst>
          </a:prstGeom>
          <a:solidFill>
            <a:srgbClr val="D4AF37"/>
          </a:solidFill>
          <a:ln/>
        </p:spPr>
      </p:sp>
      <p:sp>
        <p:nvSpPr>
          <p:cNvPr id="5" name="Text 3"/>
          <p:cNvSpPr/>
          <p:nvPr/>
        </p:nvSpPr>
        <p:spPr>
          <a:xfrm>
            <a:off x="4114800" y="1645920"/>
            <a:ext cx="393192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0A0E1A"/>
                </a:solidFill>
              </a:rPr>
              <a:t>PREPARED FOR POINT NINE CAPITAL</a:t>
            </a:r>
            <a:endParaRPr lang="en-US" sz="1000" dirty="0"/>
          </a:p>
        </p:txBody>
      </p:sp>
      <p:sp>
        <p:nvSpPr>
          <p:cNvPr id="6" name="Text 4"/>
          <p:cNvSpPr/>
          <p:nvPr/>
        </p:nvSpPr>
        <p:spPr>
          <a:xfrm>
            <a:off x="457200" y="2286000"/>
            <a:ext cx="109728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DATACENDIA</a:t>
            </a:r>
            <a:endParaRPr lang="en-US" sz="1100" dirty="0"/>
          </a:p>
        </p:txBody>
      </p:sp>
      <p:sp>
        <p:nvSpPr>
          <p:cNvPr id="7" name="Text 5"/>
          <p:cNvSpPr/>
          <p:nvPr/>
        </p:nvSpPr>
        <p:spPr>
          <a:xfrm>
            <a:off x="457200" y="2743200"/>
            <a:ext cx="10972800" cy="10972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3400" b="1" dirty="0">
                <a:solidFill>
                  <a:srgbClr val="FFFFFF"/>
                </a:solidFill>
              </a:rPr>
              <a:t>Datacendia for Point Nine Capital</a:t>
            </a:r>
            <a:endParaRPr lang="en-US" sz="3400" dirty="0"/>
          </a:p>
        </p:txBody>
      </p:sp>
      <p:sp>
        <p:nvSpPr>
          <p:cNvPr id="8" name="Text 6"/>
          <p:cNvSpPr/>
          <p:nvPr/>
        </p:nvSpPr>
        <p:spPr>
          <a:xfrm>
            <a:off x="1371600" y="4023360"/>
            <a:ext cx="91440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500" dirty="0">
                <a:solidFill>
                  <a:srgbClr val="8B8FA3"/>
                </a:solidFill>
              </a:rPr>
              <a:t>Decision Crisis Immunization Infrastructure</a:t>
            </a:r>
            <a:endParaRPr lang="en-US" sz="1500" dirty="0"/>
          </a:p>
        </p:txBody>
      </p:sp>
      <p:sp>
        <p:nvSpPr>
          <p:cNvPr id="9" name="Shape 7"/>
          <p:cNvSpPr/>
          <p:nvPr/>
        </p:nvSpPr>
        <p:spPr>
          <a:xfrm>
            <a:off x="5029200" y="4663440"/>
            <a:ext cx="2103120" cy="0"/>
          </a:xfrm>
          <a:prstGeom prst="line">
            <a:avLst/>
          </a:prstGeom>
          <a:noFill/>
          <a:ln w="25400">
            <a:solidFill>
              <a:srgbClr val="D4AF37"/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1828800" y="4937760"/>
            <a:ext cx="82296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8B8FA3"/>
                </a:solidFill>
              </a:rPr>
              <a:t>Venture Capital · Berlin, Germany · Seed · $600M+ AUM</a:t>
            </a:r>
            <a:endParaRPr lang="en-US" sz="1200" dirty="0"/>
          </a:p>
        </p:txBody>
      </p:sp>
      <p:sp>
        <p:nvSpPr>
          <p:cNvPr id="11" name="Text 9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12" name="Text 10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8229600" y="27432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INVESTOR ALIGNMENT</a:t>
            </a:r>
            <a:endParaRPr lang="en-US" sz="800" dirty="0"/>
          </a:p>
        </p:txBody>
      </p:sp>
      <p:sp>
        <p:nvSpPr>
          <p:cNvPr id="4" name="Text 2"/>
          <p:cNvSpPr/>
          <p:nvPr/>
        </p:nvSpPr>
        <p:spPr>
          <a:xfrm>
            <a:off x="731520" y="914400"/>
            <a:ext cx="54864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WHY POINT NINE CAPITAL</a:t>
            </a:r>
            <a:endParaRPr lang="en-US" sz="1100" dirty="0"/>
          </a:p>
        </p:txBody>
      </p:sp>
      <p:sp>
        <p:nvSpPr>
          <p:cNvPr id="5" name="Text 3"/>
          <p:cNvSpPr/>
          <p:nvPr/>
        </p:nvSpPr>
        <p:spPr>
          <a:xfrm>
            <a:off x="731520" y="1371600"/>
            <a:ext cx="100584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FFFFFF"/>
                </a:solidFill>
              </a:rPr>
              <a:t>Why Datacendia Aligns with Point Nine Capital</a:t>
            </a:r>
            <a:endParaRPr lang="en-US" sz="2200" dirty="0"/>
          </a:p>
        </p:txBody>
      </p:sp>
      <p:sp>
        <p:nvSpPr>
          <p:cNvPr id="6" name="Text 4"/>
          <p:cNvSpPr/>
          <p:nvPr/>
        </p:nvSpPr>
        <p:spPr>
          <a:xfrm>
            <a:off x="731520" y="2194560"/>
            <a:ext cx="5029200" cy="128016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50000"/>
              </a:lnSpc>
              <a:buNone/>
            </a:pPr>
            <a:r>
              <a:rPr lang="en-US" sz="1200" dirty="0">
                <a:solidFill>
                  <a:srgbClr val="8B8FA3"/>
                </a:solidFill>
              </a:rPr>
              <a:t>B2B SaaS specialist. Deep metrics-driven approach to SaaS. Known for the SaaS funding napkin. European B2B authority.</a:t>
            </a:r>
            <a:endParaRPr lang="en-US" sz="1200" dirty="0"/>
          </a:p>
        </p:txBody>
      </p:sp>
      <p:sp>
        <p:nvSpPr>
          <p:cNvPr id="7" name="Shape 5"/>
          <p:cNvSpPr/>
          <p:nvPr/>
        </p:nvSpPr>
        <p:spPr>
          <a:xfrm>
            <a:off x="731520" y="3657600"/>
            <a:ext cx="5029200" cy="2286000"/>
          </a:xfrm>
          <a:prstGeom prst="roundRect">
            <a:avLst>
              <a:gd name="adj" fmla="val 4000"/>
            </a:avLst>
          </a:prstGeom>
          <a:solidFill>
            <a:srgbClr val="141825"/>
          </a:solidFill>
          <a:ln/>
        </p:spPr>
      </p:sp>
      <p:sp>
        <p:nvSpPr>
          <p:cNvPr id="8" name="Text 6"/>
          <p:cNvSpPr/>
          <p:nvPr/>
        </p:nvSpPr>
        <p:spPr>
          <a:xfrm>
            <a:off x="1005840" y="3840480"/>
            <a:ext cx="45720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D4AF37"/>
                </a:solidFill>
              </a:rPr>
              <a:t>Your Thesis → Our Mission</a:t>
            </a:r>
            <a:endParaRPr lang="en-US" sz="1300" dirty="0"/>
          </a:p>
        </p:txBody>
      </p:sp>
      <p:sp>
        <p:nvSpPr>
          <p:cNvPr id="9" name="Text 7"/>
          <p:cNvSpPr/>
          <p:nvPr/>
        </p:nvSpPr>
        <p:spPr>
          <a:xfrm>
            <a:off x="1005840" y="4297680"/>
            <a:ext cx="4572000" cy="146304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5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Point Nine is the SaaS metrics authority. Datacendia's unit economics — $50K pilot, 3x expansion, &lt;12 month payback — fit their SaaS quality bar.</a:t>
            </a:r>
            <a:endParaRPr lang="en-US" sz="1100" dirty="0"/>
          </a:p>
        </p:txBody>
      </p:sp>
      <p:sp>
        <p:nvSpPr>
          <p:cNvPr id="10" name="Shape 8"/>
          <p:cNvSpPr/>
          <p:nvPr/>
        </p:nvSpPr>
        <p:spPr>
          <a:xfrm>
            <a:off x="6400800" y="2194560"/>
            <a:ext cx="5029200" cy="3749040"/>
          </a:xfrm>
          <a:prstGeom prst="roundRect">
            <a:avLst>
              <a:gd name="adj" fmla="val 2439"/>
            </a:avLst>
          </a:prstGeom>
          <a:solidFill>
            <a:srgbClr val="141825"/>
          </a:solidFill>
          <a:ln/>
        </p:spPr>
      </p:sp>
      <p:sp>
        <p:nvSpPr>
          <p:cNvPr id="11" name="Text 9"/>
          <p:cNvSpPr/>
          <p:nvPr/>
        </p:nvSpPr>
        <p:spPr>
          <a:xfrm>
            <a:off x="6675120" y="2377440"/>
            <a:ext cx="45720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D4AF37"/>
                </a:solidFill>
              </a:rPr>
              <a:t>Portfolio Adjacency</a:t>
            </a:r>
            <a:endParaRPr lang="en-US" sz="1300" dirty="0"/>
          </a:p>
        </p:txBody>
      </p:sp>
      <p:sp>
        <p:nvSpPr>
          <p:cNvPr id="12" name="Text 10"/>
          <p:cNvSpPr/>
          <p:nvPr/>
        </p:nvSpPr>
        <p:spPr>
          <a:xfrm>
            <a:off x="6675120" y="2834640"/>
            <a:ext cx="4389120" cy="13716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lnSpc>
                <a:spcPct val="140000"/>
              </a:lnSpc>
              <a:buSzPct val="100000"/>
              <a:buChar char="✓"/>
            </a:pPr>
            <a:r>
              <a:rPr lang="en-US" sz="1100" dirty="0">
                <a:solidFill>
                  <a:srgbClr val="D4AF37"/>
                </a:solidFill>
              </a:rPr>
              <a:t>Zendesk</a:t>
            </a:r>
            <a:endParaRPr lang="en-US" sz="1100" dirty="0"/>
          </a:p>
          <a:p>
            <a:pPr marL="342900" indent="-342900">
              <a:lnSpc>
                <a:spcPct val="140000"/>
              </a:lnSpc>
              <a:buSzPct val="100000"/>
              <a:buChar char="✓"/>
            </a:pPr>
            <a:r>
              <a:rPr lang="en-US" sz="1100" dirty="0">
                <a:solidFill>
                  <a:srgbClr val="D4AF37"/>
                </a:solidFill>
              </a:rPr>
              <a:t>Algolia</a:t>
            </a:r>
            <a:endParaRPr lang="en-US" sz="1100" dirty="0"/>
          </a:p>
          <a:p>
            <a:pPr marL="342900" indent="-342900">
              <a:lnSpc>
                <a:spcPct val="140000"/>
              </a:lnSpc>
              <a:buSzPct val="100000"/>
              <a:buChar char="✓"/>
            </a:pPr>
            <a:r>
              <a:rPr lang="en-US" sz="1100" dirty="0">
                <a:solidFill>
                  <a:srgbClr val="D4AF37"/>
                </a:solidFill>
              </a:rPr>
              <a:t>Chainalysis</a:t>
            </a:r>
            <a:endParaRPr lang="en-US" sz="1100" dirty="0"/>
          </a:p>
          <a:p>
            <a:pPr marL="342900" indent="-342900">
              <a:lnSpc>
                <a:spcPct val="140000"/>
              </a:lnSpc>
              <a:buSzPct val="100000"/>
              <a:buChar char="✓"/>
            </a:pPr>
            <a:r>
              <a:rPr lang="en-US" sz="1100" dirty="0">
                <a:solidFill>
                  <a:srgbClr val="D4AF37"/>
                </a:solidFill>
              </a:rPr>
              <a:t>Loom</a:t>
            </a:r>
            <a:endParaRPr lang="en-US" sz="1100" dirty="0"/>
          </a:p>
        </p:txBody>
      </p:sp>
      <p:sp>
        <p:nvSpPr>
          <p:cNvPr id="13" name="Text 11"/>
          <p:cNvSpPr/>
          <p:nvPr/>
        </p:nvSpPr>
        <p:spPr>
          <a:xfrm>
            <a:off x="6675120" y="4389120"/>
            <a:ext cx="4389120" cy="13716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4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Point Nine wrote the SaaS playbook. Datacendia's metrics: $50K pilot → $150K-$1.5M expansion, regulatory forcing function = low churn, 4 deployment modes = high stickiness.</a:t>
            </a:r>
            <a:endParaRPr lang="en-US" sz="1100" dirty="0"/>
          </a:p>
        </p:txBody>
      </p:sp>
      <p:sp>
        <p:nvSpPr>
          <p:cNvPr id="14" name="Text 12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15" name="Text 13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731520" y="9144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THE PROBLEM</a:t>
            </a:r>
            <a:endParaRPr lang="en-US" sz="1100" dirty="0"/>
          </a:p>
        </p:txBody>
      </p:sp>
      <p:sp>
        <p:nvSpPr>
          <p:cNvPr id="4" name="Text 2"/>
          <p:cNvSpPr/>
          <p:nvPr/>
        </p:nvSpPr>
        <p:spPr>
          <a:xfrm>
            <a:off x="731520" y="1371600"/>
            <a:ext cx="100584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FFFFFF"/>
                </a:solidFill>
              </a:rPr>
              <a:t>Enterprise AI Has No Accountability Layer</a:t>
            </a:r>
            <a:endParaRPr lang="en-US" sz="2400" dirty="0"/>
          </a:p>
        </p:txBody>
      </p:sp>
      <p:sp>
        <p:nvSpPr>
          <p:cNvPr id="5" name="Text 3"/>
          <p:cNvSpPr/>
          <p:nvPr/>
        </p:nvSpPr>
        <p:spPr>
          <a:xfrm>
            <a:off x="731520" y="2194560"/>
            <a:ext cx="10058400" cy="27432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300" dirty="0">
                <a:solidFill>
                  <a:srgbClr val="8B8FA3"/>
                </a:solidFill>
              </a:rPr>
              <a:t>AI systems make high-stakes decisions with no audit trail, no evidence, and no dissent tracking</a:t>
            </a:r>
            <a:endParaRPr lang="en-US" sz="13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300" dirty="0">
                <a:solidFill>
                  <a:srgbClr val="8B8FA3"/>
                </a:solidFill>
              </a:rPr>
              <a:t>EU AI Act (2025–2026) mandates governance for high-risk AI — penalties up to €35M or 7% revenue</a:t>
            </a:r>
            <a:endParaRPr lang="en-US" sz="13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300" dirty="0">
                <a:solidFill>
                  <a:srgbClr val="8B8FA3"/>
                </a:solidFill>
              </a:rPr>
              <a:t>DORA requires AI operational resilience for financial services by Jan 2025</a:t>
            </a:r>
            <a:endParaRPr lang="en-US" sz="13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300" dirty="0">
                <a:solidFill>
                  <a:srgbClr val="8B8FA3"/>
                </a:solidFill>
              </a:rPr>
              <a:t>No existing platform provides cryptographic proof of AI-assisted decisions</a:t>
            </a:r>
            <a:endParaRPr lang="en-US" sz="13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300" dirty="0">
                <a:solidFill>
                  <a:srgbClr val="8B8FA3"/>
                </a:solidFill>
              </a:rPr>
              <a:t>Enterprises face regulatory risk with every AI deployment — and have no solution</a:t>
            </a:r>
            <a:endParaRPr lang="en-US" sz="1300" dirty="0"/>
          </a:p>
        </p:txBody>
      </p:sp>
      <p:sp>
        <p:nvSpPr>
          <p:cNvPr id="6" name="Shape 4"/>
          <p:cNvSpPr/>
          <p:nvPr/>
        </p:nvSpPr>
        <p:spPr>
          <a:xfrm>
            <a:off x="731520" y="5029200"/>
            <a:ext cx="2468880" cy="1097280"/>
          </a:xfrm>
          <a:prstGeom prst="roundRect">
            <a:avLst>
              <a:gd name="adj" fmla="val 8333"/>
            </a:avLst>
          </a:prstGeom>
          <a:solidFill>
            <a:srgbClr val="141825"/>
          </a:solidFill>
          <a:ln/>
        </p:spPr>
      </p:sp>
      <p:sp>
        <p:nvSpPr>
          <p:cNvPr id="7" name="Text 5"/>
          <p:cNvSpPr/>
          <p:nvPr/>
        </p:nvSpPr>
        <p:spPr>
          <a:xfrm>
            <a:off x="731520" y="5120640"/>
            <a:ext cx="246888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400" b="1" dirty="0">
                <a:solidFill>
                  <a:srgbClr val="D4AF37"/>
                </a:solidFill>
              </a:rPr>
              <a:t>€35M</a:t>
            </a:r>
            <a:endParaRPr lang="en-US" sz="2400" dirty="0"/>
          </a:p>
        </p:txBody>
      </p:sp>
      <p:sp>
        <p:nvSpPr>
          <p:cNvPr id="8" name="Text 6"/>
          <p:cNvSpPr/>
          <p:nvPr/>
        </p:nvSpPr>
        <p:spPr>
          <a:xfrm>
            <a:off x="914400" y="5669280"/>
            <a:ext cx="210312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8B8FA3"/>
                </a:solidFill>
              </a:rPr>
              <a:t>Max EU AI Act penalty</a:t>
            </a:r>
            <a:endParaRPr lang="en-US" sz="900" dirty="0"/>
          </a:p>
        </p:txBody>
      </p:sp>
      <p:sp>
        <p:nvSpPr>
          <p:cNvPr id="9" name="Shape 7"/>
          <p:cNvSpPr/>
          <p:nvPr/>
        </p:nvSpPr>
        <p:spPr>
          <a:xfrm>
            <a:off x="3474720" y="5029200"/>
            <a:ext cx="2468880" cy="1097280"/>
          </a:xfrm>
          <a:prstGeom prst="roundRect">
            <a:avLst>
              <a:gd name="adj" fmla="val 8333"/>
            </a:avLst>
          </a:prstGeom>
          <a:solidFill>
            <a:srgbClr val="141825"/>
          </a:solidFill>
          <a:ln/>
        </p:spPr>
      </p:sp>
      <p:sp>
        <p:nvSpPr>
          <p:cNvPr id="10" name="Text 8"/>
          <p:cNvSpPr/>
          <p:nvPr/>
        </p:nvSpPr>
        <p:spPr>
          <a:xfrm>
            <a:off x="3474720" y="5120640"/>
            <a:ext cx="246888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400" b="1" dirty="0">
                <a:solidFill>
                  <a:srgbClr val="D4AF37"/>
                </a:solidFill>
              </a:rPr>
              <a:t>0</a:t>
            </a:r>
            <a:endParaRPr lang="en-US" sz="2400" dirty="0"/>
          </a:p>
        </p:txBody>
      </p:sp>
      <p:sp>
        <p:nvSpPr>
          <p:cNvPr id="11" name="Text 9"/>
          <p:cNvSpPr/>
          <p:nvPr/>
        </p:nvSpPr>
        <p:spPr>
          <a:xfrm>
            <a:off x="3657600" y="5669280"/>
            <a:ext cx="210312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8B8FA3"/>
                </a:solidFill>
              </a:rPr>
              <a:t>Platforms w/ crypto AI evidence</a:t>
            </a:r>
            <a:endParaRPr lang="en-US" sz="900" dirty="0"/>
          </a:p>
        </p:txBody>
      </p:sp>
      <p:sp>
        <p:nvSpPr>
          <p:cNvPr id="12" name="Shape 10"/>
          <p:cNvSpPr/>
          <p:nvPr/>
        </p:nvSpPr>
        <p:spPr>
          <a:xfrm>
            <a:off x="6217920" y="5029200"/>
            <a:ext cx="2468880" cy="1097280"/>
          </a:xfrm>
          <a:prstGeom prst="roundRect">
            <a:avLst>
              <a:gd name="adj" fmla="val 8333"/>
            </a:avLst>
          </a:prstGeom>
          <a:solidFill>
            <a:srgbClr val="141825"/>
          </a:solidFill>
          <a:ln/>
        </p:spPr>
      </p:sp>
      <p:sp>
        <p:nvSpPr>
          <p:cNvPr id="13" name="Text 11"/>
          <p:cNvSpPr/>
          <p:nvPr/>
        </p:nvSpPr>
        <p:spPr>
          <a:xfrm>
            <a:off x="6217920" y="5120640"/>
            <a:ext cx="246888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400" b="1" dirty="0">
                <a:solidFill>
                  <a:srgbClr val="D4AF37"/>
                </a:solidFill>
              </a:rPr>
              <a:t>2025</a:t>
            </a:r>
            <a:endParaRPr lang="en-US" sz="2400" dirty="0"/>
          </a:p>
        </p:txBody>
      </p:sp>
      <p:sp>
        <p:nvSpPr>
          <p:cNvPr id="14" name="Text 12"/>
          <p:cNvSpPr/>
          <p:nvPr/>
        </p:nvSpPr>
        <p:spPr>
          <a:xfrm>
            <a:off x="6400800" y="5669280"/>
            <a:ext cx="210312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8B8FA3"/>
                </a:solidFill>
              </a:rPr>
              <a:t>EU AI Act high-risk in effect</a:t>
            </a:r>
            <a:endParaRPr lang="en-US" sz="900" dirty="0"/>
          </a:p>
        </p:txBody>
      </p:sp>
      <p:sp>
        <p:nvSpPr>
          <p:cNvPr id="15" name="Shape 13"/>
          <p:cNvSpPr/>
          <p:nvPr/>
        </p:nvSpPr>
        <p:spPr>
          <a:xfrm>
            <a:off x="8961120" y="5029200"/>
            <a:ext cx="2468880" cy="1097280"/>
          </a:xfrm>
          <a:prstGeom prst="roundRect">
            <a:avLst>
              <a:gd name="adj" fmla="val 8333"/>
            </a:avLst>
          </a:prstGeom>
          <a:solidFill>
            <a:srgbClr val="141825"/>
          </a:solidFill>
          <a:ln/>
        </p:spPr>
      </p:sp>
      <p:sp>
        <p:nvSpPr>
          <p:cNvPr id="16" name="Text 14"/>
          <p:cNvSpPr/>
          <p:nvPr/>
        </p:nvSpPr>
        <p:spPr>
          <a:xfrm>
            <a:off x="8961120" y="5120640"/>
            <a:ext cx="246888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400" b="1" dirty="0">
                <a:solidFill>
                  <a:srgbClr val="D4AF37"/>
                </a:solidFill>
              </a:rPr>
              <a:t>85%</a:t>
            </a:r>
            <a:endParaRPr lang="en-US" sz="2400" dirty="0"/>
          </a:p>
        </p:txBody>
      </p:sp>
      <p:sp>
        <p:nvSpPr>
          <p:cNvPr id="17" name="Text 15"/>
          <p:cNvSpPr/>
          <p:nvPr/>
        </p:nvSpPr>
        <p:spPr>
          <a:xfrm>
            <a:off x="9144000" y="5669280"/>
            <a:ext cx="210312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8B8FA3"/>
                </a:solidFill>
              </a:rPr>
              <a:t>Fortune 500 deploying AI</a:t>
            </a:r>
            <a:endParaRPr lang="en-US" sz="900" dirty="0"/>
          </a:p>
        </p:txBody>
      </p:sp>
      <p:sp>
        <p:nvSpPr>
          <p:cNvPr id="18" name="Text 16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19" name="Text 17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731520" y="9144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THE SOLUTION</a:t>
            </a:r>
            <a:endParaRPr lang="en-US" sz="1100" dirty="0"/>
          </a:p>
        </p:txBody>
      </p:sp>
      <p:sp>
        <p:nvSpPr>
          <p:cNvPr id="4" name="Text 2"/>
          <p:cNvSpPr/>
          <p:nvPr/>
        </p:nvSpPr>
        <p:spPr>
          <a:xfrm>
            <a:off x="731520" y="1371600"/>
            <a:ext cx="100584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FFFFFF"/>
                </a:solidFill>
              </a:rPr>
              <a:t>Multi-Agent Deliberation with Cryptographic Evidence</a:t>
            </a:r>
            <a:endParaRPr lang="en-US" sz="2200" dirty="0"/>
          </a:p>
        </p:txBody>
      </p:sp>
      <p:sp>
        <p:nvSpPr>
          <p:cNvPr id="5" name="Text 3"/>
          <p:cNvSpPr/>
          <p:nvPr/>
        </p:nvSpPr>
        <p:spPr>
          <a:xfrm>
            <a:off x="731520" y="2194560"/>
            <a:ext cx="5029200" cy="32004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Multi-agent deliberation with role-specific AI agents (CFO, CISO, Legal, Strategy, Risk, and more)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Cryptographic decision evidence — Ed25519 signatures, Merkle trees, RFC 3161 timestamps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Sovereign deployment — Cloud, Private Cloud, On-Premises, and Air-Gapped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EU AI Act, DORA, GDPR, HIPAA compliance mapping across 23 jurisdictions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Zero-copy data architecture — data never leaves customer infrastructure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Open-source core (Apache 2.0) with enterprise features</a:t>
            </a:r>
            <a:endParaRPr lang="en-US" sz="1100" dirty="0"/>
          </a:p>
        </p:txBody>
      </p:sp>
      <p:sp>
        <p:nvSpPr>
          <p:cNvPr id="6" name="Shape 4"/>
          <p:cNvSpPr/>
          <p:nvPr/>
        </p:nvSpPr>
        <p:spPr>
          <a:xfrm>
            <a:off x="6400800" y="2194560"/>
            <a:ext cx="5029200" cy="1371600"/>
          </a:xfrm>
          <a:prstGeom prst="roundRect">
            <a:avLst>
              <a:gd name="adj" fmla="val 6667"/>
            </a:avLst>
          </a:prstGeom>
          <a:solidFill>
            <a:srgbClr val="141825"/>
          </a:solidFill>
          <a:ln/>
        </p:spPr>
      </p:sp>
      <p:sp>
        <p:nvSpPr>
          <p:cNvPr id="7" name="Text 5"/>
          <p:cNvSpPr/>
          <p:nvPr/>
        </p:nvSpPr>
        <p:spPr>
          <a:xfrm>
            <a:off x="6675120" y="2377440"/>
            <a:ext cx="45720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D4AF37"/>
                </a:solidFill>
              </a:rPr>
              <a:t>Key Angle for Point Nine Capital</a:t>
            </a:r>
            <a:endParaRPr lang="en-US" sz="1300" dirty="0"/>
          </a:p>
        </p:txBody>
      </p:sp>
      <p:sp>
        <p:nvSpPr>
          <p:cNvPr id="8" name="Text 6"/>
          <p:cNvSpPr/>
          <p:nvPr/>
        </p:nvSpPr>
        <p:spPr>
          <a:xfrm>
            <a:off x="6675120" y="2834640"/>
            <a:ext cx="4389120" cy="6400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400" b="1" dirty="0">
                <a:solidFill>
                  <a:srgbClr val="FFFFFF"/>
                </a:solidFill>
              </a:rPr>
              <a:t>SaaS metrics that exceed the bar</a:t>
            </a:r>
            <a:endParaRPr lang="en-US" sz="1400" dirty="0"/>
          </a:p>
        </p:txBody>
      </p:sp>
      <p:sp>
        <p:nvSpPr>
          <p:cNvPr id="9" name="Shape 7"/>
          <p:cNvSpPr/>
          <p:nvPr/>
        </p:nvSpPr>
        <p:spPr>
          <a:xfrm>
            <a:off x="6400800" y="3749040"/>
            <a:ext cx="5029200" cy="731520"/>
          </a:xfrm>
          <a:prstGeom prst="roundRect">
            <a:avLst>
              <a:gd name="adj" fmla="val 12500"/>
            </a:avLst>
          </a:prstGeom>
          <a:solidFill>
            <a:srgbClr val="141825"/>
          </a:solidFill>
          <a:ln/>
        </p:spPr>
      </p:sp>
      <p:sp>
        <p:nvSpPr>
          <p:cNvPr id="10" name="Text 8"/>
          <p:cNvSpPr/>
          <p:nvPr/>
        </p:nvSpPr>
        <p:spPr>
          <a:xfrm>
            <a:off x="6675120" y="3749040"/>
            <a:ext cx="457200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8B8FA3"/>
                </a:solidFill>
              </a:rPr>
              <a:t>Sector: B2B SaaS</a:t>
            </a:r>
            <a:endParaRPr lang="en-US" sz="1200" dirty="0"/>
          </a:p>
        </p:txBody>
      </p:sp>
      <p:sp>
        <p:nvSpPr>
          <p:cNvPr id="11" name="Shape 9"/>
          <p:cNvSpPr/>
          <p:nvPr/>
        </p:nvSpPr>
        <p:spPr>
          <a:xfrm>
            <a:off x="6400800" y="4663440"/>
            <a:ext cx="5029200" cy="1371600"/>
          </a:xfrm>
          <a:prstGeom prst="roundRect">
            <a:avLst>
              <a:gd name="adj" fmla="val 6667"/>
            </a:avLst>
          </a:prstGeom>
          <a:solidFill>
            <a:srgbClr val="141825"/>
          </a:solidFill>
          <a:ln/>
        </p:spPr>
      </p:sp>
      <p:sp>
        <p:nvSpPr>
          <p:cNvPr id="12" name="Text 10"/>
          <p:cNvSpPr/>
          <p:nvPr/>
        </p:nvSpPr>
        <p:spPr>
          <a:xfrm>
            <a:off x="6675120" y="4846320"/>
            <a:ext cx="45720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D4AF37"/>
                </a:solidFill>
              </a:rPr>
              <a:t>90-Day Guarantee</a:t>
            </a:r>
            <a:endParaRPr lang="en-US" sz="1300" dirty="0"/>
          </a:p>
        </p:txBody>
      </p:sp>
      <p:sp>
        <p:nvSpPr>
          <p:cNvPr id="13" name="Text 11"/>
          <p:cNvSpPr/>
          <p:nvPr/>
        </p:nvSpPr>
        <p:spPr>
          <a:xfrm>
            <a:off x="6675120" y="5212080"/>
            <a:ext cx="4389120" cy="7315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40000"/>
              </a:lnSpc>
              <a:buNone/>
            </a:pPr>
            <a:r>
              <a:rPr lang="en-US" sz="1000" dirty="0">
                <a:solidFill>
                  <a:srgbClr val="8B8FA3"/>
                </a:solidFill>
              </a:rPr>
              <a:t>Deploy Datacendia for 90 days on a single strategic problem. If the Council doesn't identify at least 3 critical risks you missed, we refund the pilot fee.</a:t>
            </a:r>
            <a:endParaRPr lang="en-US" sz="1000" dirty="0"/>
          </a:p>
        </p:txBody>
      </p:sp>
      <p:sp>
        <p:nvSpPr>
          <p:cNvPr id="14" name="Text 12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15" name="Text 13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731520" y="9144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PLATFORM PROOF</a:t>
            </a:r>
            <a:endParaRPr lang="en-US" sz="1100" dirty="0"/>
          </a:p>
        </p:txBody>
      </p:sp>
      <p:sp>
        <p:nvSpPr>
          <p:cNvPr id="4" name="Text 2"/>
          <p:cNvSpPr/>
          <p:nvPr/>
        </p:nvSpPr>
        <p:spPr>
          <a:xfrm>
            <a:off x="731520" y="1371600"/>
            <a:ext cx="100584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FFFFFF"/>
                </a:solidFill>
              </a:rPr>
              <a:t>This Is Not a Pitch — It’s a Live Platform</a:t>
            </a:r>
            <a:endParaRPr lang="en-US" sz="2400" dirty="0"/>
          </a:p>
        </p:txBody>
      </p:sp>
      <p:sp>
        <p:nvSpPr>
          <p:cNvPr id="5" name="Shape 3"/>
          <p:cNvSpPr/>
          <p:nvPr/>
        </p:nvSpPr>
        <p:spPr>
          <a:xfrm>
            <a:off x="731520" y="2286000"/>
            <a:ext cx="2011680" cy="1371600"/>
          </a:xfrm>
          <a:prstGeom prst="roundRect">
            <a:avLst>
              <a:gd name="adj" fmla="val 6667"/>
            </a:avLst>
          </a:prstGeom>
          <a:solidFill>
            <a:srgbClr val="141825"/>
          </a:solidFill>
          <a:ln/>
        </p:spPr>
      </p:sp>
      <p:sp>
        <p:nvSpPr>
          <p:cNvPr id="6" name="Text 4"/>
          <p:cNvSpPr/>
          <p:nvPr/>
        </p:nvSpPr>
        <p:spPr>
          <a:xfrm>
            <a:off x="731520" y="2377440"/>
            <a:ext cx="201168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D4AF37"/>
                </a:solidFill>
              </a:rPr>
              <a:t>205K+</a:t>
            </a:r>
            <a:endParaRPr lang="en-US" sz="2800" dirty="0"/>
          </a:p>
        </p:txBody>
      </p:sp>
      <p:sp>
        <p:nvSpPr>
          <p:cNvPr id="7" name="Text 5"/>
          <p:cNvSpPr/>
          <p:nvPr/>
        </p:nvSpPr>
        <p:spPr>
          <a:xfrm>
            <a:off x="914400" y="3108960"/>
            <a:ext cx="16459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8B8FA3"/>
                </a:solidFill>
              </a:rPr>
              <a:t>Passing Tests</a:t>
            </a:r>
            <a:endParaRPr lang="en-US" sz="1000" dirty="0"/>
          </a:p>
        </p:txBody>
      </p:sp>
      <p:sp>
        <p:nvSpPr>
          <p:cNvPr id="8" name="Shape 6"/>
          <p:cNvSpPr/>
          <p:nvPr/>
        </p:nvSpPr>
        <p:spPr>
          <a:xfrm>
            <a:off x="2926080" y="2286000"/>
            <a:ext cx="2011680" cy="1371600"/>
          </a:xfrm>
          <a:prstGeom prst="roundRect">
            <a:avLst>
              <a:gd name="adj" fmla="val 6667"/>
            </a:avLst>
          </a:prstGeom>
          <a:solidFill>
            <a:srgbClr val="141825"/>
          </a:solidFill>
          <a:ln/>
        </p:spPr>
      </p:sp>
      <p:sp>
        <p:nvSpPr>
          <p:cNvPr id="9" name="Text 7"/>
          <p:cNvSpPr/>
          <p:nvPr/>
        </p:nvSpPr>
        <p:spPr>
          <a:xfrm>
            <a:off x="2926080" y="2377440"/>
            <a:ext cx="201168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D4AF37"/>
                </a:solidFill>
              </a:rPr>
              <a:t>156</a:t>
            </a:r>
            <a:endParaRPr lang="en-US" sz="2800" dirty="0"/>
          </a:p>
        </p:txBody>
      </p:sp>
      <p:sp>
        <p:nvSpPr>
          <p:cNvPr id="10" name="Text 8"/>
          <p:cNvSpPr/>
          <p:nvPr/>
        </p:nvSpPr>
        <p:spPr>
          <a:xfrm>
            <a:off x="3108960" y="3108960"/>
            <a:ext cx="16459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8B8FA3"/>
                </a:solidFill>
              </a:rPr>
              <a:t>Validated API Endpoints</a:t>
            </a:r>
            <a:endParaRPr lang="en-US" sz="1000" dirty="0"/>
          </a:p>
        </p:txBody>
      </p:sp>
      <p:sp>
        <p:nvSpPr>
          <p:cNvPr id="11" name="Shape 9"/>
          <p:cNvSpPr/>
          <p:nvPr/>
        </p:nvSpPr>
        <p:spPr>
          <a:xfrm>
            <a:off x="5120640" y="2286000"/>
            <a:ext cx="2011680" cy="1371600"/>
          </a:xfrm>
          <a:prstGeom prst="roundRect">
            <a:avLst>
              <a:gd name="adj" fmla="val 6667"/>
            </a:avLst>
          </a:prstGeom>
          <a:solidFill>
            <a:srgbClr val="141825"/>
          </a:solidFill>
          <a:ln/>
        </p:spPr>
      </p:sp>
      <p:sp>
        <p:nvSpPr>
          <p:cNvPr id="12" name="Text 10"/>
          <p:cNvSpPr/>
          <p:nvPr/>
        </p:nvSpPr>
        <p:spPr>
          <a:xfrm>
            <a:off x="5120640" y="2377440"/>
            <a:ext cx="201168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D4AF37"/>
                </a:solidFill>
              </a:rPr>
              <a:t>50+</a:t>
            </a:r>
            <a:endParaRPr lang="en-US" sz="2800" dirty="0"/>
          </a:p>
        </p:txBody>
      </p:sp>
      <p:sp>
        <p:nvSpPr>
          <p:cNvPr id="13" name="Text 11"/>
          <p:cNvSpPr/>
          <p:nvPr/>
        </p:nvSpPr>
        <p:spPr>
          <a:xfrm>
            <a:off x="5303520" y="3108960"/>
            <a:ext cx="16459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8B8FA3"/>
                </a:solidFill>
              </a:rPr>
              <a:t>Agent Presets</a:t>
            </a:r>
            <a:endParaRPr lang="en-US" sz="1000" dirty="0"/>
          </a:p>
        </p:txBody>
      </p:sp>
      <p:sp>
        <p:nvSpPr>
          <p:cNvPr id="14" name="Shape 12"/>
          <p:cNvSpPr/>
          <p:nvPr/>
        </p:nvSpPr>
        <p:spPr>
          <a:xfrm>
            <a:off x="7315200" y="2286000"/>
            <a:ext cx="2011680" cy="1371600"/>
          </a:xfrm>
          <a:prstGeom prst="roundRect">
            <a:avLst>
              <a:gd name="adj" fmla="val 6667"/>
            </a:avLst>
          </a:prstGeom>
          <a:solidFill>
            <a:srgbClr val="141825"/>
          </a:solidFill>
          <a:ln/>
        </p:spPr>
      </p:sp>
      <p:sp>
        <p:nvSpPr>
          <p:cNvPr id="15" name="Text 13"/>
          <p:cNvSpPr/>
          <p:nvPr/>
        </p:nvSpPr>
        <p:spPr>
          <a:xfrm>
            <a:off x="7315200" y="2377440"/>
            <a:ext cx="201168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D4AF37"/>
                </a:solidFill>
              </a:rPr>
              <a:t>23</a:t>
            </a:r>
            <a:endParaRPr lang="en-US" sz="2800" dirty="0"/>
          </a:p>
        </p:txBody>
      </p:sp>
      <p:sp>
        <p:nvSpPr>
          <p:cNvPr id="16" name="Text 14"/>
          <p:cNvSpPr/>
          <p:nvPr/>
        </p:nvSpPr>
        <p:spPr>
          <a:xfrm>
            <a:off x="7498080" y="3108960"/>
            <a:ext cx="16459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8B8FA3"/>
                </a:solidFill>
              </a:rPr>
              <a:t>Jurisdictions Covered</a:t>
            </a:r>
            <a:endParaRPr lang="en-US" sz="1000" dirty="0"/>
          </a:p>
        </p:txBody>
      </p:sp>
      <p:sp>
        <p:nvSpPr>
          <p:cNvPr id="17" name="Shape 15"/>
          <p:cNvSpPr/>
          <p:nvPr/>
        </p:nvSpPr>
        <p:spPr>
          <a:xfrm>
            <a:off x="9509760" y="2286000"/>
            <a:ext cx="2011680" cy="1371600"/>
          </a:xfrm>
          <a:prstGeom prst="roundRect">
            <a:avLst>
              <a:gd name="adj" fmla="val 6667"/>
            </a:avLst>
          </a:prstGeom>
          <a:solidFill>
            <a:srgbClr val="141825"/>
          </a:solidFill>
          <a:ln/>
        </p:spPr>
      </p:sp>
      <p:sp>
        <p:nvSpPr>
          <p:cNvPr id="18" name="Text 16"/>
          <p:cNvSpPr/>
          <p:nvPr/>
        </p:nvSpPr>
        <p:spPr>
          <a:xfrm>
            <a:off x="9509760" y="2377440"/>
            <a:ext cx="201168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D4AF37"/>
                </a:solidFill>
              </a:rPr>
              <a:t>4</a:t>
            </a:r>
            <a:endParaRPr lang="en-US" sz="2800" dirty="0"/>
          </a:p>
        </p:txBody>
      </p:sp>
      <p:sp>
        <p:nvSpPr>
          <p:cNvPr id="19" name="Text 17"/>
          <p:cNvSpPr/>
          <p:nvPr/>
        </p:nvSpPr>
        <p:spPr>
          <a:xfrm>
            <a:off x="9692640" y="3108960"/>
            <a:ext cx="16459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8B8FA3"/>
                </a:solidFill>
              </a:rPr>
              <a:t>Deployment Modes</a:t>
            </a:r>
            <a:endParaRPr lang="en-US" sz="1000" dirty="0"/>
          </a:p>
        </p:txBody>
      </p:sp>
      <p:sp>
        <p:nvSpPr>
          <p:cNvPr id="20" name="Shape 18"/>
          <p:cNvSpPr/>
          <p:nvPr/>
        </p:nvSpPr>
        <p:spPr>
          <a:xfrm>
            <a:off x="731520" y="4114800"/>
            <a:ext cx="5029200" cy="1828800"/>
          </a:xfrm>
          <a:prstGeom prst="roundRect">
            <a:avLst>
              <a:gd name="adj" fmla="val 5000"/>
            </a:avLst>
          </a:prstGeom>
          <a:solidFill>
            <a:srgbClr val="141825"/>
          </a:solidFill>
          <a:ln/>
        </p:spPr>
      </p:sp>
      <p:sp>
        <p:nvSpPr>
          <p:cNvPr id="21" name="Text 19"/>
          <p:cNvSpPr/>
          <p:nvPr/>
        </p:nvSpPr>
        <p:spPr>
          <a:xfrm>
            <a:off x="1005840" y="4297680"/>
            <a:ext cx="45720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D4AF37"/>
                </a:solidFill>
              </a:rPr>
              <a:t>Live Demo</a:t>
            </a:r>
            <a:endParaRPr lang="en-US" sz="1300" dirty="0"/>
          </a:p>
        </p:txBody>
      </p:sp>
      <p:sp>
        <p:nvSpPr>
          <p:cNvPr id="22" name="Text 20"/>
          <p:cNvSpPr/>
          <p:nvPr/>
        </p:nvSpPr>
        <p:spPr>
          <a:xfrm>
            <a:off x="1005840" y="4663440"/>
            <a:ext cx="4389120" cy="10972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5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Production platform at app.datacendia.com</a:t>
            </a:r>
            <a:endParaRPr lang="en-US" sz="1100" dirty="0"/>
          </a:p>
          <a:p>
            <a:pPr indent="0" marL="0">
              <a:lnSpc>
                <a:spcPct val="15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Multi-agent deliberation, decision audit trails, compliance dashboards, AI governance gateway — all live.</a:t>
            </a:r>
            <a:endParaRPr lang="en-US" sz="1100" dirty="0"/>
          </a:p>
        </p:txBody>
      </p:sp>
      <p:sp>
        <p:nvSpPr>
          <p:cNvPr id="23" name="Shape 21"/>
          <p:cNvSpPr/>
          <p:nvPr/>
        </p:nvSpPr>
        <p:spPr>
          <a:xfrm>
            <a:off x="6400800" y="4114800"/>
            <a:ext cx="5029200" cy="1828800"/>
          </a:xfrm>
          <a:prstGeom prst="roundRect">
            <a:avLst>
              <a:gd name="adj" fmla="val 5000"/>
            </a:avLst>
          </a:prstGeom>
          <a:solidFill>
            <a:srgbClr val="141825"/>
          </a:solidFill>
          <a:ln/>
        </p:spPr>
      </p:sp>
      <p:sp>
        <p:nvSpPr>
          <p:cNvPr id="24" name="Text 22"/>
          <p:cNvSpPr/>
          <p:nvPr/>
        </p:nvSpPr>
        <p:spPr>
          <a:xfrm>
            <a:off x="6675120" y="4297680"/>
            <a:ext cx="45720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D4AF37"/>
                </a:solidFill>
              </a:rPr>
              <a:t>NVIDIA Inception Member</a:t>
            </a:r>
            <a:endParaRPr lang="en-US" sz="1300" dirty="0"/>
          </a:p>
        </p:txBody>
      </p:sp>
      <p:sp>
        <p:nvSpPr>
          <p:cNvPr id="25" name="Text 23"/>
          <p:cNvSpPr/>
          <p:nvPr/>
        </p:nvSpPr>
        <p:spPr>
          <a:xfrm>
            <a:off x="6675120" y="4663440"/>
            <a:ext cx="4389120" cy="10972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5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Accepted into NVIDIA’s elite startup program.</a:t>
            </a:r>
            <a:endParaRPr lang="en-US" sz="1100" dirty="0"/>
          </a:p>
          <a:p>
            <a:pPr indent="0" marL="0">
              <a:lnSpc>
                <a:spcPct val="15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DGX Cloud access, technical mentorship, and co-marketing opportunities.</a:t>
            </a:r>
            <a:endParaRPr lang="en-US" sz="1100" dirty="0"/>
          </a:p>
        </p:txBody>
      </p:sp>
      <p:sp>
        <p:nvSpPr>
          <p:cNvPr id="26" name="Text 24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27" name="Text 25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8229600" y="27432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PLATFORM PROOF</a:t>
            </a:r>
            <a:endParaRPr lang="en-US" sz="800" dirty="0"/>
          </a:p>
        </p:txBody>
      </p:sp>
      <p:sp>
        <p:nvSpPr>
          <p:cNvPr id="4" name="Text 2"/>
          <p:cNvSpPr/>
          <p:nvPr/>
        </p:nvSpPr>
        <p:spPr>
          <a:xfrm>
            <a:off x="731520" y="1097280"/>
            <a:ext cx="41148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MULTI-AGENT DECISION ENGINE</a:t>
            </a:r>
            <a:endParaRPr lang="en-US" sz="1100" dirty="0"/>
          </a:p>
        </p:txBody>
      </p:sp>
      <p:sp>
        <p:nvSpPr>
          <p:cNvPr id="5" name="Text 3"/>
          <p:cNvSpPr/>
          <p:nvPr/>
        </p:nvSpPr>
        <p:spPr>
          <a:xfrm>
            <a:off x="731520" y="1554480"/>
            <a:ext cx="4114800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FFFFFF"/>
                </a:solidFill>
              </a:rPr>
              <a:t>Decisions Made by Specialized AI Agents</a:t>
            </a:r>
            <a:endParaRPr lang="en-US" sz="2000" dirty="0"/>
          </a:p>
        </p:txBody>
      </p:sp>
      <p:sp>
        <p:nvSpPr>
          <p:cNvPr id="6" name="Text 4"/>
          <p:cNvSpPr/>
          <p:nvPr/>
        </p:nvSpPr>
        <p:spPr>
          <a:xfrm>
            <a:off x="731520" y="2743200"/>
            <a:ext cx="4114800" cy="32004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Role-specific agents: CFO, CISO, Legal, Strategy, Risk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Confidence scores and reasoning — dissent preserved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War Room, Governed, and Quick Brief modes</a:t>
            </a:r>
            <a:endParaRPr lang="en-US" sz="1100" dirty="0"/>
          </a:p>
        </p:txBody>
      </p:sp>
      <p:pic>
        <p:nvPicPr>
          <p:cNvPr id="7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303520" y="1097280"/>
            <a:ext cx="6400800" cy="4846320"/>
          </a:xfrm>
          <a:prstGeom prst="rect">
            <a:avLst/>
          </a:prstGeom>
        </p:spPr>
      </p:pic>
      <p:sp>
        <p:nvSpPr>
          <p:cNvPr id="8" name="Text 5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9" name="Text 6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8229600" y="27432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PLATFORM PROOF</a:t>
            </a:r>
            <a:endParaRPr lang="en-US" sz="800" dirty="0"/>
          </a:p>
        </p:txBody>
      </p:sp>
      <p:sp>
        <p:nvSpPr>
          <p:cNvPr id="4" name="Text 2"/>
          <p:cNvSpPr/>
          <p:nvPr/>
        </p:nvSpPr>
        <p:spPr>
          <a:xfrm>
            <a:off x="731520" y="1097280"/>
            <a:ext cx="41148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DECISION AUDIT TRAIL</a:t>
            </a:r>
            <a:endParaRPr lang="en-US" sz="1100" dirty="0"/>
          </a:p>
        </p:txBody>
      </p:sp>
      <p:sp>
        <p:nvSpPr>
          <p:cNvPr id="5" name="Text 3"/>
          <p:cNvSpPr/>
          <p:nvPr/>
        </p:nvSpPr>
        <p:spPr>
          <a:xfrm>
            <a:off x="731520" y="1554480"/>
            <a:ext cx="4114800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FFFFFF"/>
                </a:solidFill>
              </a:rPr>
              <a:t>Every Decision Tracked with Full Evidence Chain</a:t>
            </a:r>
            <a:endParaRPr lang="en-US" sz="2000" dirty="0"/>
          </a:p>
        </p:txBody>
      </p:sp>
      <p:sp>
        <p:nvSpPr>
          <p:cNvPr id="6" name="Text 4"/>
          <p:cNvSpPr/>
          <p:nvPr/>
        </p:nvSpPr>
        <p:spPr>
          <a:xfrm>
            <a:off x="731520" y="2743200"/>
            <a:ext cx="4114800" cy="32004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Complete searchable decision history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Full deliberation records linked to each decision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Trace any decision back to evidence in seconds</a:t>
            </a:r>
            <a:endParaRPr lang="en-US" sz="1100" dirty="0"/>
          </a:p>
        </p:txBody>
      </p:sp>
      <p:pic>
        <p:nvPicPr>
          <p:cNvPr id="7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303520" y="1097280"/>
            <a:ext cx="6400800" cy="4846320"/>
          </a:xfrm>
          <a:prstGeom prst="rect">
            <a:avLst/>
          </a:prstGeom>
        </p:spPr>
      </p:pic>
      <p:sp>
        <p:nvSpPr>
          <p:cNvPr id="8" name="Text 5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9" name="Text 6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731520" y="9144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FOUNDER</a:t>
            </a:r>
            <a:endParaRPr lang="en-US" sz="1100" dirty="0"/>
          </a:p>
        </p:txBody>
      </p:sp>
      <p:sp>
        <p:nvSpPr>
          <p:cNvPr id="4" name="Text 2"/>
          <p:cNvSpPr/>
          <p:nvPr/>
        </p:nvSpPr>
        <p:spPr>
          <a:xfrm>
            <a:off x="731520" y="1371600"/>
            <a:ext cx="100584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FFFFFF"/>
                </a:solidFill>
              </a:rPr>
              <a:t>Stuart Rainey — Founder &amp; CEO</a:t>
            </a:r>
            <a:endParaRPr lang="en-US" sz="2400" dirty="0"/>
          </a:p>
        </p:txBody>
      </p:sp>
      <p:sp>
        <p:nvSpPr>
          <p:cNvPr id="5" name="Text 3"/>
          <p:cNvSpPr/>
          <p:nvPr/>
        </p:nvSpPr>
        <p:spPr>
          <a:xfrm>
            <a:off x="731520" y="2194560"/>
            <a:ext cx="5029200" cy="27432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200" dirty="0">
                <a:solidFill>
                  <a:srgbClr val="8B8FA3"/>
                </a:solidFill>
              </a:rPr>
              <a:t>7 years as Senior Data Analyst at TCS, embedded with PGIM Fixed Income ($800B+ AUM)</a:t>
            </a:r>
            <a:endParaRPr lang="en-US" sz="12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200" dirty="0">
                <a:solidFill>
                  <a:srgbClr val="8B8FA3"/>
                </a:solidFill>
              </a:rPr>
              <a:t>Built data infrastructure for regulated investment decisions at institutional scale</a:t>
            </a:r>
            <a:endParaRPr lang="en-US" sz="12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200" dirty="0">
                <a:solidFill>
                  <a:srgbClr val="8B8FA3"/>
                </a:solidFill>
              </a:rPr>
              <a:t>M.S. in Big Data Analytics</a:t>
            </a:r>
            <a:endParaRPr lang="en-US" sz="12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200" dirty="0">
                <a:solidFill>
                  <a:srgbClr val="8B8FA3"/>
                </a:solidFill>
              </a:rPr>
              <a:t>Author of the DDGI framework — ISO/IEC JTC 1/SC 42 standards track</a:t>
            </a:r>
            <a:endParaRPr lang="en-US" sz="12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200" dirty="0">
                <a:solidFill>
                  <a:srgbClr val="8B8FA3"/>
                </a:solidFill>
              </a:rPr>
              <a:t>NVIDIA Inception member</a:t>
            </a:r>
            <a:endParaRPr lang="en-US" sz="1200" dirty="0"/>
          </a:p>
        </p:txBody>
      </p:sp>
      <p:sp>
        <p:nvSpPr>
          <p:cNvPr id="6" name="Shape 4"/>
          <p:cNvSpPr/>
          <p:nvPr/>
        </p:nvSpPr>
        <p:spPr>
          <a:xfrm>
            <a:off x="6400800" y="2194560"/>
            <a:ext cx="5029200" cy="2286000"/>
          </a:xfrm>
          <a:prstGeom prst="roundRect">
            <a:avLst>
              <a:gd name="adj" fmla="val 4000"/>
            </a:avLst>
          </a:prstGeom>
          <a:solidFill>
            <a:srgbClr val="141825"/>
          </a:solidFill>
          <a:ln/>
        </p:spPr>
      </p:sp>
      <p:sp>
        <p:nvSpPr>
          <p:cNvPr id="7" name="Text 5"/>
          <p:cNvSpPr/>
          <p:nvPr/>
        </p:nvSpPr>
        <p:spPr>
          <a:xfrm>
            <a:off x="6675120" y="2377440"/>
            <a:ext cx="45720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D4AF37"/>
                </a:solidFill>
              </a:rPr>
              <a:t>Why This Founder</a:t>
            </a:r>
            <a:endParaRPr lang="en-US" sz="1400" dirty="0"/>
          </a:p>
        </p:txBody>
      </p:sp>
      <p:sp>
        <p:nvSpPr>
          <p:cNvPr id="8" name="Text 6"/>
          <p:cNvSpPr/>
          <p:nvPr/>
        </p:nvSpPr>
        <p:spPr>
          <a:xfrm>
            <a:off x="6675120" y="2926080"/>
            <a:ext cx="4389120" cy="13716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50000"/>
              </a:lnSpc>
              <a:buNone/>
            </a:pPr>
            <a:r>
              <a:rPr lang="en-US" sz="1200" dirty="0">
                <a:solidFill>
                  <a:srgbClr val="8B8FA3"/>
                </a:solidFill>
              </a:rPr>
              <a:t>Built the exact data infrastructure that financial institutions need for AI governance — at one of the world's largest asset managers.</a:t>
            </a:r>
            <a:endParaRPr lang="en-US" sz="1200" dirty="0"/>
          </a:p>
        </p:txBody>
      </p:sp>
      <p:sp>
        <p:nvSpPr>
          <p:cNvPr id="9" name="Text 7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10" name="Text 8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731520" y="9144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THE ASK</a:t>
            </a:r>
            <a:endParaRPr lang="en-US" sz="1100" dirty="0"/>
          </a:p>
        </p:txBody>
      </p:sp>
      <p:sp>
        <p:nvSpPr>
          <p:cNvPr id="4" name="Text 2"/>
          <p:cNvSpPr/>
          <p:nvPr/>
        </p:nvSpPr>
        <p:spPr>
          <a:xfrm>
            <a:off x="731520" y="1371600"/>
            <a:ext cx="100584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FFFFFF"/>
                </a:solidFill>
              </a:rPr>
              <a:t>$1.5M Pre-Seed — $7M Pre-Money Valuation</a:t>
            </a:r>
            <a:endParaRPr lang="en-US" sz="2400" dirty="0"/>
          </a:p>
        </p:txBody>
      </p:sp>
      <p:sp>
        <p:nvSpPr>
          <p:cNvPr id="5" name="Shape 3"/>
          <p:cNvSpPr/>
          <p:nvPr/>
        </p:nvSpPr>
        <p:spPr>
          <a:xfrm>
            <a:off x="731520" y="2286000"/>
            <a:ext cx="3291840" cy="2011680"/>
          </a:xfrm>
          <a:prstGeom prst="roundRect">
            <a:avLst>
              <a:gd name="adj" fmla="val 4545"/>
            </a:avLst>
          </a:prstGeom>
          <a:solidFill>
            <a:srgbClr val="141825"/>
          </a:solidFill>
          <a:ln/>
        </p:spPr>
      </p:sp>
      <p:sp>
        <p:nvSpPr>
          <p:cNvPr id="6" name="Text 4"/>
          <p:cNvSpPr/>
          <p:nvPr/>
        </p:nvSpPr>
        <p:spPr>
          <a:xfrm>
            <a:off x="1005840" y="2468880"/>
            <a:ext cx="27432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D4AF37"/>
                </a:solidFill>
              </a:rPr>
              <a:t>What's Built</a:t>
            </a:r>
            <a:endParaRPr lang="en-US" sz="1400" dirty="0"/>
          </a:p>
        </p:txBody>
      </p:sp>
      <p:sp>
        <p:nvSpPr>
          <p:cNvPr id="7" name="Text 5"/>
          <p:cNvSpPr/>
          <p:nvPr/>
        </p:nvSpPr>
        <p:spPr>
          <a:xfrm>
            <a:off x="1005840" y="2926080"/>
            <a:ext cx="2743200" cy="11887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4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205K+ passing tests. 156 validated API endpoints. Live production platform at app.datacendia.com.</a:t>
            </a:r>
            <a:endParaRPr lang="en-US" sz="1100" dirty="0"/>
          </a:p>
        </p:txBody>
      </p:sp>
      <p:sp>
        <p:nvSpPr>
          <p:cNvPr id="8" name="Shape 6"/>
          <p:cNvSpPr/>
          <p:nvPr/>
        </p:nvSpPr>
        <p:spPr>
          <a:xfrm>
            <a:off x="4389120" y="2286000"/>
            <a:ext cx="3291840" cy="2011680"/>
          </a:xfrm>
          <a:prstGeom prst="roundRect">
            <a:avLst>
              <a:gd name="adj" fmla="val 4545"/>
            </a:avLst>
          </a:prstGeom>
          <a:solidFill>
            <a:srgbClr val="141825"/>
          </a:solidFill>
          <a:ln/>
        </p:spPr>
      </p:sp>
      <p:sp>
        <p:nvSpPr>
          <p:cNvPr id="9" name="Text 7"/>
          <p:cNvSpPr/>
          <p:nvPr/>
        </p:nvSpPr>
        <p:spPr>
          <a:xfrm>
            <a:off x="4663440" y="2468880"/>
            <a:ext cx="27432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D4AF37"/>
                </a:solidFill>
              </a:rPr>
              <a:t>Traction</a:t>
            </a:r>
            <a:endParaRPr lang="en-US" sz="1400" dirty="0"/>
          </a:p>
        </p:txBody>
      </p:sp>
      <p:sp>
        <p:nvSpPr>
          <p:cNvPr id="10" name="Text 8"/>
          <p:cNvSpPr/>
          <p:nvPr/>
        </p:nvSpPr>
        <p:spPr>
          <a:xfrm>
            <a:off x="4663440" y="2926080"/>
            <a:ext cx="2743200" cy="11887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4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NVIDIA Inception member. Live production platform at app.datacendia.com. Open-core Apache 2.0 foundation.</a:t>
            </a:r>
            <a:endParaRPr lang="en-US" sz="1100" dirty="0"/>
          </a:p>
        </p:txBody>
      </p:sp>
      <p:sp>
        <p:nvSpPr>
          <p:cNvPr id="11" name="Shape 9"/>
          <p:cNvSpPr/>
          <p:nvPr/>
        </p:nvSpPr>
        <p:spPr>
          <a:xfrm>
            <a:off x="8046720" y="2286000"/>
            <a:ext cx="3291840" cy="2011680"/>
          </a:xfrm>
          <a:prstGeom prst="roundRect">
            <a:avLst>
              <a:gd name="adj" fmla="val 4545"/>
            </a:avLst>
          </a:prstGeom>
          <a:solidFill>
            <a:srgbClr val="141825"/>
          </a:solidFill>
          <a:ln/>
        </p:spPr>
      </p:sp>
      <p:sp>
        <p:nvSpPr>
          <p:cNvPr id="12" name="Text 10"/>
          <p:cNvSpPr/>
          <p:nvPr/>
        </p:nvSpPr>
        <p:spPr>
          <a:xfrm>
            <a:off x="8321040" y="2468880"/>
            <a:ext cx="27432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D4AF37"/>
                </a:solidFill>
              </a:rPr>
              <a:t>Use of Funds</a:t>
            </a:r>
            <a:endParaRPr lang="en-US" sz="1400" dirty="0"/>
          </a:p>
        </p:txBody>
      </p:sp>
      <p:sp>
        <p:nvSpPr>
          <p:cNvPr id="13" name="Text 11"/>
          <p:cNvSpPr/>
          <p:nvPr/>
        </p:nvSpPr>
        <p:spPr>
          <a:xfrm>
            <a:off x="8321040" y="2926080"/>
            <a:ext cx="2743200" cy="11887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4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First enterprise pilots, SOC 2 Type II certification, EU AI Act regulatory validation.</a:t>
            </a:r>
            <a:endParaRPr lang="en-US" sz="1100" dirty="0"/>
          </a:p>
        </p:txBody>
      </p:sp>
      <p:sp>
        <p:nvSpPr>
          <p:cNvPr id="14" name="Text 12"/>
          <p:cNvSpPr/>
          <p:nvPr/>
        </p:nvSpPr>
        <p:spPr>
          <a:xfrm>
            <a:off x="914400" y="4754880"/>
            <a:ext cx="100584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8B8FA3"/>
                </a:solidFill>
              </a:rPr>
              <a:t>$8.5M post-money · 21.5% dilution · Engineering risk resolved — GTM-stage investment.</a:t>
            </a:r>
            <a:endParaRPr lang="en-US" sz="1200" dirty="0"/>
          </a:p>
        </p:txBody>
      </p:sp>
      <p:sp>
        <p:nvSpPr>
          <p:cNvPr id="15" name="Text 13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16" name="Text 14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457200" y="1828800"/>
            <a:ext cx="109728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NEXT STEPS</a:t>
            </a:r>
            <a:endParaRPr lang="en-US" sz="1100" dirty="0"/>
          </a:p>
        </p:txBody>
      </p:sp>
      <p:sp>
        <p:nvSpPr>
          <p:cNvPr id="4" name="Text 2"/>
          <p:cNvSpPr/>
          <p:nvPr/>
        </p:nvSpPr>
        <p:spPr>
          <a:xfrm>
            <a:off x="457200" y="2286000"/>
            <a:ext cx="1097280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3600" b="1" dirty="0">
                <a:solidFill>
                  <a:srgbClr val="FFFFFF"/>
                </a:solidFill>
              </a:rPr>
              <a:t>Let’s Talk</a:t>
            </a:r>
            <a:endParaRPr lang="en-US" sz="3600" dirty="0"/>
          </a:p>
        </p:txBody>
      </p:sp>
      <p:sp>
        <p:nvSpPr>
          <p:cNvPr id="5" name="Text 3"/>
          <p:cNvSpPr/>
          <p:nvPr/>
        </p:nvSpPr>
        <p:spPr>
          <a:xfrm>
            <a:off x="1371600" y="3200400"/>
            <a:ext cx="91440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400" dirty="0">
                <a:solidFill>
                  <a:srgbClr val="8B8FA3"/>
                </a:solidFill>
              </a:rPr>
              <a:t>Personalized for Point Nine Capital — SaaS metrics that exceed the bar</a:t>
            </a:r>
            <a:endParaRPr lang="en-US" sz="1400" dirty="0"/>
          </a:p>
        </p:txBody>
      </p:sp>
      <p:sp>
        <p:nvSpPr>
          <p:cNvPr id="6" name="Shape 4"/>
          <p:cNvSpPr/>
          <p:nvPr/>
        </p:nvSpPr>
        <p:spPr>
          <a:xfrm>
            <a:off x="2286000" y="3931920"/>
            <a:ext cx="1828800" cy="457200"/>
          </a:xfrm>
          <a:prstGeom prst="roundRect">
            <a:avLst>
              <a:gd name="adj" fmla="val 10000"/>
            </a:avLst>
          </a:prstGeom>
          <a:solidFill>
            <a:srgbClr val="141825"/>
          </a:solidFill>
          <a:ln/>
        </p:spPr>
      </p:sp>
      <p:sp>
        <p:nvSpPr>
          <p:cNvPr id="7" name="Text 5"/>
          <p:cNvSpPr/>
          <p:nvPr/>
        </p:nvSpPr>
        <p:spPr>
          <a:xfrm>
            <a:off x="2286000" y="3931920"/>
            <a:ext cx="18288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D4AF37"/>
                </a:solidFill>
              </a:rPr>
              <a:t>Schedule Deep Dive</a:t>
            </a:r>
            <a:endParaRPr lang="en-US" sz="1100" dirty="0"/>
          </a:p>
        </p:txBody>
      </p:sp>
      <p:sp>
        <p:nvSpPr>
          <p:cNvPr id="8" name="Shape 6"/>
          <p:cNvSpPr/>
          <p:nvPr/>
        </p:nvSpPr>
        <p:spPr>
          <a:xfrm>
            <a:off x="4297680" y="3931920"/>
            <a:ext cx="1828800" cy="457200"/>
          </a:xfrm>
          <a:prstGeom prst="roundRect">
            <a:avLst>
              <a:gd name="adj" fmla="val 10000"/>
            </a:avLst>
          </a:prstGeom>
          <a:solidFill>
            <a:srgbClr val="141825"/>
          </a:solidFill>
          <a:ln/>
        </p:spPr>
      </p:sp>
      <p:sp>
        <p:nvSpPr>
          <p:cNvPr id="9" name="Text 7"/>
          <p:cNvSpPr/>
          <p:nvPr/>
        </p:nvSpPr>
        <p:spPr>
          <a:xfrm>
            <a:off x="4297680" y="3931920"/>
            <a:ext cx="18288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D4AF37"/>
                </a:solidFill>
              </a:rPr>
              <a:t>Technical Demo</a:t>
            </a:r>
            <a:endParaRPr lang="en-US" sz="1100" dirty="0"/>
          </a:p>
        </p:txBody>
      </p:sp>
      <p:sp>
        <p:nvSpPr>
          <p:cNvPr id="10" name="Shape 8"/>
          <p:cNvSpPr/>
          <p:nvPr/>
        </p:nvSpPr>
        <p:spPr>
          <a:xfrm>
            <a:off x="6309360" y="3931920"/>
            <a:ext cx="1828800" cy="457200"/>
          </a:xfrm>
          <a:prstGeom prst="roundRect">
            <a:avLst>
              <a:gd name="adj" fmla="val 10000"/>
            </a:avLst>
          </a:prstGeom>
          <a:solidFill>
            <a:srgbClr val="141825"/>
          </a:solidFill>
          <a:ln/>
        </p:spPr>
      </p:sp>
      <p:sp>
        <p:nvSpPr>
          <p:cNvPr id="11" name="Text 9"/>
          <p:cNvSpPr/>
          <p:nvPr/>
        </p:nvSpPr>
        <p:spPr>
          <a:xfrm>
            <a:off x="6309360" y="3931920"/>
            <a:ext cx="18288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D4AF37"/>
                </a:solidFill>
              </a:rPr>
              <a:t>Data Room Access</a:t>
            </a:r>
            <a:endParaRPr lang="en-US" sz="1100" dirty="0"/>
          </a:p>
        </p:txBody>
      </p:sp>
      <p:sp>
        <p:nvSpPr>
          <p:cNvPr id="12" name="Shape 10"/>
          <p:cNvSpPr/>
          <p:nvPr/>
        </p:nvSpPr>
        <p:spPr>
          <a:xfrm>
            <a:off x="8321040" y="3931920"/>
            <a:ext cx="1828800" cy="457200"/>
          </a:xfrm>
          <a:prstGeom prst="roundRect">
            <a:avLst>
              <a:gd name="adj" fmla="val 10000"/>
            </a:avLst>
          </a:prstGeom>
          <a:solidFill>
            <a:srgbClr val="D4AF37"/>
          </a:solidFill>
          <a:ln/>
        </p:spPr>
      </p:sp>
      <p:sp>
        <p:nvSpPr>
          <p:cNvPr id="13" name="Text 11"/>
          <p:cNvSpPr/>
          <p:nvPr/>
        </p:nvSpPr>
        <p:spPr>
          <a:xfrm>
            <a:off x="8321040" y="3931920"/>
            <a:ext cx="18288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0A0E1A"/>
                </a:solidFill>
              </a:rPr>
              <a:t>Try Live Demo →</a:t>
            </a:r>
            <a:endParaRPr lang="en-US" sz="1100" dirty="0"/>
          </a:p>
        </p:txBody>
      </p:sp>
      <p:sp>
        <p:nvSpPr>
          <p:cNvPr id="14" name="Text 12"/>
          <p:cNvSpPr/>
          <p:nvPr/>
        </p:nvSpPr>
        <p:spPr>
          <a:xfrm>
            <a:off x="1828800" y="5029200"/>
            <a:ext cx="82296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8B8FA3"/>
                </a:solidFill>
              </a:rPr>
              <a:t>contact@datacendia.com | datacendia.com | app.datacendia.com</a:t>
            </a:r>
            <a:endParaRPr lang="en-US" sz="1200" dirty="0"/>
          </a:p>
        </p:txBody>
      </p:sp>
      <p:sp>
        <p:nvSpPr>
          <p:cNvPr id="15" name="Text 13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16" name="Text 14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10</Slides>
  <Notes>10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10</vt:i4>
      </vt:variant>
    </vt:vector>
  </HeadingPairs>
  <TitlesOfParts>
    <vt:vector size="13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</vt:vector>
  </TitlesOfParts>
  <Company>Datacendia, LLC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Datacendia for Point Nine Capital</dc:title>
  <dc:subject>PptxGenJS Presentation</dc:subject>
  <dc:creator>Datacendia</dc:creator>
  <cp:lastModifiedBy>Datacendia</cp:lastModifiedBy>
  <cp:revision>1</cp:revision>
  <dcterms:created xsi:type="dcterms:W3CDTF">2026-03-23T19:07:02Z</dcterms:created>
  <dcterms:modified xsi:type="dcterms:W3CDTF">2026-03-23T19:07:02Z</dcterms:modified>
</cp:coreProperties>
</file>