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88952" cy="6858000"/>
  <p:notesSz cx="6858000" cy="12188952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9144000" y="274320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Confidential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457200" y="201168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DATACENDIA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457200" y="2560320"/>
            <a:ext cx="109728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</a:rPr>
              <a:t>United States - Northeast &amp; Capital Markets</a:t>
            </a:r>
            <a:endParaRPr lang="en-US" sz="3600" dirty="0"/>
          </a:p>
        </p:txBody>
      </p:sp>
      <p:sp>
        <p:nvSpPr>
          <p:cNvPr id="6" name="Text 4"/>
          <p:cNvSpPr/>
          <p:nvPr/>
        </p:nvSpPr>
        <p:spPr>
          <a:xfrm>
            <a:off x="1371600" y="3840480"/>
            <a:ext cx="9144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8B8FA3"/>
                </a:solidFill>
              </a:rPr>
              <a:t>AI Governance for Regulated Financial Institutions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5029200" y="4572000"/>
            <a:ext cx="2103120" cy="0"/>
          </a:xfrm>
          <a:prstGeom prst="line">
            <a:avLst/>
          </a:prstGeom>
          <a:noFill/>
          <a:ln w="25400">
            <a:solidFill>
              <a:srgbClr val="D4AF37"/>
            </a:solidFill>
            <a:prstDash val="solid"/>
          </a:ln>
        </p:spPr>
        <p:txBody>
          <a:bodyPr/>
          <a:p/>
        </p:txBody>
      </p:sp>
      <p:sp>
        <p:nvSpPr>
          <p:cNvPr id="8" name="Text 6"/>
          <p:cNvSpPr/>
          <p:nvPr/>
        </p:nvSpPr>
        <p:spPr>
          <a:xfrm>
            <a:off x="1828800" y="484632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Decision Crisis Immunization Infrastructure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WHY NOW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731520" y="1645920"/>
            <a:ext cx="2468880" cy="1463040"/>
          </a:xfrm>
          <a:prstGeom prst="roundRect">
            <a:avLst>
              <a:gd name="adj" fmla="val 625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5" name="Text 3"/>
          <p:cNvSpPr/>
          <p:nvPr/>
        </p:nvSpPr>
        <p:spPr>
          <a:xfrm>
            <a:off x="731520" y="1828800"/>
            <a:ext cx="24688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DORA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914400" y="2468880"/>
            <a:ext cx="2103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Jan 2025 — AI Operational Resilience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3474720" y="1645920"/>
            <a:ext cx="2468880" cy="1463040"/>
          </a:xfrm>
          <a:prstGeom prst="roundRect">
            <a:avLst>
              <a:gd name="adj" fmla="val 625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8" name="Text 6"/>
          <p:cNvSpPr/>
          <p:nvPr/>
        </p:nvSpPr>
        <p:spPr>
          <a:xfrm>
            <a:off x="3474720" y="1828800"/>
            <a:ext cx="24688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Basel III</a:t>
            </a:r>
            <a:endParaRPr lang="en-US" sz="2800" dirty="0"/>
          </a:p>
        </p:txBody>
      </p:sp>
      <p:sp>
        <p:nvSpPr>
          <p:cNvPr id="9" name="Text 7"/>
          <p:cNvSpPr/>
          <p:nvPr/>
        </p:nvSpPr>
        <p:spPr>
          <a:xfrm>
            <a:off x="3657600" y="2468880"/>
            <a:ext cx="2103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Auditable Risk Models Required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6217920" y="1645920"/>
            <a:ext cx="2468880" cy="1463040"/>
          </a:xfrm>
          <a:prstGeom prst="roundRect">
            <a:avLst>
              <a:gd name="adj" fmla="val 625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6217920" y="1828800"/>
            <a:ext cx="24688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MiFID II</a:t>
            </a:r>
            <a:endParaRPr lang="en-US" sz="2800" dirty="0"/>
          </a:p>
        </p:txBody>
      </p:sp>
      <p:sp>
        <p:nvSpPr>
          <p:cNvPr id="12" name="Text 10"/>
          <p:cNvSpPr/>
          <p:nvPr/>
        </p:nvSpPr>
        <p:spPr>
          <a:xfrm>
            <a:off x="6400800" y="2468880"/>
            <a:ext cx="2103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Full Audit Trail for Algo Trading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8961120" y="1645920"/>
            <a:ext cx="2468880" cy="1463040"/>
          </a:xfrm>
          <a:prstGeom prst="roundRect">
            <a:avLst>
              <a:gd name="adj" fmla="val 625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4" name="Text 12"/>
          <p:cNvSpPr/>
          <p:nvPr/>
        </p:nvSpPr>
        <p:spPr>
          <a:xfrm>
            <a:off x="8961120" y="1828800"/>
            <a:ext cx="24688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0</a:t>
            </a:r>
            <a:endParaRPr lang="en-US" sz="2800" dirty="0"/>
          </a:p>
        </p:txBody>
      </p:sp>
      <p:sp>
        <p:nvSpPr>
          <p:cNvPr id="15" name="Text 13"/>
          <p:cNvSpPr/>
          <p:nvPr/>
        </p:nvSpPr>
        <p:spPr>
          <a:xfrm>
            <a:off x="9144000" y="2468880"/>
            <a:ext cx="2103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AI Platforms w/ Crypto Decision Evidence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7" name="Text 15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PROBLEM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Banks Deploy AI Without Audit Trails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10058400" cy="3657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Credit decisions influenced by AI with no explainability for regulators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DORA requires operational resilience documentation for all AI systems by Jan 2025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Basel III mandates auditable risk models — AI black boxes fail this test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MiFID II requires full audit trails for algorithmic trading decisions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No existing platform provides cryptographic proof of AI-assisted decisions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SOLUTION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How Datacendia Solves This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502920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60000"/>
              </a:lnSpc>
              <a:buNone/>
            </a:pPr>
            <a:r>
              <a:rPr lang="en-US" sz="1300" dirty="0">
                <a:solidFill>
                  <a:srgbClr val="8B8FA3"/>
                </a:solidFill>
              </a:rPr>
              <a:t>Multi-agent deliberation with cryptographic evidence for every credit, trading, and risk decision — regulator-ready proof before the auditor calls.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6400800" y="2194560"/>
            <a:ext cx="5029200" cy="3200400"/>
          </a:xfrm>
          <a:prstGeom prst="roundRect">
            <a:avLst>
              <a:gd name="adj" fmla="val 285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Key Use Cases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675120" y="2834640"/>
            <a:ext cx="4389120" cy="2286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4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Credit decision review with dissent tracking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M&amp;A due diligence with full evidence trail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DORA compliance with automated evidence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Investment committee structured deliberation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Regulatory change mapping to P&amp;L impact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INVESTOR THESIS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Why This Is a Compelling Investment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502920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70000"/>
              </a:lnSpc>
              <a:buNone/>
            </a:pPr>
            <a:r>
              <a:rPr lang="en-US" sz="1300" dirty="0">
                <a:solidFill>
                  <a:srgbClr val="8B8FA3"/>
                </a:solidFill>
              </a:rPr>
              <a:t>United States - Northeast is the largest regulated vertical. DORA enforcement creates immediate demand. Only platform providing cryptographic decision evidence — a regulatory requirement with zero incumbent solutions.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6400800" y="2194560"/>
            <a:ext cx="5029200" cy="3200400"/>
          </a:xfrm>
          <a:prstGeom prst="roundRect">
            <a:avLst>
              <a:gd name="adj" fmla="val 285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Platform Proof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675120" y="2926080"/>
            <a:ext cx="4389120" cy="2286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✓"/>
            </a:pPr>
            <a:r>
              <a:rPr lang="en-US" sz="1200" dirty="0">
                <a:solidFill>
                  <a:srgbClr val="8B8FA3"/>
                </a:solidFill>
              </a:rPr>
              <a:t>205K+ passing tests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✓"/>
            </a:pPr>
            <a:r>
              <a:rPr lang="en-US" sz="1200" dirty="0">
                <a:solidFill>
                  <a:srgbClr val="8B8FA3"/>
                </a:solidFill>
              </a:rPr>
              <a:t>156 validated API endpoints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✓"/>
            </a:pPr>
            <a:r>
              <a:rPr lang="en-US" sz="1200" dirty="0">
                <a:solidFill>
                  <a:srgbClr val="8B8FA3"/>
                </a:solidFill>
              </a:rPr>
              <a:t>50+ agent presets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✓"/>
            </a:pPr>
            <a:r>
              <a:rPr lang="en-US" sz="1200" dirty="0">
                <a:solidFill>
                  <a:srgbClr val="8B8FA3"/>
                </a:solidFill>
              </a:rPr>
              <a:t>23 jurisdictions covered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✓"/>
            </a:pPr>
            <a:r>
              <a:rPr lang="en-US" sz="1200" dirty="0">
                <a:solidFill>
                  <a:srgbClr val="8B8FA3"/>
                </a:solidFill>
              </a:rPr>
              <a:t>4 deployment modes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✓"/>
            </a:pPr>
            <a:r>
              <a:rPr lang="en-US" sz="1200" dirty="0">
                <a:solidFill>
                  <a:srgbClr val="8B8FA3"/>
                </a:solidFill>
              </a:rPr>
              <a:t>Live at app.datacendia.com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FOUNDER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Stuart Rainey — Founder &amp; CEO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502920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7 years as Senior Data Analyst at TCS, embedded with PGIM Fixed Income ($800B+ AUM)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Built data infrastructure for regulated investment decisions at institutional scale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M.S. in Big Data Analytics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Author of the DDGI framework — ISO/IEC JTC 1/SC 42 standards track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NVIDIA Inception member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6400800" y="2194560"/>
            <a:ext cx="5029200" cy="2286000"/>
          </a:xfrm>
          <a:prstGeom prst="roundRect">
            <a:avLst>
              <a:gd name="adj" fmla="val 4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Why This Founder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675120" y="2926080"/>
            <a:ext cx="438912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8B8FA3"/>
                </a:solidFill>
              </a:rPr>
              <a:t>Built the exact data infrastructure that financial institutions need for AI governance — at one of the world's largest asset managers.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ASK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$1.5M Pre-Seed — $7M Pre-Money Valuation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7315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10058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What's Built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0058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205K+ passing tests. 156 validated API endpoints. Live production platform.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3891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46634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Traction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46634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2 warm enterprise intros (financial institution, Big 4 channel). NVIDIA Inception.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80467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83210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Use of Funds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83210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GTM hiring, SOC 2 Type II certification, first enterprise pilots.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914400" y="475488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$8.5M post-money · 21.5% dilution · Engineering risk resolved — GTM-stage investment.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PLATFORM PROOF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109728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MULTI-AGENT DECISION ENGINE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554480"/>
            <a:ext cx="4114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Decisions Made by Specialized AI Agents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731520" y="2743200"/>
            <a:ext cx="41148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Role-specific agents: CFO, CISO, Legal, Strategy, Risk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Confidence scores and reasoning — dissent preserved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War Room, Governed, and Quick Brief modes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03520" y="1097280"/>
            <a:ext cx="6400800" cy="484632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PLATFORM PROOF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109728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DECISION AUDIT TRAIL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554480"/>
            <a:ext cx="4114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Every Decision Tracked with Full Evidence Chain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731520" y="2743200"/>
            <a:ext cx="41148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Complete searchable decision history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Full deliberation records linked to each decision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Trace any decision back to evidence in seconds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03520" y="1097280"/>
            <a:ext cx="6400800" cy="484632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457200" y="1828800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NEXT STEPS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2286000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</a:rPr>
              <a:t>Let’s Talk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1371600" y="320040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8B8FA3"/>
                </a:solidFill>
              </a:rPr>
              <a:t>AI Governance for Regulated Financial Institutions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228600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228600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Schedule Deep Dive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29768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429768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Technical Demo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630936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630936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Data Room Access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832104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D4AF37"/>
          </a:solidFill>
          <a:ln/>
        </p:spPr>
        <p:txBody>
          <a:bodyPr/>
          <a:p/>
        </p:txBody>
      </p:sp>
      <p:sp>
        <p:nvSpPr>
          <p:cNvPr id="13" name="Text 11"/>
          <p:cNvSpPr/>
          <p:nvPr/>
        </p:nvSpPr>
        <p:spPr>
          <a:xfrm>
            <a:off x="832104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A0E1A"/>
                </a:solidFill>
              </a:rPr>
              <a:t>Try Live Demo →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1828800" y="50292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contact@datacendia.com | datacendia.com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Datacendia, LLC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Datacendia - Banking &amp; Capital Markets</dc:title>
  <dc:subject>Banking &amp; Capital Markets</dc:subject>
  <dc:creator>Datacendia</dc:creator>
  <cp:lastModifiedBy>Datacendia</cp:lastModifiedBy>
  <cp:revision>1</cp:revision>
  <dcterms:created xsi:type="dcterms:W3CDTF">2026-03-17T14:11:48Z</dcterms:created>
  <dcterms:modified xsi:type="dcterms:W3CDTF">2026-03-17T14:11:48Z</dcterms:modified>
</cp:coreProperties>
</file>