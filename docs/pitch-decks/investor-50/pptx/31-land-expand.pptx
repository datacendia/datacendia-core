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88952" cy="6858000"/>
  <p:notesSz cx="6858000" cy="12188952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1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9144000" y="274320"/>
            <a:ext cx="2286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Confidential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457200" y="201168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DATACENDIA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57200" y="2560320"/>
            <a:ext cx="109728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</a:rPr>
              <a:t>Land &amp; Expand Revenue Model</a:t>
            </a:r>
            <a:endParaRPr lang="en-US" sz="3600" dirty="0"/>
          </a:p>
        </p:txBody>
      </p:sp>
      <p:sp>
        <p:nvSpPr>
          <p:cNvPr id="6" name="Text 4"/>
          <p:cNvSpPr/>
          <p:nvPr/>
        </p:nvSpPr>
        <p:spPr>
          <a:xfrm>
            <a:off x="1371600" y="3840480"/>
            <a:ext cx="91440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8B8FA3"/>
                </a:solidFill>
              </a:rPr>
              <a:t>From $50K Pilot to $1.5M+ Strategic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5029200" y="4572000"/>
            <a:ext cx="2103120" cy="0"/>
          </a:xfrm>
          <a:prstGeom prst="line">
            <a:avLst/>
          </a:prstGeom>
          <a:noFill/>
          <a:ln w="25400">
            <a:solidFill>
              <a:srgbClr val="D4AF37"/>
            </a:solidFill>
            <a:prstDash val="solid"/>
          </a:ln>
        </p:spPr>
        <p:txBody>
          <a:bodyPr/>
          <a:p/>
        </p:txBody>
      </p:sp>
      <p:sp>
        <p:nvSpPr>
          <p:cNvPr id="8" name="Text 6"/>
          <p:cNvSpPr/>
          <p:nvPr/>
        </p:nvSpPr>
        <p:spPr>
          <a:xfrm>
            <a:off x="1828800" y="484632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Decision Crisis Immunization Infrastructure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WHY NOW</a:t>
            </a:r>
            <a:endParaRPr lang="en-US" sz="1100" dirty="0"/>
          </a:p>
        </p:txBody>
      </p:sp>
      <p:sp>
        <p:nvSpPr>
          <p:cNvPr id="4" name="Shape 2"/>
          <p:cNvSpPr/>
          <p:nvPr/>
        </p:nvSpPr>
        <p:spPr>
          <a:xfrm>
            <a:off x="731520" y="1645920"/>
            <a:ext cx="2468880" cy="1463040"/>
          </a:xfrm>
          <a:prstGeom prst="roundRect">
            <a:avLst>
              <a:gd name="adj" fmla="val 625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5" name="Text 3"/>
          <p:cNvSpPr/>
          <p:nvPr/>
        </p:nvSpPr>
        <p:spPr>
          <a:xfrm>
            <a:off x="731520" y="1828800"/>
            <a:ext cx="24688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$50K</a:t>
            </a:r>
            <a:endParaRPr lang="en-US" sz="2800" dirty="0"/>
          </a:p>
        </p:txBody>
      </p:sp>
      <p:sp>
        <p:nvSpPr>
          <p:cNvPr id="6" name="Text 4"/>
          <p:cNvSpPr/>
          <p:nvPr/>
        </p:nvSpPr>
        <p:spPr>
          <a:xfrm>
            <a:off x="914400" y="2468880"/>
            <a:ext cx="2103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Pilot — Single Problem 90 Days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3474720" y="1645920"/>
            <a:ext cx="2468880" cy="1463040"/>
          </a:xfrm>
          <a:prstGeom prst="roundRect">
            <a:avLst>
              <a:gd name="adj" fmla="val 625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8" name="Text 6"/>
          <p:cNvSpPr/>
          <p:nvPr/>
        </p:nvSpPr>
        <p:spPr>
          <a:xfrm>
            <a:off x="3474720" y="1828800"/>
            <a:ext cx="24688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$150K+</a:t>
            </a:r>
            <a:endParaRPr lang="en-US" sz="2800" dirty="0"/>
          </a:p>
        </p:txBody>
      </p:sp>
      <p:sp>
        <p:nvSpPr>
          <p:cNvPr id="9" name="Text 7"/>
          <p:cNvSpPr/>
          <p:nvPr/>
        </p:nvSpPr>
        <p:spPr>
          <a:xfrm>
            <a:off x="3657600" y="2468880"/>
            <a:ext cx="2103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Foundation — Department</a:t>
            </a:r>
            <a:endParaRPr lang="en-US" sz="1000" dirty="0"/>
          </a:p>
        </p:txBody>
      </p:sp>
      <p:sp>
        <p:nvSpPr>
          <p:cNvPr id="10" name="Shape 8"/>
          <p:cNvSpPr/>
          <p:nvPr/>
        </p:nvSpPr>
        <p:spPr>
          <a:xfrm>
            <a:off x="6217920" y="1645920"/>
            <a:ext cx="2468880" cy="1463040"/>
          </a:xfrm>
          <a:prstGeom prst="roundRect">
            <a:avLst>
              <a:gd name="adj" fmla="val 625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6217920" y="1828800"/>
            <a:ext cx="24688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$500K+</a:t>
            </a:r>
            <a:endParaRPr lang="en-US" sz="2800" dirty="0"/>
          </a:p>
        </p:txBody>
      </p:sp>
      <p:sp>
        <p:nvSpPr>
          <p:cNvPr id="12" name="Text 10"/>
          <p:cNvSpPr/>
          <p:nvPr/>
        </p:nvSpPr>
        <p:spPr>
          <a:xfrm>
            <a:off x="6400800" y="2468880"/>
            <a:ext cx="2103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Enterprise — Company-Wide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8961120" y="1645920"/>
            <a:ext cx="2468880" cy="1463040"/>
          </a:xfrm>
          <a:prstGeom prst="roundRect">
            <a:avLst>
              <a:gd name="adj" fmla="val 625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4" name="Text 12"/>
          <p:cNvSpPr/>
          <p:nvPr/>
        </p:nvSpPr>
        <p:spPr>
          <a:xfrm>
            <a:off x="8961120" y="1828800"/>
            <a:ext cx="24688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$1.5M+</a:t>
            </a:r>
            <a:endParaRPr lang="en-US" sz="2800" dirty="0"/>
          </a:p>
        </p:txBody>
      </p:sp>
      <p:sp>
        <p:nvSpPr>
          <p:cNvPr id="15" name="Text 13"/>
          <p:cNvSpPr/>
          <p:nvPr/>
        </p:nvSpPr>
        <p:spPr>
          <a:xfrm>
            <a:off x="9144000" y="2468880"/>
            <a:ext cx="2103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Strategic — Nation-Scale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17" name="Text 15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PROBLEM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How Datacendia Converts Pilots Into Enterprise Contracts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10058400" cy="3657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Pilot ($50K, 90 days) on single problem with money-back guarantee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Council identifies ≥3 critical risks customer missed — proving value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Department expansion ($150K-$500K) from single team success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Enterprise rollout ($500K-$1.5M) full platform unlimited deliberations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Strategic ($1.5M+) multi-division or government-scale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SOLUTION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How Datacendia Solves This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60000"/>
              </a:lnSpc>
              <a:buNone/>
            </a:pPr>
            <a:r>
              <a:rPr lang="en-US" sz="1300" dirty="0">
                <a:solidFill>
                  <a:srgbClr val="8B8FA3"/>
                </a:solidFill>
              </a:rPr>
              <a:t>Every engagement starts with provable value. Money-back guarantee eliminates procurement risk. Regulatory mandate means buyers cannot cancel after proving value.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3200400"/>
          </a:xfrm>
          <a:prstGeom prst="roundRect">
            <a:avLst>
              <a:gd name="adj" fmla="val 285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Key Use Cases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675120" y="2834640"/>
            <a:ext cx="4389120" cy="2286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4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Land — Risk team pilot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Prove — Council finds critical risks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Expand — More departments request access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Enterprise — IT rolls out company-wide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Strategic — Multi-geography premium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11" name="Picture 10" descr="07-graph-explorer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85432" y="1371600"/>
            <a:ext cx="5029200" cy="3108960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INVESTOR THESIS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Why This Is a Compelling Investment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70000"/>
              </a:lnSpc>
              <a:buNone/>
            </a:pPr>
            <a:r>
              <a:rPr lang="en-US" sz="1300" dirty="0">
                <a:solidFill>
                  <a:srgbClr val="8B8FA3"/>
                </a:solidFill>
              </a:rPr>
              <a:t>Land-and-expand is highest-efficiency enterprise SaaS motion. Money-back eliminates objections. Regulatory mandate prevents churn. Expansion is organic.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3200400"/>
          </a:xfrm>
          <a:prstGeom prst="roundRect">
            <a:avLst>
              <a:gd name="adj" fmla="val 285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Platform Proof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675120" y="2926080"/>
            <a:ext cx="4389120" cy="2286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✓"/>
            </a:pPr>
            <a:r>
              <a:rPr lang="en-US" sz="1200" dirty="0">
                <a:solidFill>
                  <a:srgbClr val="8B8FA3"/>
                </a:solidFill>
              </a:rPr>
              <a:t>205K+ passing tests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✓"/>
            </a:pPr>
            <a:r>
              <a:rPr lang="en-US" sz="1200" dirty="0">
                <a:solidFill>
                  <a:srgbClr val="8B8FA3"/>
                </a:solidFill>
              </a:rPr>
              <a:t>156 validated API endpoints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✓"/>
            </a:pPr>
            <a:r>
              <a:rPr lang="en-US" sz="1200" dirty="0">
                <a:solidFill>
                  <a:srgbClr val="8B8FA3"/>
                </a:solidFill>
              </a:rPr>
              <a:t>50+ agent presets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✓"/>
            </a:pPr>
            <a:r>
              <a:rPr lang="en-US" sz="1200" dirty="0">
                <a:solidFill>
                  <a:srgbClr val="8B8FA3"/>
                </a:solidFill>
              </a:rPr>
              <a:t>23 jurisdictions covered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✓"/>
            </a:pPr>
            <a:r>
              <a:rPr lang="en-US" sz="1200" dirty="0">
                <a:solidFill>
                  <a:srgbClr val="8B8FA3"/>
                </a:solidFill>
              </a:rPr>
              <a:t>4 deployment modes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✓"/>
            </a:pPr>
            <a:r>
              <a:rPr lang="en-US" sz="1200" dirty="0">
                <a:solidFill>
                  <a:srgbClr val="8B8FA3"/>
                </a:solidFill>
              </a:rPr>
              <a:t>Live at app.datacendia.com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FOUNDER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Stuart Rainey — Founder &amp; CEO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7 years as Senior Data Analyst at TCS, embedded with PGIM Fixed Income ($800B+ AUM)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Built data infrastructure for regulated investment decisions at institutional scale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M.S. in Big Data Analytics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Author of the DDGI framework — ISO/IEC JTC 1/SC 42 standards track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NVIDIA Inception member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Why This Founder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675120" y="292608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Built the exact data infrastructure that financial institutions need for AI governance — at one of the world's largest asset managers.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ASK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$1.5M Pre-Seed — $7M Pre-Money Valuation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10058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What's Built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10058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205K+ passing tests. 156 validated API endpoints. Live production platform.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3891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46634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Traction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46634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2 warm enterprise intros (financial institution, Big 4 channel). NVIDIA Inception.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80467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83210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Use of Funds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83210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GTM hiring, SOC 2 Type II certification, first enterprise pilots.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914400" y="475488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$8.5M post-money · 21.5% dilution · Engineering risk resolved — GTM-stage investment.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MULTI-AGENT DECISION ENGINE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Decisions Made by Specialized AI Agents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Role-specific agents: CFO, CISO, Legal, Strategy, Risk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Confidence scores and reasoning — dissent preserved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War Room, Governed, and Quick Brief modes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10" name="Picture 9" descr="image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885432" y="1371600"/>
            <a:ext cx="5029200" cy="3108960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DECISION AUDIT TRAIL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Every Decision Tracked with Full Evidence Chain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Complete searchable decision history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Full deliberation records linked to each decision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Trace any decision back to evidence in seconds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10" name="Picture 9" descr="image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885432" y="1371600"/>
            <a:ext cx="5029200" cy="3108960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57200" y="182880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NEXT STEPS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457200" y="2286000"/>
            <a:ext cx="10972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</a:rPr>
              <a:t>Let’s Talk</a:t>
            </a:r>
            <a:endParaRPr lang="en-US" sz="3600" dirty="0"/>
          </a:p>
        </p:txBody>
      </p:sp>
      <p:sp>
        <p:nvSpPr>
          <p:cNvPr id="5" name="Text 3"/>
          <p:cNvSpPr/>
          <p:nvPr/>
        </p:nvSpPr>
        <p:spPr>
          <a:xfrm>
            <a:off x="1371600" y="320040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8B8FA3"/>
                </a:solidFill>
              </a:rPr>
              <a:t>From $50K Pilot to $1.5M+ Strategic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228600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228600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Schedule Deep Dive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29768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429768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Technical Demo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30936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630936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Data Room Access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832104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D4AF37"/>
          </a:solidFill>
          <a:ln/>
        </p:spPr>
        <p:txBody>
          <a:bodyPr/>
          <a:p/>
        </p:txBody>
      </p:sp>
      <p:sp>
        <p:nvSpPr>
          <p:cNvPr id="13" name="Text 11"/>
          <p:cNvSpPr/>
          <p:nvPr/>
        </p:nvSpPr>
        <p:spPr>
          <a:xfrm>
            <a:off x="832104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A0E1A"/>
                </a:solidFill>
              </a:rPr>
              <a:t>Try Live Demo →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1828800" y="502920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contact@datacendia.com | datacendia.com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Datacendia, LLC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Datacendia - Land &amp; Expand Revenue Model</dc:title>
  <dc:subject>Land &amp; Expand Revenue Model</dc:subject>
  <dc:creator>Datacendia</dc:creator>
  <cp:lastModifiedBy>Datacendia</cp:lastModifiedBy>
  <cp:revision>1</cp:revision>
  <dcterms:created xsi:type="dcterms:W3CDTF">2026-03-17T14:11:49Z</dcterms:created>
  <dcterms:modified xsi:type="dcterms:W3CDTF">2026-03-17T14:11:49Z</dcterms:modified>
</cp:coreProperties>
</file>