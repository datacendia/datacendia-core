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</p:sldIdLst>
  <p:notesMasterIdLst>
    <p:notesMasterId r:id="rId12"/>
  </p:notesMasterIdLst>
  <p:sldSz cx="12188952" cy="6858000"/>
  <p:notesSz cx="6858000" cy="12188952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notesMaster" Target="notesMasters/notesMaster1.xml"/><Relationship Id="rId13" Type="http://schemas.openxmlformats.org/officeDocument/2006/relationships/presProps" Target="presProps.xml"/><Relationship Id="rId14" Type="http://schemas.openxmlformats.org/officeDocument/2006/relationships/viewProps" Target="viewProps.xml"/><Relationship Id="rId15" Type="http://schemas.openxmlformats.org/officeDocument/2006/relationships/theme" Target="theme/theme1.xml"/><Relationship Id="rId16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8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9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9144000" y="274320"/>
            <a:ext cx="2286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Confidential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457200" y="2011680"/>
            <a:ext cx="109728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DATACENDIA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457200" y="2560320"/>
            <a:ext cx="1097280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FFFFFF"/>
                </a:solidFill>
              </a:rPr>
              <a:t>Media &amp; Entertainment</a:t>
            </a:r>
            <a:endParaRPr lang="en-US" sz="3600" dirty="0"/>
          </a:p>
        </p:txBody>
      </p:sp>
      <p:sp>
        <p:nvSpPr>
          <p:cNvPr id="6" name="Text 4"/>
          <p:cNvSpPr/>
          <p:nvPr/>
        </p:nvSpPr>
        <p:spPr>
          <a:xfrm>
            <a:off x="1371600" y="3840480"/>
            <a:ext cx="91440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dirty="0">
                <a:solidFill>
                  <a:srgbClr val="8B8FA3"/>
                </a:solidFill>
              </a:rPr>
              <a:t>AI Governance for Content, Recommendation, and Rights Decisions</a:t>
            </a:r>
            <a:endParaRPr lang="en-US" sz="1600" dirty="0"/>
          </a:p>
        </p:txBody>
      </p:sp>
      <p:sp>
        <p:nvSpPr>
          <p:cNvPr id="7" name="Shape 5"/>
          <p:cNvSpPr/>
          <p:nvPr/>
        </p:nvSpPr>
        <p:spPr>
          <a:xfrm>
            <a:off x="5029200" y="4572000"/>
            <a:ext cx="2103120" cy="0"/>
          </a:xfrm>
          <a:prstGeom prst="line">
            <a:avLst/>
          </a:prstGeom>
          <a:noFill/>
          <a:ln w="25400">
            <a:solidFill>
              <a:srgbClr val="D4AF37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1828800" y="4846320"/>
            <a:ext cx="8229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8B8FA3"/>
                </a:solidFill>
              </a:rPr>
              <a:t>Decision Crisis Immunization Infrastructure</a:t>
            </a:r>
            <a:endParaRPr lang="en-US" sz="1200" dirty="0"/>
          </a:p>
        </p:txBody>
      </p:sp>
      <p:sp>
        <p:nvSpPr>
          <p:cNvPr id="9" name="Text 7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2024-2026 Datacendia, LLC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WHY NOW</a:t>
            </a:r>
            <a:endParaRPr lang="en-US" sz="1100" dirty="0"/>
          </a:p>
        </p:txBody>
      </p:sp>
      <p:sp>
        <p:nvSpPr>
          <p:cNvPr id="4" name="Shape 2"/>
          <p:cNvSpPr/>
          <p:nvPr/>
        </p:nvSpPr>
        <p:spPr>
          <a:xfrm>
            <a:off x="731520" y="1645920"/>
            <a:ext cx="2468880" cy="1463040"/>
          </a:xfrm>
          <a:prstGeom prst="roundRect">
            <a:avLst>
              <a:gd name="adj" fmla="val 6250"/>
            </a:avLst>
          </a:prstGeom>
          <a:solidFill>
            <a:srgbClr val="141825"/>
          </a:solidFill>
          <a:ln/>
        </p:spPr>
      </p:sp>
      <p:sp>
        <p:nvSpPr>
          <p:cNvPr id="5" name="Text 3"/>
          <p:cNvSpPr/>
          <p:nvPr/>
        </p:nvSpPr>
        <p:spPr>
          <a:xfrm>
            <a:off x="731520" y="1828800"/>
            <a:ext cx="246888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EU AI Act</a:t>
            </a:r>
            <a:endParaRPr lang="en-US" sz="2800" dirty="0"/>
          </a:p>
        </p:txBody>
      </p:sp>
      <p:sp>
        <p:nvSpPr>
          <p:cNvPr id="6" name="Text 4"/>
          <p:cNvSpPr/>
          <p:nvPr/>
        </p:nvSpPr>
        <p:spPr>
          <a:xfrm>
            <a:off x="914400" y="2468880"/>
            <a:ext cx="21031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Content Recommendation Transparency</a:t>
            </a:r>
            <a:endParaRPr lang="en-US" sz="1000" dirty="0"/>
          </a:p>
        </p:txBody>
      </p:sp>
      <p:sp>
        <p:nvSpPr>
          <p:cNvPr id="7" name="Shape 5"/>
          <p:cNvSpPr/>
          <p:nvPr/>
        </p:nvSpPr>
        <p:spPr>
          <a:xfrm>
            <a:off x="3474720" y="1645920"/>
            <a:ext cx="2468880" cy="1463040"/>
          </a:xfrm>
          <a:prstGeom prst="roundRect">
            <a:avLst>
              <a:gd name="adj" fmla="val 6250"/>
            </a:avLst>
          </a:prstGeom>
          <a:solidFill>
            <a:srgbClr val="141825"/>
          </a:solidFill>
          <a:ln/>
        </p:spPr>
      </p:sp>
      <p:sp>
        <p:nvSpPr>
          <p:cNvPr id="8" name="Text 6"/>
          <p:cNvSpPr/>
          <p:nvPr/>
        </p:nvSpPr>
        <p:spPr>
          <a:xfrm>
            <a:off x="3474720" y="1828800"/>
            <a:ext cx="246888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DSA</a:t>
            </a:r>
            <a:endParaRPr lang="en-US" sz="2800" dirty="0"/>
          </a:p>
        </p:txBody>
      </p:sp>
      <p:sp>
        <p:nvSpPr>
          <p:cNvPr id="9" name="Text 7"/>
          <p:cNvSpPr/>
          <p:nvPr/>
        </p:nvSpPr>
        <p:spPr>
          <a:xfrm>
            <a:off x="3657600" y="2468880"/>
            <a:ext cx="21031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EU Digital Services Act Requirements</a:t>
            </a:r>
            <a:endParaRPr lang="en-US" sz="1000" dirty="0"/>
          </a:p>
        </p:txBody>
      </p:sp>
      <p:sp>
        <p:nvSpPr>
          <p:cNvPr id="10" name="Shape 8"/>
          <p:cNvSpPr/>
          <p:nvPr/>
        </p:nvSpPr>
        <p:spPr>
          <a:xfrm>
            <a:off x="6217920" y="1645920"/>
            <a:ext cx="2468880" cy="1463040"/>
          </a:xfrm>
          <a:prstGeom prst="roundRect">
            <a:avLst>
              <a:gd name="adj" fmla="val 6250"/>
            </a:avLst>
          </a:prstGeom>
          <a:solidFill>
            <a:srgbClr val="141825"/>
          </a:solidFill>
          <a:ln/>
        </p:spPr>
      </p:sp>
      <p:sp>
        <p:nvSpPr>
          <p:cNvPr id="11" name="Text 9"/>
          <p:cNvSpPr/>
          <p:nvPr/>
        </p:nvSpPr>
        <p:spPr>
          <a:xfrm>
            <a:off x="6217920" y="1828800"/>
            <a:ext cx="246888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GDPR</a:t>
            </a:r>
            <a:endParaRPr lang="en-US" sz="2800" dirty="0"/>
          </a:p>
        </p:txBody>
      </p:sp>
      <p:sp>
        <p:nvSpPr>
          <p:cNvPr id="12" name="Text 10"/>
          <p:cNvSpPr/>
          <p:nvPr/>
        </p:nvSpPr>
        <p:spPr>
          <a:xfrm>
            <a:off x="6400800" y="2468880"/>
            <a:ext cx="21031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Profiling and Automated Decision Rights</a:t>
            </a:r>
            <a:endParaRPr lang="en-US" sz="1000" dirty="0"/>
          </a:p>
        </p:txBody>
      </p:sp>
      <p:sp>
        <p:nvSpPr>
          <p:cNvPr id="13" name="Shape 11"/>
          <p:cNvSpPr/>
          <p:nvPr/>
        </p:nvSpPr>
        <p:spPr>
          <a:xfrm>
            <a:off x="8961120" y="1645920"/>
            <a:ext cx="2468880" cy="1463040"/>
          </a:xfrm>
          <a:prstGeom prst="roundRect">
            <a:avLst>
              <a:gd name="adj" fmla="val 6250"/>
            </a:avLst>
          </a:prstGeom>
          <a:solidFill>
            <a:srgbClr val="141825"/>
          </a:solidFill>
          <a:ln/>
        </p:spPr>
      </p:sp>
      <p:sp>
        <p:nvSpPr>
          <p:cNvPr id="14" name="Text 12"/>
          <p:cNvSpPr/>
          <p:nvPr/>
        </p:nvSpPr>
        <p:spPr>
          <a:xfrm>
            <a:off x="8961120" y="1828800"/>
            <a:ext cx="246888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0</a:t>
            </a:r>
            <a:endParaRPr lang="en-US" sz="2800" dirty="0"/>
          </a:p>
        </p:txBody>
      </p:sp>
      <p:sp>
        <p:nvSpPr>
          <p:cNvPr id="15" name="Text 13"/>
          <p:cNvSpPr/>
          <p:nvPr/>
        </p:nvSpPr>
        <p:spPr>
          <a:xfrm>
            <a:off x="9144000" y="2468880"/>
            <a:ext cx="21031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AI Platforms w/ Content Decision Evidence</a:t>
            </a:r>
            <a:endParaRPr lang="en-US" sz="1000" dirty="0"/>
          </a:p>
        </p:txBody>
      </p:sp>
      <p:sp>
        <p:nvSpPr>
          <p:cNvPr id="16" name="Text 14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2024-2026 Datacendia, LLC</a:t>
            </a:r>
            <a:endParaRPr lang="en-US" sz="800" dirty="0"/>
          </a:p>
        </p:txBody>
      </p:sp>
      <p:sp>
        <p:nvSpPr>
          <p:cNvPr id="17" name="Text 15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THE PROBLEM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Media AI Curates Information Without Accountability</a:t>
            </a:r>
            <a:endParaRPr lang="en-US" sz="2400" dirty="0"/>
          </a:p>
        </p:txBody>
      </p:sp>
      <p:sp>
        <p:nvSpPr>
          <p:cNvPr id="5" name="Text 3"/>
          <p:cNvSpPr/>
          <p:nvPr/>
        </p:nvSpPr>
        <p:spPr>
          <a:xfrm>
            <a:off x="731520" y="2194560"/>
            <a:ext cx="10058400" cy="3657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Content recommendation AI shaping public discourse with no transparency</a:t>
            </a:r>
            <a:endParaRPr lang="en-US" sz="13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EU Digital Services Act requires algorithmic transparency for platforms</a:t>
            </a:r>
            <a:endParaRPr lang="en-US" sz="13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EU AI Act mandates disclosure when users interact with AI</a:t>
            </a:r>
            <a:endParaRPr lang="en-US" sz="13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GDPR gives users rights regarding profiling and automated decisions</a:t>
            </a:r>
            <a:endParaRPr lang="en-US" sz="13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Rights management AI making licensing decisions with no audit trail</a:t>
            </a:r>
            <a:endParaRPr lang="en-US" sz="1300" dirty="0"/>
          </a:p>
        </p:txBody>
      </p:sp>
      <p:sp>
        <p:nvSpPr>
          <p:cNvPr id="6" name="Text 4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2024-2026 Datacendia, LLC</a:t>
            </a:r>
            <a:endParaRPr lang="en-US" sz="800" dirty="0"/>
          </a:p>
        </p:txBody>
      </p:sp>
      <p:sp>
        <p:nvSpPr>
          <p:cNvPr id="7" name="Text 5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THE SOLUTION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How Datacendia Solves This</a:t>
            </a:r>
            <a:endParaRPr lang="en-US" sz="2400" dirty="0"/>
          </a:p>
        </p:txBody>
      </p:sp>
      <p:sp>
        <p:nvSpPr>
          <p:cNvPr id="5" name="Text 3"/>
          <p:cNvSpPr/>
          <p:nvPr/>
        </p:nvSpPr>
        <p:spPr>
          <a:xfrm>
            <a:off x="731520" y="2194560"/>
            <a:ext cx="5029200" cy="2743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60000"/>
              </a:lnSpc>
              <a:buNone/>
            </a:pPr>
            <a:r>
              <a:rPr lang="en-US" sz="1300" dirty="0">
                <a:solidFill>
                  <a:srgbClr val="8B8FA3"/>
                </a:solidFill>
              </a:rPr>
              <a:t>Auditable AI decision-making for content curation, recommendation, and rights management — DSA-compliant transparency reports.</a:t>
            </a:r>
            <a:endParaRPr lang="en-US" sz="1300" dirty="0"/>
          </a:p>
        </p:txBody>
      </p:sp>
      <p:sp>
        <p:nvSpPr>
          <p:cNvPr id="6" name="Shape 4"/>
          <p:cNvSpPr/>
          <p:nvPr/>
        </p:nvSpPr>
        <p:spPr>
          <a:xfrm>
            <a:off x="6400800" y="2194560"/>
            <a:ext cx="5029200" cy="3200400"/>
          </a:xfrm>
          <a:prstGeom prst="roundRect">
            <a:avLst>
              <a:gd name="adj" fmla="val 2857"/>
            </a:avLst>
          </a:prstGeom>
          <a:solidFill>
            <a:srgbClr val="141825"/>
          </a:solidFill>
          <a:ln/>
        </p:spPr>
      </p:sp>
      <p:sp>
        <p:nvSpPr>
          <p:cNvPr id="7" name="Text 5"/>
          <p:cNvSpPr/>
          <p:nvPr/>
        </p:nvSpPr>
        <p:spPr>
          <a:xfrm>
            <a:off x="6675120" y="237744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Key Use Cases</a:t>
            </a:r>
            <a:endParaRPr lang="en-US" sz="1400" dirty="0"/>
          </a:p>
        </p:txBody>
      </p:sp>
      <p:sp>
        <p:nvSpPr>
          <p:cNvPr id="8" name="Text 6"/>
          <p:cNvSpPr/>
          <p:nvPr/>
        </p:nvSpPr>
        <p:spPr>
          <a:xfrm>
            <a:off x="6675120" y="2834640"/>
            <a:ext cx="4389120" cy="22860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4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Content moderation documented reasoning</a:t>
            </a:r>
            <a:endParaRPr lang="en-US" sz="1100" dirty="0"/>
          </a:p>
          <a:p>
            <a:pPr marL="342900" indent="-342900">
              <a:lnSpc>
                <a:spcPct val="14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Recommendation engine DSA compliance</a:t>
            </a:r>
            <a:endParaRPr lang="en-US" sz="1100" dirty="0"/>
          </a:p>
          <a:p>
            <a:pPr marL="342900" indent="-342900">
              <a:lnSpc>
                <a:spcPct val="14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Rights management auditable decisions</a:t>
            </a:r>
            <a:endParaRPr lang="en-US" sz="1100" dirty="0"/>
          </a:p>
          <a:p>
            <a:pPr marL="342900" indent="-342900">
              <a:lnSpc>
                <a:spcPct val="14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Ad targeting GDPR evidence</a:t>
            </a:r>
            <a:endParaRPr lang="en-US" sz="1100" dirty="0"/>
          </a:p>
          <a:p>
            <a:pPr marL="342900" indent="-342900">
              <a:lnSpc>
                <a:spcPct val="14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Editorial decisions with documented rationale</a:t>
            </a:r>
            <a:endParaRPr lang="en-US" sz="1100" dirty="0"/>
          </a:p>
        </p:txBody>
      </p:sp>
      <p:sp>
        <p:nvSpPr>
          <p:cNvPr id="9" name="Text 7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2024-2026 Datacendia, LLC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INVESTOR THESIS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Why This Is a Compelling Investment</a:t>
            </a:r>
            <a:endParaRPr lang="en-US" sz="2400" dirty="0"/>
          </a:p>
        </p:txBody>
      </p:sp>
      <p:sp>
        <p:nvSpPr>
          <p:cNvPr id="5" name="Text 3"/>
          <p:cNvSpPr/>
          <p:nvPr/>
        </p:nvSpPr>
        <p:spPr>
          <a:xfrm>
            <a:off x="731520" y="2194560"/>
            <a:ext cx="5029200" cy="2743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70000"/>
              </a:lnSpc>
              <a:buNone/>
            </a:pPr>
            <a:r>
              <a:rPr lang="en-US" sz="1300" dirty="0">
                <a:solidFill>
                  <a:srgbClr val="8B8FA3"/>
                </a:solidFill>
              </a:rPr>
              <a:t>DSA and EU AI Act create mandatory transparency for algorithmic content decisions. Every media platform needs governance tooling.</a:t>
            </a:r>
            <a:endParaRPr lang="en-US" sz="1300" dirty="0"/>
          </a:p>
        </p:txBody>
      </p:sp>
      <p:sp>
        <p:nvSpPr>
          <p:cNvPr id="6" name="Shape 4"/>
          <p:cNvSpPr/>
          <p:nvPr/>
        </p:nvSpPr>
        <p:spPr>
          <a:xfrm>
            <a:off x="6400800" y="2194560"/>
            <a:ext cx="5029200" cy="3200400"/>
          </a:xfrm>
          <a:prstGeom prst="roundRect">
            <a:avLst>
              <a:gd name="adj" fmla="val 2857"/>
            </a:avLst>
          </a:prstGeom>
          <a:solidFill>
            <a:srgbClr val="141825"/>
          </a:solidFill>
          <a:ln/>
        </p:spPr>
      </p:sp>
      <p:sp>
        <p:nvSpPr>
          <p:cNvPr id="7" name="Text 5"/>
          <p:cNvSpPr/>
          <p:nvPr/>
        </p:nvSpPr>
        <p:spPr>
          <a:xfrm>
            <a:off x="6675120" y="237744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Platform Proof</a:t>
            </a:r>
            <a:endParaRPr lang="en-US" sz="1400" dirty="0"/>
          </a:p>
        </p:txBody>
      </p:sp>
      <p:sp>
        <p:nvSpPr>
          <p:cNvPr id="8" name="Text 6"/>
          <p:cNvSpPr/>
          <p:nvPr/>
        </p:nvSpPr>
        <p:spPr>
          <a:xfrm>
            <a:off x="6675120" y="2926080"/>
            <a:ext cx="4389120" cy="22860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✓"/>
            </a:pPr>
            <a:r>
              <a:rPr lang="en-US" sz="1200" dirty="0">
                <a:solidFill>
                  <a:srgbClr val="8B8FA3"/>
                </a:solidFill>
              </a:rPr>
              <a:t>205K+ passing tests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✓"/>
            </a:pPr>
            <a:r>
              <a:rPr lang="en-US" sz="1200" dirty="0">
                <a:solidFill>
                  <a:srgbClr val="8B8FA3"/>
                </a:solidFill>
              </a:rPr>
              <a:t>156 validated API endpoints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✓"/>
            </a:pPr>
            <a:r>
              <a:rPr lang="en-US" sz="1200" dirty="0">
                <a:solidFill>
                  <a:srgbClr val="8B8FA3"/>
                </a:solidFill>
              </a:rPr>
              <a:t>50+ agent presets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✓"/>
            </a:pPr>
            <a:r>
              <a:rPr lang="en-US" sz="1200" dirty="0">
                <a:solidFill>
                  <a:srgbClr val="8B8FA3"/>
                </a:solidFill>
              </a:rPr>
              <a:t>23 jurisdictions covered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✓"/>
            </a:pPr>
            <a:r>
              <a:rPr lang="en-US" sz="1200" dirty="0">
                <a:solidFill>
                  <a:srgbClr val="8B8FA3"/>
                </a:solidFill>
              </a:rPr>
              <a:t>4 deployment modes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✓"/>
            </a:pPr>
            <a:r>
              <a:rPr lang="en-US" sz="1200" dirty="0">
                <a:solidFill>
                  <a:srgbClr val="8B8FA3"/>
                </a:solidFill>
              </a:rPr>
              <a:t>Live at app.datacendia.com</a:t>
            </a:r>
            <a:endParaRPr lang="en-US" sz="1200" dirty="0"/>
          </a:p>
        </p:txBody>
      </p:sp>
      <p:sp>
        <p:nvSpPr>
          <p:cNvPr id="9" name="Text 7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2024-2026 Datacendia, LLC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FOUNDER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Stuart Rainey — Founder &amp; CEO</a:t>
            </a:r>
            <a:endParaRPr lang="en-US" sz="2400" dirty="0"/>
          </a:p>
        </p:txBody>
      </p:sp>
      <p:sp>
        <p:nvSpPr>
          <p:cNvPr id="5" name="Text 3"/>
          <p:cNvSpPr/>
          <p:nvPr/>
        </p:nvSpPr>
        <p:spPr>
          <a:xfrm>
            <a:off x="731520" y="2194560"/>
            <a:ext cx="5029200" cy="2743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7 years as Senior Data Analyst at TCS, embedded with PGIM Fixed Income ($800B+ AUM)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Built data infrastructure for regulated investment decisions at institutional scale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M.S. in Big Data Analytics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Author of the DDGI framework — ISO/IEC JTC 1/SC 42 standards track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NVIDIA Inception member</a:t>
            </a:r>
            <a:endParaRPr lang="en-US" sz="1200" dirty="0"/>
          </a:p>
        </p:txBody>
      </p:sp>
      <p:sp>
        <p:nvSpPr>
          <p:cNvPr id="6" name="Shape 4"/>
          <p:cNvSpPr/>
          <p:nvPr/>
        </p:nvSpPr>
        <p:spPr>
          <a:xfrm>
            <a:off x="6400800" y="2194560"/>
            <a:ext cx="5029200" cy="2286000"/>
          </a:xfrm>
          <a:prstGeom prst="roundRect">
            <a:avLst>
              <a:gd name="adj" fmla="val 4000"/>
            </a:avLst>
          </a:prstGeom>
          <a:solidFill>
            <a:srgbClr val="141825"/>
          </a:solidFill>
          <a:ln/>
        </p:spPr>
      </p:sp>
      <p:sp>
        <p:nvSpPr>
          <p:cNvPr id="7" name="Text 5"/>
          <p:cNvSpPr/>
          <p:nvPr/>
        </p:nvSpPr>
        <p:spPr>
          <a:xfrm>
            <a:off x="6675120" y="237744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Why This Founder</a:t>
            </a:r>
            <a:endParaRPr lang="en-US" sz="1400" dirty="0"/>
          </a:p>
        </p:txBody>
      </p:sp>
      <p:sp>
        <p:nvSpPr>
          <p:cNvPr id="8" name="Text 6"/>
          <p:cNvSpPr/>
          <p:nvPr/>
        </p:nvSpPr>
        <p:spPr>
          <a:xfrm>
            <a:off x="6675120" y="2926080"/>
            <a:ext cx="4389120" cy="1371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200" dirty="0">
                <a:solidFill>
                  <a:srgbClr val="8B8FA3"/>
                </a:solidFill>
              </a:rPr>
              <a:t>Built the exact data infrastructure that financial institutions need for AI governance — at one of the world's largest asset managers.</a:t>
            </a:r>
            <a:endParaRPr lang="en-US" sz="1200" dirty="0"/>
          </a:p>
        </p:txBody>
      </p:sp>
      <p:sp>
        <p:nvSpPr>
          <p:cNvPr id="9" name="Text 7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2024-2026 Datacendia, LLC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THE ASK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$1.5M Pre-Seed — $7M Pre-Money Valuation</a:t>
            </a:r>
            <a:endParaRPr lang="en-US" sz="2400" dirty="0"/>
          </a:p>
        </p:txBody>
      </p:sp>
      <p:sp>
        <p:nvSpPr>
          <p:cNvPr id="5" name="Shape 3"/>
          <p:cNvSpPr/>
          <p:nvPr/>
        </p:nvSpPr>
        <p:spPr>
          <a:xfrm>
            <a:off x="731520" y="2286000"/>
            <a:ext cx="3291840" cy="2011680"/>
          </a:xfrm>
          <a:prstGeom prst="roundRect">
            <a:avLst>
              <a:gd name="adj" fmla="val 4545"/>
            </a:avLst>
          </a:prstGeom>
          <a:solidFill>
            <a:srgbClr val="141825"/>
          </a:solidFill>
          <a:ln/>
        </p:spPr>
      </p:sp>
      <p:sp>
        <p:nvSpPr>
          <p:cNvPr id="6" name="Text 4"/>
          <p:cNvSpPr/>
          <p:nvPr/>
        </p:nvSpPr>
        <p:spPr>
          <a:xfrm>
            <a:off x="1005840" y="2468880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What's Built</a:t>
            </a:r>
            <a:endParaRPr lang="en-US" sz="1400" dirty="0"/>
          </a:p>
        </p:txBody>
      </p:sp>
      <p:sp>
        <p:nvSpPr>
          <p:cNvPr id="7" name="Text 5"/>
          <p:cNvSpPr/>
          <p:nvPr/>
        </p:nvSpPr>
        <p:spPr>
          <a:xfrm>
            <a:off x="1005840" y="2926080"/>
            <a:ext cx="2743200" cy="1188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205K+ passing tests. 156 validated API endpoints. Live production platform.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4389120" y="2286000"/>
            <a:ext cx="3291840" cy="2011680"/>
          </a:xfrm>
          <a:prstGeom prst="roundRect">
            <a:avLst>
              <a:gd name="adj" fmla="val 4545"/>
            </a:avLst>
          </a:prstGeom>
          <a:solidFill>
            <a:srgbClr val="141825"/>
          </a:solidFill>
          <a:ln/>
        </p:spPr>
      </p:sp>
      <p:sp>
        <p:nvSpPr>
          <p:cNvPr id="9" name="Text 7"/>
          <p:cNvSpPr/>
          <p:nvPr/>
        </p:nvSpPr>
        <p:spPr>
          <a:xfrm>
            <a:off x="4663440" y="2468880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Traction</a:t>
            </a:r>
            <a:endParaRPr lang="en-US" sz="1400" dirty="0"/>
          </a:p>
        </p:txBody>
      </p:sp>
      <p:sp>
        <p:nvSpPr>
          <p:cNvPr id="10" name="Text 8"/>
          <p:cNvSpPr/>
          <p:nvPr/>
        </p:nvSpPr>
        <p:spPr>
          <a:xfrm>
            <a:off x="4663440" y="2926080"/>
            <a:ext cx="2743200" cy="1188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2 warm enterprise intros (financial institution, Big 4 channel). NVIDIA Inception.</a:t>
            </a:r>
            <a:endParaRPr lang="en-US" sz="1100" dirty="0"/>
          </a:p>
        </p:txBody>
      </p:sp>
      <p:sp>
        <p:nvSpPr>
          <p:cNvPr id="11" name="Shape 9"/>
          <p:cNvSpPr/>
          <p:nvPr/>
        </p:nvSpPr>
        <p:spPr>
          <a:xfrm>
            <a:off x="8046720" y="2286000"/>
            <a:ext cx="3291840" cy="2011680"/>
          </a:xfrm>
          <a:prstGeom prst="roundRect">
            <a:avLst>
              <a:gd name="adj" fmla="val 4545"/>
            </a:avLst>
          </a:prstGeom>
          <a:solidFill>
            <a:srgbClr val="141825"/>
          </a:solidFill>
          <a:ln/>
        </p:spPr>
      </p:sp>
      <p:sp>
        <p:nvSpPr>
          <p:cNvPr id="12" name="Text 10"/>
          <p:cNvSpPr/>
          <p:nvPr/>
        </p:nvSpPr>
        <p:spPr>
          <a:xfrm>
            <a:off x="8321040" y="2468880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Use of Funds</a:t>
            </a:r>
            <a:endParaRPr lang="en-US" sz="1400" dirty="0"/>
          </a:p>
        </p:txBody>
      </p:sp>
      <p:sp>
        <p:nvSpPr>
          <p:cNvPr id="13" name="Text 11"/>
          <p:cNvSpPr/>
          <p:nvPr/>
        </p:nvSpPr>
        <p:spPr>
          <a:xfrm>
            <a:off x="8321040" y="2926080"/>
            <a:ext cx="2743200" cy="1188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GTM hiring, SOC 2 Type II certification, first enterprise pilots.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914400" y="4754880"/>
            <a:ext cx="100584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8B8FA3"/>
                </a:solidFill>
              </a:rPr>
              <a:t>$8.5M post-money · 21.5% dilution · Engineering risk resolved — GTM-stage investment.</a:t>
            </a:r>
            <a:endParaRPr lang="en-US" sz="1200" dirty="0"/>
          </a:p>
        </p:txBody>
      </p:sp>
      <p:sp>
        <p:nvSpPr>
          <p:cNvPr id="15" name="Text 13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2024-2026 Datacendia, LLC</a:t>
            </a:r>
            <a:endParaRPr lang="en-US" sz="800" dirty="0"/>
          </a:p>
        </p:txBody>
      </p:sp>
      <p:sp>
        <p:nvSpPr>
          <p:cNvPr id="16" name="Text 14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8229600" y="27432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PLATFORM PROOF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731520" y="1097280"/>
            <a:ext cx="4114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MULTI-AGENT DECISION ENGINE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731520" y="1554480"/>
            <a:ext cx="41148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</a:rPr>
              <a:t>Decisions Made by Specialized AI Agents</a:t>
            </a:r>
            <a:endParaRPr lang="en-US" sz="2000" dirty="0"/>
          </a:p>
        </p:txBody>
      </p:sp>
      <p:sp>
        <p:nvSpPr>
          <p:cNvPr id="6" name="Text 4"/>
          <p:cNvSpPr/>
          <p:nvPr/>
        </p:nvSpPr>
        <p:spPr>
          <a:xfrm>
            <a:off x="731520" y="2743200"/>
            <a:ext cx="4114800" cy="3200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Role-specific agents: CFO, CISO, Legal, Strategy, Risk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Confidence scores and reasoning — dissent preserved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War Room, Governed, and Quick Brief modes</a:t>
            </a:r>
            <a:endParaRPr lang="en-US" sz="1100" dirty="0"/>
          </a:p>
        </p:txBody>
      </p:sp>
      <p:pic>
        <p:nvPicPr>
          <p:cNvPr id="7" name="Image 0" descr="C:\Users\User\datacendia-core\docs\pitch-decks\screenshots\02-council-deliberation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303520" y="1097280"/>
            <a:ext cx="6400800" cy="4846320"/>
          </a:xfrm>
          <a:prstGeom prst="rect">
            <a:avLst/>
          </a:prstGeom>
        </p:spPr>
      </p:pic>
      <p:sp>
        <p:nvSpPr>
          <p:cNvPr id="8" name="Text 5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2024-2026 Datacendia, LLC</a:t>
            </a:r>
            <a:endParaRPr lang="en-US" sz="800" dirty="0"/>
          </a:p>
        </p:txBody>
      </p:sp>
      <p:sp>
        <p:nvSpPr>
          <p:cNvPr id="9" name="Text 6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8229600" y="27432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PLATFORM PROOF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731520" y="1097280"/>
            <a:ext cx="4114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DECISION AUDIT TRAIL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731520" y="1554480"/>
            <a:ext cx="41148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</a:rPr>
              <a:t>Every Decision Tracked with Full Evidence Chain</a:t>
            </a:r>
            <a:endParaRPr lang="en-US" sz="2000" dirty="0"/>
          </a:p>
        </p:txBody>
      </p:sp>
      <p:sp>
        <p:nvSpPr>
          <p:cNvPr id="6" name="Text 4"/>
          <p:cNvSpPr/>
          <p:nvPr/>
        </p:nvSpPr>
        <p:spPr>
          <a:xfrm>
            <a:off x="731520" y="2743200"/>
            <a:ext cx="4114800" cy="3200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Complete searchable decision history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Full deliberation records linked to each decision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Trace any decision back to evidence in seconds</a:t>
            </a:r>
            <a:endParaRPr lang="en-US" sz="1100" dirty="0"/>
          </a:p>
        </p:txBody>
      </p:sp>
      <p:pic>
        <p:nvPicPr>
          <p:cNvPr id="7" name="Image 0" descr="C:\Users\User\datacendia-core\docs\pitch-decks\screenshots\05-decisions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303520" y="1097280"/>
            <a:ext cx="6400800" cy="4846320"/>
          </a:xfrm>
          <a:prstGeom prst="rect">
            <a:avLst/>
          </a:prstGeom>
        </p:spPr>
      </p:pic>
      <p:sp>
        <p:nvSpPr>
          <p:cNvPr id="8" name="Text 5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2024-2026 Datacendia, LLC</a:t>
            </a:r>
            <a:endParaRPr lang="en-US" sz="800" dirty="0"/>
          </a:p>
        </p:txBody>
      </p:sp>
      <p:sp>
        <p:nvSpPr>
          <p:cNvPr id="9" name="Text 6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457200" y="1828800"/>
            <a:ext cx="10972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NEXT STEPS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457200" y="2286000"/>
            <a:ext cx="109728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FFFFFF"/>
                </a:solidFill>
              </a:rPr>
              <a:t>Let’s Talk</a:t>
            </a:r>
            <a:endParaRPr lang="en-US" sz="3600" dirty="0"/>
          </a:p>
        </p:txBody>
      </p:sp>
      <p:sp>
        <p:nvSpPr>
          <p:cNvPr id="5" name="Text 3"/>
          <p:cNvSpPr/>
          <p:nvPr/>
        </p:nvSpPr>
        <p:spPr>
          <a:xfrm>
            <a:off x="1371600" y="3200400"/>
            <a:ext cx="91440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8B8FA3"/>
                </a:solidFill>
              </a:rPr>
              <a:t>AI Governance for Content, Recommendation, and Rights Decisions</a:t>
            </a:r>
            <a:endParaRPr lang="en-US" sz="1400" dirty="0"/>
          </a:p>
        </p:txBody>
      </p:sp>
      <p:sp>
        <p:nvSpPr>
          <p:cNvPr id="6" name="Shape 4"/>
          <p:cNvSpPr/>
          <p:nvPr/>
        </p:nvSpPr>
        <p:spPr>
          <a:xfrm>
            <a:off x="2286000" y="3931920"/>
            <a:ext cx="1828800" cy="457200"/>
          </a:xfrm>
          <a:prstGeom prst="roundRect">
            <a:avLst>
              <a:gd name="adj" fmla="val 10000"/>
            </a:avLst>
          </a:prstGeom>
          <a:solidFill>
            <a:srgbClr val="141825"/>
          </a:solidFill>
          <a:ln/>
        </p:spPr>
      </p:sp>
      <p:sp>
        <p:nvSpPr>
          <p:cNvPr id="7" name="Text 5"/>
          <p:cNvSpPr/>
          <p:nvPr/>
        </p:nvSpPr>
        <p:spPr>
          <a:xfrm>
            <a:off x="2286000" y="39319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D4AF37"/>
                </a:solidFill>
              </a:rPr>
              <a:t>Schedule Deep Dive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4297680" y="3931920"/>
            <a:ext cx="1828800" cy="457200"/>
          </a:xfrm>
          <a:prstGeom prst="roundRect">
            <a:avLst>
              <a:gd name="adj" fmla="val 10000"/>
            </a:avLst>
          </a:prstGeom>
          <a:solidFill>
            <a:srgbClr val="141825"/>
          </a:solidFill>
          <a:ln/>
        </p:spPr>
      </p:sp>
      <p:sp>
        <p:nvSpPr>
          <p:cNvPr id="9" name="Text 7"/>
          <p:cNvSpPr/>
          <p:nvPr/>
        </p:nvSpPr>
        <p:spPr>
          <a:xfrm>
            <a:off x="4297680" y="39319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D4AF37"/>
                </a:solidFill>
              </a:rPr>
              <a:t>Technical Demo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6309360" y="3931920"/>
            <a:ext cx="1828800" cy="457200"/>
          </a:xfrm>
          <a:prstGeom prst="roundRect">
            <a:avLst>
              <a:gd name="adj" fmla="val 10000"/>
            </a:avLst>
          </a:prstGeom>
          <a:solidFill>
            <a:srgbClr val="141825"/>
          </a:solidFill>
          <a:ln/>
        </p:spPr>
      </p:sp>
      <p:sp>
        <p:nvSpPr>
          <p:cNvPr id="11" name="Text 9"/>
          <p:cNvSpPr/>
          <p:nvPr/>
        </p:nvSpPr>
        <p:spPr>
          <a:xfrm>
            <a:off x="6309360" y="39319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D4AF37"/>
                </a:solidFill>
              </a:rPr>
              <a:t>Data Room Access</a:t>
            </a:r>
            <a:endParaRPr lang="en-US" sz="1100" dirty="0"/>
          </a:p>
        </p:txBody>
      </p:sp>
      <p:sp>
        <p:nvSpPr>
          <p:cNvPr id="12" name="Shape 10"/>
          <p:cNvSpPr/>
          <p:nvPr/>
        </p:nvSpPr>
        <p:spPr>
          <a:xfrm>
            <a:off x="8321040" y="3931920"/>
            <a:ext cx="1828800" cy="457200"/>
          </a:xfrm>
          <a:prstGeom prst="roundRect">
            <a:avLst>
              <a:gd name="adj" fmla="val 10000"/>
            </a:avLst>
          </a:prstGeom>
          <a:solidFill>
            <a:srgbClr val="D4AF37"/>
          </a:solidFill>
          <a:ln/>
        </p:spPr>
      </p:sp>
      <p:sp>
        <p:nvSpPr>
          <p:cNvPr id="13" name="Text 11"/>
          <p:cNvSpPr/>
          <p:nvPr/>
        </p:nvSpPr>
        <p:spPr>
          <a:xfrm>
            <a:off x="8321040" y="39319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0A0E1A"/>
                </a:solidFill>
              </a:rPr>
              <a:t>Try Live Demo →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1828800" y="5029200"/>
            <a:ext cx="8229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8B8FA3"/>
                </a:solidFill>
              </a:rPr>
              <a:t>contact@datacendia.com | datacendia.com</a:t>
            </a:r>
            <a:endParaRPr lang="en-US" sz="1200" dirty="0"/>
          </a:p>
        </p:txBody>
      </p:sp>
      <p:sp>
        <p:nvSpPr>
          <p:cNvPr id="15" name="Text 13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2024-2026 Datacendia, LLC</a:t>
            </a:r>
            <a:endParaRPr lang="en-US" sz="800" dirty="0"/>
          </a:p>
        </p:txBody>
      </p:sp>
      <p:sp>
        <p:nvSpPr>
          <p:cNvPr id="16" name="Text 14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10</Slides>
  <Notes>10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10</vt:i4>
      </vt:variant>
    </vt:vector>
  </HeadingPairs>
  <TitlesOfParts>
    <vt:vector size="13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</vt:vector>
  </TitlesOfParts>
  <Company>Datacendia, LLC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Datacendia - Media &amp; Entertainment</dc:title>
  <dc:subject>Media &amp; Entertainment</dc:subject>
  <dc:creator>Datacendia</dc:creator>
  <cp:lastModifiedBy>Datacendia</cp:lastModifiedBy>
  <cp:revision>1</cp:revision>
  <dcterms:created xsi:type="dcterms:W3CDTF">2026-03-17T13:50:53Z</dcterms:created>
  <dcterms:modified xsi:type="dcterms:W3CDTF">2026-03-17T13:50:53Z</dcterms:modified>
</cp:coreProperties>
</file>