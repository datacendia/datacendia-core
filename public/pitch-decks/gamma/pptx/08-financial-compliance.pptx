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GAMMA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FINANCIAL COMPLIANCE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Decision evidence for regulated finance and operational resilience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Banks, insurers, and capital-markets teams need replayable reasoning for credit, fraud, trading, and compliance decisions before scrutiny arrives.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GAMMA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Regulated Finance Needs Defensible AI Decisions.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Financial institutions are moving AI into underwriting, surveillance, fraud, and operations.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Supervisors and internal risk teams need evidence for who approved what and why.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Operational resilience depends on replayable decisions, not just logs and dashboards.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Very few platforms combine deliberation, dissent, and immutable evidence.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AI adoption is accelerating across regulated workflows while explainability expectations keep tightening.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Single-model outputs are too thin for risk committees, compliance teams, and external review.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Datacendia closes the gap between AI output and a defensible decision record.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GAMMA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The Council™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specialized AI agent presets with distinct expertise deliberate on your data — like a boardroom, not a chatbot.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CendiaChronos (time machine), Ghost Board, CendiaPreMortem, Decision Debt, CendiaLive, CendiaReplay, CendiaEcho, CendiaLens, CendiaCollapse, CendiaPulse, CendiaCrisis, CendiaROI, CendiaDCII.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CendiaOversight, CendiaNotary, CendiaVault, CendiaProvenance, Decision Packets, CendiaCrucible, CendiaRedTeam, SGAS, CendiaCourt, CendiaSandbox, CendiaZKP, CendiaInsure, CendiaQuantumKMS, CendiaCarbon, CendiaJurisdiction, CendiaCompliance.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Cloud to air-gapped. 4 deployment modes. 11 sovereign patterns. Zero-copy architecture — your data never leaves your database.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16 native connectors. Data stays in your DB — Datacendia queries in place. No ETL, no data movement, no risk.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CendiaOmniTranslate (100 languages), CendiaDissent (protected whistleblower channel), CendiaResponsibility (human accountability layer with TPM-signed liability).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Every tool purpose-built for AI decision governance. From real-time deliberation (CendiaLive) to quantum-resistant signing (CendiaQuantumKMS) — no competitor offers this depth.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GAMMA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COUNCIL™ IN ACTION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Multi-Agent Deliberation — Live UI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GAMMA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SCALE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Built for Enterprise, Engineered for Rigor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731520" y="2560320"/>
            <a:ext cx="1257300" cy="1645920"/>
          </a:xfrm>
          <a:prstGeom prst="roundRect">
            <a:avLst>
              <a:gd name="adj" fmla="val 727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2743200"/>
            <a:ext cx="12573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914400" y="3474720"/>
            <a:ext cx="8915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API Endpoints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263140" y="2560320"/>
            <a:ext cx="1257300" cy="1645920"/>
          </a:xfrm>
          <a:prstGeom prst="roundRect">
            <a:avLst>
              <a:gd name="adj" fmla="val 727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2263140" y="2743200"/>
            <a:ext cx="12573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446020" y="3474720"/>
            <a:ext cx="8915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Agents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794760" y="2560320"/>
            <a:ext cx="1257300" cy="1645920"/>
          </a:xfrm>
          <a:prstGeom prst="roundRect">
            <a:avLst>
              <a:gd name="adj" fmla="val 727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3794760" y="2743200"/>
            <a:ext cx="12573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16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977640" y="3474720"/>
            <a:ext cx="8915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Data Connectors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326380" y="2560320"/>
            <a:ext cx="1257300" cy="1645920"/>
          </a:xfrm>
          <a:prstGeom prst="roundRect">
            <a:avLst>
              <a:gd name="adj" fmla="val 727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326380" y="2743200"/>
            <a:ext cx="12573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26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5509260" y="3474720"/>
            <a:ext cx="8915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Languages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858000" y="2560320"/>
            <a:ext cx="1257300" cy="1645920"/>
          </a:xfrm>
          <a:prstGeom prst="roundRect">
            <a:avLst>
              <a:gd name="adj" fmla="val 727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6858000" y="2743200"/>
            <a:ext cx="12573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7040880" y="3474720"/>
            <a:ext cx="8915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 Modes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389620" y="2560320"/>
            <a:ext cx="1257300" cy="1645920"/>
          </a:xfrm>
          <a:prstGeom prst="roundRect">
            <a:avLst>
              <a:gd name="adj" fmla="val 727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8389620" y="2743200"/>
            <a:ext cx="12573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12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8572500" y="3474720"/>
            <a:ext cx="8915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Council Modes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9921240" y="2560320"/>
            <a:ext cx="1257300" cy="1645920"/>
          </a:xfrm>
          <a:prstGeom prst="roundRect">
            <a:avLst>
              <a:gd name="adj" fmla="val 727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9921240" y="2743200"/>
            <a:ext cx="12573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11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10104120" y="3474720"/>
            <a:ext cx="8915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Sovereign Patterns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11452860" y="2560320"/>
            <a:ext cx="1257300" cy="1645920"/>
          </a:xfrm>
          <a:prstGeom prst="roundRect">
            <a:avLst>
              <a:gd name="adj" fmla="val 727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11452860" y="2743200"/>
            <a:ext cx="12573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32+</a:t>
            </a:r>
            <a:endParaRPr lang="en-US" sz="2800" dirty="0"/>
          </a:p>
        </p:txBody>
      </p:sp>
      <p:sp>
        <p:nvSpPr>
          <p:cNvPr id="29" name="Text 27"/>
          <p:cNvSpPr/>
          <p:nvPr/>
        </p:nvSpPr>
        <p:spPr>
          <a:xfrm>
            <a:off x="11635740" y="3474720"/>
            <a:ext cx="8915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Products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GAMMA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COUNCIL™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50+ Specialized Agent Presets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Security &amp; Compliance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Adversarial Challenge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Each agent brings domain expertise, challenges assumptions, and votes with confidence scores. Dissenting opinions are preserved — not silenced. The Arbiter synthesizes all perspectives into an actionable decision with full evidence.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GAMMA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OUTPUT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Auditable Decision Package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GAMMA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Deploy Anywhere — Your Data, Your Control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Data Diode, Local RLHF, Shadow Council, TPM Attestation, Federated Mesh, QR Air-Gap Bridge, and more.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Data never moves. Datacendia queries in place via native connectors. No ETL pipelines, no data lakes to maintain.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Architecture designed to FedRAMP Moderate controls. SOC 2 Type II In Progress. ISO 27001 target H2 2026.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GAMMA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PRICING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Transparent, Procurement-Ready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Implementation ($15K–$120K), Consulting ($8K–$25K), Training ($2.5K–$8K), Custom Development ($15K–$100K), Premium Support ($2.5K–$6K/mo). Average services attach rate: 30–40% of ACV.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Gross margin &gt;80%. Net dollar retention &gt;130%. CAC payback &lt;18 months. LTV:CAC &gt;5x. Land with Pilot, expand to Enterprise.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GAMMA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Financial Governance Matters Now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Regulated finance rewards platforms that shorten review cycles without weakening controls.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Operational resilience, model risk, and audit expectations are all pushing toward evidence-rich workflows.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Credit, fraud, and surveillance teams need more than predictions — they need explainable approvals.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evidence creates a system of record for high-stakes financial workflows.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challenge helps surface blind spots before they become losses or enforcement issues.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matters for sensitive data and institution-specific controls.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Exportable evidence improves regulator response, board reporting, and post-incident analysis.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Finance AI winners will be the platforms institutions can defend under scrutiny.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GAMMA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COMPETITIVE MOAT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Seven Layers of Defensibility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specialized agent presets with domain reasoning — not wrapper-on-ChatGPT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Immutable hash chain for every decision — competitors can't retrofit this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Air-gapped to cloud — 11 sovereign patterns no competitor offers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Data never moves — eliminates entire attack surface and compliance burden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Day-one global enterprise readiness with RTL support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Full audit theater — replay any decision step by step for any stakeholder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More decisions → better agents → more accurate deliberations → higher switching cost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Bottom line: Traditional BI tools (Tableau, Power BI) show you data. LLM wrappers (ChatGPT Enterprise) give one opinion. Palantir moves your data. Only Datacendia provides multi-agent deliberation with cryptographic proof, zero-copy architecture, and sovereign deployment — simultaneously.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GAMMA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Production-Ready — Not a Prototype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GAMMA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COMPLIANCE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Financial Readiness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Why this matters for fundraising: regulated finance buys trust, control, and auditability. Decision evidence turns AI from a model-risk concern into a governed operating capability across compliance, risk, and front-office workflows.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GAMMA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10058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FFFFF"/>
                </a:solidFill>
              </a:rPr>
              <a:t>"EU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evidence."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4114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— The Datacendia Manifesto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GAMMA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GAMMA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— Series A Investor Overview</dc:title>
  <dc:subject>PptxGenJS Presentation</dc:subject>
  <dc:creator>Datacendia</dc:creator>
  <cp:lastModifiedBy>Datacendia</cp:lastModifiedBy>
  <cp:revision>1</cp:revision>
  <dcterms:created xsi:type="dcterms:W3CDTF">2026-03-17T14:12:20Z</dcterms:created>
  <dcterms:modified xsi:type="dcterms:W3CDTF">2026-03-17T14:12:20Z</dcterms:modified>
</cp:coreProperties>
</file>