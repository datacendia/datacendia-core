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3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notesMasterIdLst>
    <p:notesMasterId r:id="rId12"/>
  </p:notesMasterIdLst>
  <p:sldSz cx="12188952" cy="6858000"/>
  <p:notesSz cx="6858000" cy="12188952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notesMaster" Target="notesMasters/notesMaster1.xml"/><Relationship Id="rId13" Type="http://schemas.openxmlformats.org/officeDocument/2006/relationships/presProps" Target="presProps.xml"/><Relationship Id="rId14" Type="http://schemas.openxmlformats.org/officeDocument/2006/relationships/viewProps" Target="viewProps.xml"/><Relationship Id="rId15" Type="http://schemas.openxmlformats.org/officeDocument/2006/relationships/theme" Target="theme/theme1.xml"/><Relationship Id="rId16" Type="http://schemas.openxmlformats.org/officeDocument/2006/relationships/tableStyles" Target="tableStyles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6400800" y="27432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PREPARED FOR SALESFORCE VENTURES (ASIA)</a:t>
            </a:r>
            <a:endParaRPr lang="en-US" sz="800" dirty="0"/>
          </a:p>
        </p:txBody>
      </p:sp>
      <p:sp>
        <p:nvSpPr>
          <p:cNvPr id="4" name="Shape 2"/>
          <p:cNvSpPr/>
          <p:nvPr/>
        </p:nvSpPr>
        <p:spPr>
          <a:xfrm>
            <a:off x="4114800" y="1645920"/>
            <a:ext cx="3931920" cy="411480"/>
          </a:xfrm>
          <a:prstGeom prst="roundRect">
            <a:avLst>
              <a:gd name="adj" fmla="val 8889"/>
            </a:avLst>
          </a:prstGeom>
          <a:solidFill>
            <a:srgbClr val="D4AF37"/>
          </a:solidFill>
          <a:ln/>
        </p:spPr>
        <p:txBody>
          <a:bodyPr/>
          <a:p/>
        </p:txBody>
      </p:sp>
      <p:sp>
        <p:nvSpPr>
          <p:cNvPr id="5" name="Text 3"/>
          <p:cNvSpPr/>
          <p:nvPr/>
        </p:nvSpPr>
        <p:spPr>
          <a:xfrm>
            <a:off x="4114800" y="1645920"/>
            <a:ext cx="39319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0A0E1A"/>
                </a:solidFill>
              </a:rPr>
              <a:t>PREPARED FOR SALESFORCE VENTURES (ASIA)</a:t>
            </a:r>
            <a:endParaRPr lang="en-US" sz="1000" dirty="0"/>
          </a:p>
        </p:txBody>
      </p:sp>
      <p:sp>
        <p:nvSpPr>
          <p:cNvPr id="6" name="Text 4"/>
          <p:cNvSpPr/>
          <p:nvPr/>
        </p:nvSpPr>
        <p:spPr>
          <a:xfrm>
            <a:off x="457200" y="2286000"/>
            <a:ext cx="10972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DATACENDIA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457200" y="2743200"/>
            <a:ext cx="1097280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400" b="1" dirty="0">
                <a:solidFill>
                  <a:srgbClr val="FFFFFF"/>
                </a:solidFill>
              </a:rPr>
              <a:t>Datacendia for SALESFORCE VENTURES (ASIA)</a:t>
            </a:r>
            <a:endParaRPr lang="en-US" sz="3400" dirty="0"/>
          </a:p>
        </p:txBody>
      </p:sp>
      <p:sp>
        <p:nvSpPr>
          <p:cNvPr id="8" name="Text 6"/>
          <p:cNvSpPr/>
          <p:nvPr/>
        </p:nvSpPr>
        <p:spPr>
          <a:xfrm>
            <a:off x="1371600" y="4023360"/>
            <a:ext cx="91440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dirty="0">
                <a:solidFill>
                  <a:srgbClr val="8B8FA3"/>
                </a:solidFill>
              </a:rPr>
              <a:t>Decision Evidence Infrastructure for AI Systems</a:t>
            </a:r>
            <a:endParaRPr lang="en-US" sz="1500" dirty="0"/>
          </a:p>
        </p:txBody>
      </p:sp>
      <p:sp>
        <p:nvSpPr>
          <p:cNvPr id="9" name="Shape 7"/>
          <p:cNvSpPr/>
          <p:nvPr/>
        </p:nvSpPr>
        <p:spPr>
          <a:xfrm>
            <a:off x="5029200" y="4663440"/>
            <a:ext cx="2103120" cy="0"/>
          </a:xfrm>
          <a:prstGeom prst="line">
            <a:avLst/>
          </a:prstGeom>
          <a:noFill/>
          <a:ln w="25400">
            <a:solidFill>
              <a:srgbClr val="D4AF37"/>
            </a:solidFill>
            <a:prstDash val="solid"/>
          </a:ln>
        </p:spPr>
        <p:txBody>
          <a:bodyPr/>
          <a:p/>
        </p:txBody>
      </p:sp>
      <p:sp>
        <p:nvSpPr>
          <p:cNvPr id="10" name="Text 8"/>
          <p:cNvSpPr/>
          <p:nvPr/>
        </p:nvSpPr>
        <p:spPr>
          <a:xfrm>
            <a:off x="1828800" y="493776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8B8FA3"/>
                </a:solidFill>
              </a:rPr>
              <a:t>Corporate VC · Tokyo / Singapore · $1B+ AUM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2024–2026 Datacendia, LLC</a:t>
            </a:r>
            <a:endParaRPr lang="en-US" sz="800" dirty="0"/>
          </a:p>
        </p:txBody>
      </p:sp>
      <p:sp>
        <p:nvSpPr>
          <p:cNvPr id="12" name="Text 10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8229600" y="27432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INVESTOR ALIGNMENT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731520" y="91440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WHY SALESFORCE VENTURES (ASIA)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731520" y="1371600"/>
            <a:ext cx="10058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</a:rPr>
              <a:t>Why Datacendia Aligns with SALESFORCE VENTURES (ASIA)</a:t>
            </a:r>
            <a:endParaRPr lang="en-US" sz="2200" dirty="0"/>
          </a:p>
        </p:txBody>
      </p:sp>
      <p:sp>
        <p:nvSpPr>
          <p:cNvPr id="6" name="Text 4"/>
          <p:cNvSpPr/>
          <p:nvPr/>
        </p:nvSpPr>
        <p:spPr>
          <a:xfrm>
            <a:off x="731520" y="2194560"/>
            <a:ext cx="5029200" cy="12801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50000"/>
              </a:lnSpc>
              <a:buNone/>
            </a:pPr>
            <a:r>
              <a:rPr lang="en-US" sz="1200" dirty="0">
                <a:solidFill>
                  <a:srgbClr val="8B8FA3"/>
                </a:solidFill>
              </a:rPr>
              <a:t>AI is eating software. salesforce-ventures2's dedicated AI fund backs infrastructure that becomes the default layer for enterprise AI adoption.</a:t>
            </a:r>
            <a:endParaRPr lang="en-US" sz="1200" dirty="0"/>
          </a:p>
        </p:txBody>
      </p:sp>
      <p:sp>
        <p:nvSpPr>
          <p:cNvPr id="7" name="Shape 5"/>
          <p:cNvSpPr/>
          <p:nvPr/>
        </p:nvSpPr>
        <p:spPr>
          <a:xfrm>
            <a:off x="731520" y="3657600"/>
            <a:ext cx="5029200" cy="2286000"/>
          </a:xfrm>
          <a:prstGeom prst="roundRect">
            <a:avLst>
              <a:gd name="adj" fmla="val 4000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8" name="Text 6"/>
          <p:cNvSpPr/>
          <p:nvPr/>
        </p:nvSpPr>
        <p:spPr>
          <a:xfrm>
            <a:off x="1005840" y="3840480"/>
            <a:ext cx="4572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D4AF37"/>
                </a:solidFill>
              </a:rPr>
              <a:t>Your Thesis → Our Mission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1005840" y="4297680"/>
            <a:ext cx="4572000" cy="14630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50000"/>
              </a:lnSpc>
              <a:buNone/>
            </a:pPr>
            <a:r>
              <a:rPr lang="en-US" sz="1100" dirty="0">
                <a:solidFill>
                  <a:srgbClr val="8B8FA3"/>
                </a:solidFill>
              </a:rPr>
              <a:t>Datacendia is the missing decision-evidence layer for enterprise AI — the infrastructure that sits between AI deployment and regulatory compliance. As AI adoption accelerates, every enterprise needs cryptographic proof of AI decisions.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6400800" y="2194560"/>
            <a:ext cx="5029200" cy="3749040"/>
          </a:xfrm>
          <a:prstGeom prst="roundRect">
            <a:avLst>
              <a:gd name="adj" fmla="val 2439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11" name="Text 9"/>
          <p:cNvSpPr/>
          <p:nvPr/>
        </p:nvSpPr>
        <p:spPr>
          <a:xfrm>
            <a:off x="6675120" y="2377440"/>
            <a:ext cx="4572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D4AF37"/>
                </a:solidFill>
              </a:rPr>
              <a:t>Portfolio Adjacency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6675120" y="2834640"/>
            <a:ext cx="4389120" cy="1371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40000"/>
              </a:lnSpc>
              <a:buSzPct val="100000"/>
              <a:buChar char="✓"/>
            </a:pPr>
            <a:r>
              <a:rPr lang="en-US" sz="1100" dirty="0">
                <a:solidFill>
                  <a:srgbClr val="D4AF37"/>
                </a:solidFill>
              </a:rPr>
              <a:t>Asian enterprise CRM ecosystem</a:t>
            </a:r>
            <a:endParaRPr lang="en-US" sz="1100" dirty="0"/>
          </a:p>
          <a:p>
            <a:pPr marL="342900" indent="-342900">
              <a:lnSpc>
                <a:spcPct val="140000"/>
              </a:lnSpc>
              <a:buSzPct val="100000"/>
              <a:buChar char="✓"/>
            </a:pPr>
            <a:r>
              <a:rPr lang="en-US" sz="1100" dirty="0">
                <a:solidFill>
                  <a:srgbClr val="D4AF37"/>
                </a:solidFill>
              </a:rPr>
              <a:t>Anyscale</a:t>
            </a:r>
            <a:endParaRPr lang="en-US" sz="1100" dirty="0"/>
          </a:p>
          <a:p>
            <a:pPr marL="342900" indent="-342900">
              <a:lnSpc>
                <a:spcPct val="140000"/>
              </a:lnSpc>
              <a:buSzPct val="100000"/>
              <a:buChar char="✓"/>
            </a:pPr>
            <a:r>
              <a:rPr lang="en-US" sz="1100" dirty="0">
                <a:solidFill>
                  <a:srgbClr val="D4AF37"/>
                </a:solidFill>
              </a:rPr>
              <a:t>Hex</a:t>
            </a:r>
            <a:endParaRPr lang="en-US" sz="1100" dirty="0"/>
          </a:p>
          <a:p>
            <a:pPr marL="342900" indent="-342900">
              <a:lnSpc>
                <a:spcPct val="140000"/>
              </a:lnSpc>
              <a:buSzPct val="100000"/>
              <a:buChar char="✓"/>
            </a:pPr>
            <a:r>
              <a:rPr lang="en-US" sz="1100" dirty="0">
                <a:solidFill>
                  <a:srgbClr val="D4AF37"/>
                </a:solidFill>
              </a:rPr>
              <a:t>dbt Labs</a:t>
            </a:r>
            <a:endParaRPr lang="en-US" sz="1100" dirty="0"/>
          </a:p>
          <a:p>
            <a:pPr marL="342900" indent="-342900">
              <a:lnSpc>
                <a:spcPct val="140000"/>
              </a:lnSpc>
              <a:buSzPct val="100000"/>
              <a:buChar char="✓"/>
            </a:pPr>
            <a:r>
              <a:rPr lang="en-US" sz="1100" dirty="0">
                <a:solidFill>
                  <a:srgbClr val="D4AF37"/>
                </a:solidFill>
              </a:rPr>
              <a:t>Replit</a:t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6675120" y="4389120"/>
            <a:ext cx="4389120" cy="1371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40000"/>
              </a:lnSpc>
              <a:buNone/>
            </a:pPr>
            <a:r>
              <a:rPr lang="en-US" sz="1100" dirty="0">
                <a:solidFill>
                  <a:srgbClr val="8B8FA3"/>
                </a:solidFill>
              </a:rPr>
              <a:t>salesforce-ventures2 has backed the data stack (Asian enterprise CRM ecosystem, dbt) and AI infra (Anyscale). Datacendia completes the stack: decision evidence, accountability, and regulatory compliance for every AI decision.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2024–2026 Datacendia, LLC</a:t>
            </a:r>
            <a:endParaRPr lang="en-US" sz="800" dirty="0"/>
          </a:p>
        </p:txBody>
      </p:sp>
      <p:sp>
        <p:nvSpPr>
          <p:cNvPr id="15" name="Text 13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731520" y="9144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THE PROBLEM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731520" y="1371600"/>
            <a:ext cx="10058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</a:rPr>
              <a:t>Enterprise AI Has No Decision Evidence Layer</a:t>
            </a:r>
            <a:endParaRPr lang="en-US" sz="2400" dirty="0"/>
          </a:p>
        </p:txBody>
      </p:sp>
      <p:sp>
        <p:nvSpPr>
          <p:cNvPr id="5" name="Text 3"/>
          <p:cNvSpPr/>
          <p:nvPr/>
        </p:nvSpPr>
        <p:spPr>
          <a:xfrm>
            <a:off x="731520" y="2194560"/>
            <a:ext cx="10058400" cy="2743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300" dirty="0">
                <a:solidFill>
                  <a:srgbClr val="8B8FA3"/>
                </a:solidFill>
              </a:rPr>
              <a:t>Every enterprise deploying AI will be required to produce decision evidence under regulatory or legal challenge — and no platform exists to generate it</a:t>
            </a:r>
            <a:endParaRPr lang="en-US" sz="13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300" dirty="0">
                <a:solidFill>
                  <a:srgbClr val="8B8FA3"/>
                </a:solidFill>
              </a:rPr>
              <a:t>EU AI Act (2025–2026) mandates governance for high-risk AI — penalties up to €35M or 7% revenue</a:t>
            </a:r>
            <a:endParaRPr lang="en-US" sz="13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300" dirty="0">
                <a:solidFill>
                  <a:srgbClr val="8B8FA3"/>
                </a:solidFill>
              </a:rPr>
              <a:t>DORA requires AI operational resilience for financial services by Jan 2025</a:t>
            </a:r>
            <a:endParaRPr lang="en-US" sz="13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300" dirty="0">
                <a:solidFill>
                  <a:srgbClr val="8B8FA3"/>
                </a:solidFill>
              </a:rPr>
              <a:t>No widely adopted platform provides cryptographically verifiable decision evidence at the decision level</a:t>
            </a:r>
            <a:endParaRPr lang="en-US" sz="13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300" dirty="0">
                <a:solidFill>
                  <a:srgbClr val="8B8FA3"/>
                </a:solidFill>
              </a:rPr>
              <a:t>Enterprises face regulatory risk with every AI deployment — and have no solution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731520" y="5029200"/>
            <a:ext cx="2468880" cy="1097280"/>
          </a:xfrm>
          <a:prstGeom prst="roundRect">
            <a:avLst>
              <a:gd name="adj" fmla="val 8333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7" name="Text 5"/>
          <p:cNvSpPr/>
          <p:nvPr/>
        </p:nvSpPr>
        <p:spPr>
          <a:xfrm>
            <a:off x="731520" y="5120640"/>
            <a:ext cx="24688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D4AF37"/>
                </a:solidFill>
              </a:rPr>
              <a:t>€35M</a:t>
            </a:r>
            <a:endParaRPr lang="en-US" sz="2400" dirty="0"/>
          </a:p>
        </p:txBody>
      </p:sp>
      <p:sp>
        <p:nvSpPr>
          <p:cNvPr id="8" name="Text 6"/>
          <p:cNvSpPr/>
          <p:nvPr/>
        </p:nvSpPr>
        <p:spPr>
          <a:xfrm>
            <a:off x="914400" y="5669280"/>
            <a:ext cx="21031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8B8FA3"/>
                </a:solidFill>
              </a:rPr>
              <a:t>Max EU AI Act penalty</a:t>
            </a:r>
            <a:endParaRPr lang="en-US" sz="900" dirty="0"/>
          </a:p>
        </p:txBody>
      </p:sp>
      <p:sp>
        <p:nvSpPr>
          <p:cNvPr id="9" name="Shape 7"/>
          <p:cNvSpPr/>
          <p:nvPr/>
        </p:nvSpPr>
        <p:spPr>
          <a:xfrm>
            <a:off x="3474720" y="5029200"/>
            <a:ext cx="2468880" cy="1097280"/>
          </a:xfrm>
          <a:prstGeom prst="roundRect">
            <a:avLst>
              <a:gd name="adj" fmla="val 8333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10" name="Text 8"/>
          <p:cNvSpPr/>
          <p:nvPr/>
        </p:nvSpPr>
        <p:spPr>
          <a:xfrm>
            <a:off x="3474720" y="5120640"/>
            <a:ext cx="24688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D4AF37"/>
                </a:solidFill>
              </a:rPr>
              <a:t>0</a:t>
            </a:r>
            <a:endParaRPr lang="en-US" sz="2400" dirty="0"/>
          </a:p>
        </p:txBody>
      </p:sp>
      <p:sp>
        <p:nvSpPr>
          <p:cNvPr id="11" name="Text 9"/>
          <p:cNvSpPr/>
          <p:nvPr/>
        </p:nvSpPr>
        <p:spPr>
          <a:xfrm>
            <a:off x="3657600" y="5669280"/>
            <a:ext cx="21031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8B8FA3"/>
                </a:solidFill>
              </a:rPr>
              <a:t>Widely adopted decision-evidence platforms</a:t>
            </a:r>
            <a:endParaRPr lang="en-US" sz="900" dirty="0"/>
          </a:p>
        </p:txBody>
      </p:sp>
      <p:sp>
        <p:nvSpPr>
          <p:cNvPr id="12" name="Shape 10"/>
          <p:cNvSpPr/>
          <p:nvPr/>
        </p:nvSpPr>
        <p:spPr>
          <a:xfrm>
            <a:off x="6217920" y="5029200"/>
            <a:ext cx="2468880" cy="1097280"/>
          </a:xfrm>
          <a:prstGeom prst="roundRect">
            <a:avLst>
              <a:gd name="adj" fmla="val 8333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13" name="Text 11"/>
          <p:cNvSpPr/>
          <p:nvPr/>
        </p:nvSpPr>
        <p:spPr>
          <a:xfrm>
            <a:off x="6217920" y="5120640"/>
            <a:ext cx="24688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D4AF37"/>
                </a:solidFill>
              </a:rPr>
              <a:t>2025</a:t>
            </a:r>
            <a:endParaRPr lang="en-US" sz="2400" dirty="0"/>
          </a:p>
        </p:txBody>
      </p:sp>
      <p:sp>
        <p:nvSpPr>
          <p:cNvPr id="14" name="Text 12"/>
          <p:cNvSpPr/>
          <p:nvPr/>
        </p:nvSpPr>
        <p:spPr>
          <a:xfrm>
            <a:off x="6400800" y="5669280"/>
            <a:ext cx="21031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8B8FA3"/>
                </a:solidFill>
              </a:rPr>
              <a:t>EU AI Act high-risk in effect</a:t>
            </a:r>
            <a:endParaRPr lang="en-US" sz="900" dirty="0"/>
          </a:p>
        </p:txBody>
      </p:sp>
      <p:sp>
        <p:nvSpPr>
          <p:cNvPr id="15" name="Shape 13"/>
          <p:cNvSpPr/>
          <p:nvPr/>
        </p:nvSpPr>
        <p:spPr>
          <a:xfrm>
            <a:off x="8961120" y="5029200"/>
            <a:ext cx="2468880" cy="1097280"/>
          </a:xfrm>
          <a:prstGeom prst="roundRect">
            <a:avLst>
              <a:gd name="adj" fmla="val 8333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16" name="Text 14"/>
          <p:cNvSpPr/>
          <p:nvPr/>
        </p:nvSpPr>
        <p:spPr>
          <a:xfrm>
            <a:off x="8961120" y="5120640"/>
            <a:ext cx="24688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D4AF37"/>
                </a:solidFill>
              </a:rPr>
              <a:t>85%</a:t>
            </a:r>
            <a:endParaRPr lang="en-US" sz="2400" dirty="0"/>
          </a:p>
        </p:txBody>
      </p:sp>
      <p:sp>
        <p:nvSpPr>
          <p:cNvPr id="17" name="Text 15"/>
          <p:cNvSpPr/>
          <p:nvPr/>
        </p:nvSpPr>
        <p:spPr>
          <a:xfrm>
            <a:off x="9144000" y="5669280"/>
            <a:ext cx="21031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8B8FA3"/>
                </a:solidFill>
              </a:rPr>
              <a:t>Fortune 500 deploying AI</a:t>
            </a:r>
            <a:endParaRPr lang="en-US" sz="900" dirty="0"/>
          </a:p>
        </p:txBody>
      </p:sp>
      <p:sp>
        <p:nvSpPr>
          <p:cNvPr id="18" name="Text 16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2024–2026 Datacendia, LLC</a:t>
            </a:r>
            <a:endParaRPr lang="en-US" sz="800" dirty="0"/>
          </a:p>
        </p:txBody>
      </p:sp>
      <p:sp>
        <p:nvSpPr>
          <p:cNvPr id="19" name="Text 17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731520" y="9144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THE SOLUTION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731520" y="1371600"/>
            <a:ext cx="10058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</a:rPr>
              <a:t>Multi-Agent Deliberation with Cryptographic Evidence</a:t>
            </a:r>
            <a:endParaRPr lang="en-US" sz="2200" dirty="0"/>
          </a:p>
        </p:txBody>
      </p:sp>
      <p:sp>
        <p:nvSpPr>
          <p:cNvPr id="5" name="Text 3"/>
          <p:cNvSpPr/>
          <p:nvPr/>
        </p:nvSpPr>
        <p:spPr>
          <a:xfrm>
            <a:off x="731520" y="2194560"/>
            <a:ext cx="5029200" cy="3200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Multi-agent deliberation with role-specific AI agents (CFO, CISO, Legal, Strategy, Risk, and more)</a:t>
            </a:r>
            <a:endParaRPr lang="en-US" sz="11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Cryptographic decision evidence — Ed25519 signatures, Merkle trees, RFC 3161 timestamps</a:t>
            </a:r>
            <a:endParaRPr lang="en-US" sz="11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Sovereign deployment — Cloud, Private Cloud, On-Premises, and Air-Gapped</a:t>
            </a:r>
            <a:endParaRPr lang="en-US" sz="11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EU AI Act, DORA, GDPR, HIPAA compliance mapping across 23 jurisdictions</a:t>
            </a:r>
            <a:endParaRPr lang="en-US" sz="11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Zero-copy data architecture — data never leaves customer infrastructure</a:t>
            </a:r>
            <a:endParaRPr lang="en-US" sz="11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Open-source core (Apache 2.0) with enterprise features</a:t>
            </a:r>
            <a:endParaRPr lang="en-US" sz="1100" dirty="0"/>
          </a:p>
        </p:txBody>
      </p:sp>
      <p:sp>
        <p:nvSpPr>
          <p:cNvPr id="6" name="Shape 4"/>
          <p:cNvSpPr/>
          <p:nvPr/>
        </p:nvSpPr>
        <p:spPr>
          <a:xfrm>
            <a:off x="6400800" y="2194560"/>
            <a:ext cx="5029200" cy="1371600"/>
          </a:xfrm>
          <a:prstGeom prst="roundRect">
            <a:avLst>
              <a:gd name="adj" fmla="val 6667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7" name="Text 5"/>
          <p:cNvSpPr/>
          <p:nvPr/>
        </p:nvSpPr>
        <p:spPr>
          <a:xfrm>
            <a:off x="6675120" y="2377440"/>
            <a:ext cx="4572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D4AF37"/>
                </a:solidFill>
              </a:rPr>
              <a:t>Key Angle for SALESFORCE VENTURES (ASIA)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6675120" y="2834640"/>
            <a:ext cx="4389120" cy="6400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</a:rPr>
              <a:t>Salesforce APAC CVC</a:t>
            </a:r>
            <a:endParaRPr lang="en-US" sz="1400" dirty="0"/>
          </a:p>
        </p:txBody>
      </p:sp>
      <p:sp>
        <p:nvSpPr>
          <p:cNvPr id="9" name="Shape 7"/>
          <p:cNvSpPr/>
          <p:nvPr/>
        </p:nvSpPr>
        <p:spPr>
          <a:xfrm>
            <a:off x="6400800" y="3749040"/>
            <a:ext cx="5029200" cy="731520"/>
          </a:xfrm>
          <a:prstGeom prst="roundRect">
            <a:avLst>
              <a:gd name="adj" fmla="val 12500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10" name="Text 8"/>
          <p:cNvSpPr/>
          <p:nvPr/>
        </p:nvSpPr>
        <p:spPr>
          <a:xfrm>
            <a:off x="6675120" y="3749040"/>
            <a:ext cx="45720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8B8FA3"/>
                </a:solidFill>
              </a:rPr>
              <a:t>Sector: Decision Evidence Infrastructure
Our moat: We define the evidentiary artifact that regulators will eventually expect. First to codify it wins the category.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6400800" y="4663440"/>
            <a:ext cx="5029200" cy="1371600"/>
          </a:xfrm>
          <a:prstGeom prst="roundRect">
            <a:avLst>
              <a:gd name="adj" fmla="val 6667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12" name="Text 10"/>
          <p:cNvSpPr/>
          <p:nvPr/>
        </p:nvSpPr>
        <p:spPr>
          <a:xfrm>
            <a:off x="6675120" y="4846320"/>
            <a:ext cx="4572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D4AF37"/>
                </a:solidFill>
              </a:rPr>
              <a:t>Why This Must Exist Now</a:t>
            </a:r>
            <a:endParaRPr lang="en-US" sz="1300" dirty="0"/>
          </a:p>
        </p:txBody>
      </p:sp>
      <p:sp>
        <p:nvSpPr>
          <p:cNvPr id="13" name="Text 11"/>
          <p:cNvSpPr/>
          <p:nvPr/>
        </p:nvSpPr>
        <p:spPr>
          <a:xfrm>
            <a:off x="6675120" y="5212080"/>
            <a:ext cx="4389120" cy="7315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40000"/>
              </a:lnSpc>
              <a:buNone/>
            </a:pPr>
            <a:r>
              <a:rPr lang="en-US" sz="1000" dirty="0">
                <a:solidFill>
                  <a:srgbClr val="8B8FA3"/>
                </a:solidFill>
              </a:rPr>
              <a:t>EU AI Act (2025–2026) → enforceable auditability requirements. DORA → operational traceability for financial services. Litigation risk → retrospective scrutiny of AI decisions. Enterprise AI adoption → exploding unaudited decision surface. This creates a new infrastructure requirement: decision evidence.</a:t>
            </a:r>
            <a:endParaRPr lang="en-US" sz="1000" dirty="0"/>
          </a:p>
        </p:txBody>
      </p:sp>
      <p:sp>
        <p:nvSpPr>
          <p:cNvPr id="14" name="Text 12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2024–2026 Datacendia, LLC</a:t>
            </a:r>
            <a:endParaRPr lang="en-US" sz="800" dirty="0"/>
          </a:p>
        </p:txBody>
      </p:sp>
      <p:sp>
        <p:nvSpPr>
          <p:cNvPr id="15" name="Text 13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731520" y="9144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PLATFORM PROOF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731520" y="1371600"/>
            <a:ext cx="10058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</a:rPr>
              <a:t>This Is Not a Pitch — It’s a Live Platform</a:t>
            </a:r>
            <a:endParaRPr lang="en-US" sz="2400" dirty="0"/>
          </a:p>
        </p:txBody>
      </p:sp>
      <p:sp>
        <p:nvSpPr>
          <p:cNvPr id="5" name="Shape 3"/>
          <p:cNvSpPr/>
          <p:nvPr/>
        </p:nvSpPr>
        <p:spPr>
          <a:xfrm>
            <a:off x="731520" y="2286000"/>
            <a:ext cx="2011680" cy="1371600"/>
          </a:xfrm>
          <a:prstGeom prst="roundRect">
            <a:avLst>
              <a:gd name="adj" fmla="val 6667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6" name="Text 4"/>
          <p:cNvSpPr/>
          <p:nvPr/>
        </p:nvSpPr>
        <p:spPr>
          <a:xfrm>
            <a:off x="731520" y="2377440"/>
            <a:ext cx="201168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D4AF37"/>
                </a:solidFill>
              </a:rPr>
              <a:t>205K+</a:t>
            </a:r>
            <a:endParaRPr lang="en-US" sz="2800" dirty="0"/>
          </a:p>
        </p:txBody>
      </p:sp>
      <p:sp>
        <p:nvSpPr>
          <p:cNvPr id="7" name="Text 5"/>
          <p:cNvSpPr/>
          <p:nvPr/>
        </p:nvSpPr>
        <p:spPr>
          <a:xfrm>
            <a:off x="914400" y="3108960"/>
            <a:ext cx="16459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8B8FA3"/>
                </a:solidFill>
              </a:rPr>
              <a:t>Passing Tests</a:t>
            </a:r>
            <a:endParaRPr lang="en-US" sz="1000" dirty="0"/>
          </a:p>
        </p:txBody>
      </p:sp>
      <p:sp>
        <p:nvSpPr>
          <p:cNvPr id="8" name="Shape 6"/>
          <p:cNvSpPr/>
          <p:nvPr/>
        </p:nvSpPr>
        <p:spPr>
          <a:xfrm>
            <a:off x="2926080" y="2286000"/>
            <a:ext cx="2011680" cy="1371600"/>
          </a:xfrm>
          <a:prstGeom prst="roundRect">
            <a:avLst>
              <a:gd name="adj" fmla="val 6667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9" name="Text 7"/>
          <p:cNvSpPr/>
          <p:nvPr/>
        </p:nvSpPr>
        <p:spPr>
          <a:xfrm>
            <a:off x="2926080" y="2377440"/>
            <a:ext cx="201168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D4AF37"/>
                </a:solidFill>
              </a:rPr>
              <a:t>156</a:t>
            </a:r>
            <a:endParaRPr lang="en-US" sz="2800" dirty="0"/>
          </a:p>
        </p:txBody>
      </p:sp>
      <p:sp>
        <p:nvSpPr>
          <p:cNvPr id="10" name="Text 8"/>
          <p:cNvSpPr/>
          <p:nvPr/>
        </p:nvSpPr>
        <p:spPr>
          <a:xfrm>
            <a:off x="3108960" y="3108960"/>
            <a:ext cx="16459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8B8FA3"/>
                </a:solidFill>
              </a:rPr>
              <a:t>Validated API Endpoints</a:t>
            </a:r>
            <a:endParaRPr lang="en-US" sz="1000" dirty="0"/>
          </a:p>
        </p:txBody>
      </p:sp>
      <p:sp>
        <p:nvSpPr>
          <p:cNvPr id="11" name="Shape 9"/>
          <p:cNvSpPr/>
          <p:nvPr/>
        </p:nvSpPr>
        <p:spPr>
          <a:xfrm>
            <a:off x="5120640" y="2286000"/>
            <a:ext cx="2011680" cy="1371600"/>
          </a:xfrm>
          <a:prstGeom prst="roundRect">
            <a:avLst>
              <a:gd name="adj" fmla="val 6667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12" name="Text 10"/>
          <p:cNvSpPr/>
          <p:nvPr/>
        </p:nvSpPr>
        <p:spPr>
          <a:xfrm>
            <a:off x="5120640" y="2377440"/>
            <a:ext cx="201168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D4AF37"/>
                </a:solidFill>
              </a:rPr>
              <a:t>50+</a:t>
            </a:r>
            <a:endParaRPr lang="en-US" sz="2800" dirty="0"/>
          </a:p>
        </p:txBody>
      </p:sp>
      <p:sp>
        <p:nvSpPr>
          <p:cNvPr id="13" name="Text 11"/>
          <p:cNvSpPr/>
          <p:nvPr/>
        </p:nvSpPr>
        <p:spPr>
          <a:xfrm>
            <a:off x="5303520" y="3108960"/>
            <a:ext cx="16459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8B8FA3"/>
                </a:solidFill>
              </a:rPr>
              <a:t>Agent Presets</a:t>
            </a:r>
            <a:endParaRPr lang="en-US" sz="1000" dirty="0"/>
          </a:p>
        </p:txBody>
      </p:sp>
      <p:sp>
        <p:nvSpPr>
          <p:cNvPr id="14" name="Shape 12"/>
          <p:cNvSpPr/>
          <p:nvPr/>
        </p:nvSpPr>
        <p:spPr>
          <a:xfrm>
            <a:off x="7315200" y="2286000"/>
            <a:ext cx="2011680" cy="1371600"/>
          </a:xfrm>
          <a:prstGeom prst="roundRect">
            <a:avLst>
              <a:gd name="adj" fmla="val 6667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15" name="Text 13"/>
          <p:cNvSpPr/>
          <p:nvPr/>
        </p:nvSpPr>
        <p:spPr>
          <a:xfrm>
            <a:off x="7315200" y="2377440"/>
            <a:ext cx="201168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D4AF37"/>
                </a:solidFill>
              </a:rPr>
              <a:t>23</a:t>
            </a:r>
            <a:endParaRPr lang="en-US" sz="2800" dirty="0"/>
          </a:p>
        </p:txBody>
      </p:sp>
      <p:sp>
        <p:nvSpPr>
          <p:cNvPr id="16" name="Text 14"/>
          <p:cNvSpPr/>
          <p:nvPr/>
        </p:nvSpPr>
        <p:spPr>
          <a:xfrm>
            <a:off x="7498080" y="3108960"/>
            <a:ext cx="16459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8B8FA3"/>
                </a:solidFill>
              </a:rPr>
              <a:t>Jurisdictions Covered</a:t>
            </a:r>
            <a:endParaRPr lang="en-US" sz="1000" dirty="0"/>
          </a:p>
        </p:txBody>
      </p:sp>
      <p:sp>
        <p:nvSpPr>
          <p:cNvPr id="17" name="Shape 15"/>
          <p:cNvSpPr/>
          <p:nvPr/>
        </p:nvSpPr>
        <p:spPr>
          <a:xfrm>
            <a:off x="9509760" y="2286000"/>
            <a:ext cx="2011680" cy="1371600"/>
          </a:xfrm>
          <a:prstGeom prst="roundRect">
            <a:avLst>
              <a:gd name="adj" fmla="val 6667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18" name="Text 16"/>
          <p:cNvSpPr/>
          <p:nvPr/>
        </p:nvSpPr>
        <p:spPr>
          <a:xfrm>
            <a:off x="9509760" y="2377440"/>
            <a:ext cx="201168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D4AF37"/>
                </a:solidFill>
              </a:rPr>
              <a:t>4</a:t>
            </a:r>
            <a:endParaRPr lang="en-US" sz="2800" dirty="0"/>
          </a:p>
        </p:txBody>
      </p:sp>
      <p:sp>
        <p:nvSpPr>
          <p:cNvPr id="19" name="Text 17"/>
          <p:cNvSpPr/>
          <p:nvPr/>
        </p:nvSpPr>
        <p:spPr>
          <a:xfrm>
            <a:off x="9692640" y="3108960"/>
            <a:ext cx="16459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8B8FA3"/>
                </a:solidFill>
              </a:rPr>
              <a:t>Deployment Modes</a:t>
            </a:r>
            <a:endParaRPr lang="en-US" sz="1000" dirty="0"/>
          </a:p>
        </p:txBody>
      </p:sp>
      <p:sp>
        <p:nvSpPr>
          <p:cNvPr id="20" name="Shape 18"/>
          <p:cNvSpPr/>
          <p:nvPr/>
        </p:nvSpPr>
        <p:spPr>
          <a:xfrm>
            <a:off x="731520" y="4114800"/>
            <a:ext cx="5029200" cy="1828800"/>
          </a:xfrm>
          <a:prstGeom prst="roundRect">
            <a:avLst>
              <a:gd name="adj" fmla="val 5000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21" name="Text 19"/>
          <p:cNvSpPr/>
          <p:nvPr/>
        </p:nvSpPr>
        <p:spPr>
          <a:xfrm>
            <a:off x="1005840" y="4297680"/>
            <a:ext cx="4572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D4AF37"/>
                </a:solidFill>
              </a:rPr>
              <a:t>Live Demo</a:t>
            </a:r>
            <a:endParaRPr lang="en-US" sz="1300" dirty="0"/>
          </a:p>
        </p:txBody>
      </p:sp>
      <p:sp>
        <p:nvSpPr>
          <p:cNvPr id="22" name="Text 20"/>
          <p:cNvSpPr/>
          <p:nvPr/>
        </p:nvSpPr>
        <p:spPr>
          <a:xfrm>
            <a:off x="1005840" y="4663440"/>
            <a:ext cx="4389120" cy="10972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50000"/>
              </a:lnSpc>
              <a:buNone/>
            </a:pPr>
            <a:r>
              <a:rPr lang="en-US" sz="1100" dirty="0">
                <a:solidFill>
                  <a:srgbClr val="8B8FA3"/>
                </a:solidFill>
              </a:rPr>
              <a:t>Production platform at app.datacendia.com</a:t>
            </a:r>
            <a:endParaRPr lang="en-US" sz="1100" dirty="0"/>
          </a:p>
          <a:p>
            <a:pPr indent="0" marL="0">
              <a:lnSpc>
                <a:spcPct val="150000"/>
              </a:lnSpc>
              <a:buNone/>
            </a:pPr>
            <a:r>
              <a:rPr lang="en-US" sz="1100" dirty="0">
                <a:solidFill>
                  <a:srgbClr val="8B8FA3"/>
                </a:solidFill>
              </a:rPr>
              <a:t>Multi-agent deliberation, decision audit trails, compliance dashboards, AI governance gateway — all live.</a:t>
            </a:r>
            <a:endParaRPr lang="en-US" sz="1100" dirty="0"/>
          </a:p>
        </p:txBody>
      </p:sp>
      <p:sp>
        <p:nvSpPr>
          <p:cNvPr id="23" name="Shape 21"/>
          <p:cNvSpPr/>
          <p:nvPr/>
        </p:nvSpPr>
        <p:spPr>
          <a:xfrm>
            <a:off x="6400800" y="4114800"/>
            <a:ext cx="5029200" cy="1828800"/>
          </a:xfrm>
          <a:prstGeom prst="roundRect">
            <a:avLst>
              <a:gd name="adj" fmla="val 5000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24" name="Text 22"/>
          <p:cNvSpPr/>
          <p:nvPr/>
        </p:nvSpPr>
        <p:spPr>
          <a:xfrm>
            <a:off x="6675120" y="4297680"/>
            <a:ext cx="4572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D4AF37"/>
                </a:solidFill>
              </a:rPr>
              <a:t>NVIDIA Inception Member</a:t>
            </a:r>
            <a:endParaRPr lang="en-US" sz="1300" dirty="0"/>
          </a:p>
        </p:txBody>
      </p:sp>
      <p:sp>
        <p:nvSpPr>
          <p:cNvPr id="25" name="Text 23"/>
          <p:cNvSpPr/>
          <p:nvPr/>
        </p:nvSpPr>
        <p:spPr>
          <a:xfrm>
            <a:off x="6675120" y="4663440"/>
            <a:ext cx="4389120" cy="10972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50000"/>
              </a:lnSpc>
              <a:buNone/>
            </a:pPr>
            <a:r>
              <a:rPr lang="en-US" sz="1100" dirty="0">
                <a:solidFill>
                  <a:srgbClr val="8B8FA3"/>
                </a:solidFill>
              </a:rPr>
              <a:t>Accepted into NVIDIA’s elite startup program.</a:t>
            </a:r>
            <a:endParaRPr lang="en-US" sz="1100" dirty="0"/>
          </a:p>
          <a:p>
            <a:pPr indent="0" marL="0">
              <a:lnSpc>
                <a:spcPct val="150000"/>
              </a:lnSpc>
              <a:buNone/>
            </a:pPr>
            <a:r>
              <a:rPr lang="en-US" sz="1100" dirty="0">
                <a:solidFill>
                  <a:srgbClr val="8B8FA3"/>
                </a:solidFill>
              </a:rPr>
              <a:t>DGX Cloud access, technical mentorship, co-marketing, and enterprise customer introductions.</a:t>
            </a:r>
            <a:endParaRPr lang="en-US" sz="1100" dirty="0"/>
          </a:p>
        </p:txBody>
      </p:sp>
      <p:sp>
        <p:nvSpPr>
          <p:cNvPr id="26" name="Text 24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2024–2026 Datacendia, LLC</a:t>
            </a:r>
            <a:endParaRPr lang="en-US" sz="800" dirty="0"/>
          </a:p>
        </p:txBody>
      </p:sp>
      <p:sp>
        <p:nvSpPr>
          <p:cNvPr id="27" name="Text 25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8229600" y="27432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PLATFORM PROOF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731520" y="1097280"/>
            <a:ext cx="4114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MULTI-AGENT DECISION ENGINE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731520" y="1554480"/>
            <a:ext cx="41148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</a:rPr>
              <a:t>Decisions Made by Specialized AI Agents</a:t>
            </a:r>
            <a:endParaRPr lang="en-US" sz="2000" dirty="0"/>
          </a:p>
        </p:txBody>
      </p:sp>
      <p:sp>
        <p:nvSpPr>
          <p:cNvPr id="6" name="Text 4"/>
          <p:cNvSpPr/>
          <p:nvPr/>
        </p:nvSpPr>
        <p:spPr>
          <a:xfrm>
            <a:off x="731520" y="2743200"/>
            <a:ext cx="4114800" cy="3200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Role-specific agents: CFO, CISO, Legal, Strategy, Risk</a:t>
            </a:r>
            <a:endParaRPr lang="en-US" sz="11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Confidence scores and reasoning — dissent preserved</a:t>
            </a:r>
            <a:endParaRPr lang="en-US" sz="11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War Room, Governed, and Quick Brief modes</a:t>
            </a:r>
            <a:endParaRPr lang="en-US" sz="1100" dirty="0"/>
          </a:p>
        </p:txBody>
      </p:sp>
      <p:sp>
        <p:nvSpPr>
          <p:cNvPr id="8" name="Text 5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2024–2026 Datacendia, LLC</a:t>
            </a:r>
            <a:endParaRPr lang="en-US" sz="800" dirty="0"/>
          </a:p>
        </p:txBody>
      </p:sp>
      <p:sp>
        <p:nvSpPr>
          <p:cNvPr id="9" name="Text 6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  <p:pic>
        <p:nvPicPr>
          <p:cNvPr id="10" name="Picture 9" descr="image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303520" y="1097280"/>
            <a:ext cx="6400800" cy="4846320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8229600" y="27432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PLATFORM PROOF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731520" y="1097280"/>
            <a:ext cx="4114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DECISION AUDIT TRAIL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731520" y="1554480"/>
            <a:ext cx="41148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</a:rPr>
              <a:t>Every Decision Tracked with Full Evidence Chain</a:t>
            </a:r>
            <a:endParaRPr lang="en-US" sz="2000" dirty="0"/>
          </a:p>
        </p:txBody>
      </p:sp>
      <p:sp>
        <p:nvSpPr>
          <p:cNvPr id="6" name="Text 4"/>
          <p:cNvSpPr/>
          <p:nvPr/>
        </p:nvSpPr>
        <p:spPr>
          <a:xfrm>
            <a:off x="731520" y="2743200"/>
            <a:ext cx="4114800" cy="3200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Complete searchable decision history</a:t>
            </a:r>
            <a:endParaRPr lang="en-US" sz="11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Full deliberation records linked to each decision</a:t>
            </a:r>
            <a:endParaRPr lang="en-US" sz="11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Trace any decision back to evidence in seconds</a:t>
            </a:r>
            <a:endParaRPr lang="en-US" sz="1100" dirty="0"/>
          </a:p>
        </p:txBody>
      </p:sp>
      <p:sp>
        <p:nvSpPr>
          <p:cNvPr id="8" name="Text 5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2024–2026 Datacendia, LLC</a:t>
            </a:r>
            <a:endParaRPr lang="en-US" sz="800" dirty="0"/>
          </a:p>
        </p:txBody>
      </p:sp>
      <p:sp>
        <p:nvSpPr>
          <p:cNvPr id="9" name="Text 6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  <p:pic>
        <p:nvPicPr>
          <p:cNvPr id="10" name="Picture 9" descr="image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303520" y="1097280"/>
            <a:ext cx="6400800" cy="4846320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731520" y="9144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FOUNDER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731520" y="1371600"/>
            <a:ext cx="10058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</a:rPr>
              <a:t>Stuart Rainey — Founder &amp; CEO</a:t>
            </a:r>
            <a:endParaRPr lang="en-US" sz="2400" dirty="0"/>
          </a:p>
        </p:txBody>
      </p:sp>
      <p:sp>
        <p:nvSpPr>
          <p:cNvPr id="5" name="Text 3"/>
          <p:cNvSpPr/>
          <p:nvPr/>
        </p:nvSpPr>
        <p:spPr>
          <a:xfrm>
            <a:off x="731520" y="2194560"/>
            <a:ext cx="5029200" cy="2743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7 years as Senior Data Analyst at TCS, embedded with PGIM Fixed Income ($800B+ AUM)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Built data infrastructure for regulated investment decisions at institutional scale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M.S. in Big Data Analytics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Author of the DDGI framework — ISO/IEC JTC 1/SC 42 standards track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NVIDIA Inception member</a:t>
            </a:r>
            <a:endParaRPr lang="en-US" sz="1200" dirty="0"/>
          </a:p>
        </p:txBody>
      </p:sp>
      <p:sp>
        <p:nvSpPr>
          <p:cNvPr id="6" name="Shape 4"/>
          <p:cNvSpPr/>
          <p:nvPr/>
        </p:nvSpPr>
        <p:spPr>
          <a:xfrm>
            <a:off x="6400800" y="2194560"/>
            <a:ext cx="5029200" cy="2286000"/>
          </a:xfrm>
          <a:prstGeom prst="roundRect">
            <a:avLst>
              <a:gd name="adj" fmla="val 4000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7" name="Text 5"/>
          <p:cNvSpPr/>
          <p:nvPr/>
        </p:nvSpPr>
        <p:spPr>
          <a:xfrm>
            <a:off x="6675120" y="2377440"/>
            <a:ext cx="4572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D4AF37"/>
                </a:solidFill>
              </a:rPr>
              <a:t>Why This Founder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6675120" y="2926080"/>
            <a:ext cx="4389120" cy="1371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50000"/>
              </a:lnSpc>
              <a:buNone/>
            </a:pPr>
            <a:r>
              <a:rPr lang="en-US" sz="1200" dirty="0">
                <a:solidFill>
                  <a:srgbClr val="8B8FA3"/>
                </a:solidFill>
              </a:rPr>
              <a:t>Built the exact data infrastructure that financial institutions need for AI governance — at one of the world's largest asset managers.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2024–2026 Datacendia, LLC</a:t>
            </a:r>
            <a:endParaRPr lang="en-US" sz="800" dirty="0"/>
          </a:p>
        </p:txBody>
      </p:sp>
      <p:sp>
        <p:nvSpPr>
          <p:cNvPr id="10" name="Text 8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731520" y="9144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THE ASK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731520" y="1371600"/>
            <a:ext cx="10058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</a:rPr>
              <a:t>$1.5M Pre-Seed — $7M Pre-Money Valuation</a:t>
            </a:r>
            <a:endParaRPr lang="en-US" sz="2400" dirty="0"/>
          </a:p>
        </p:txBody>
      </p:sp>
      <p:sp>
        <p:nvSpPr>
          <p:cNvPr id="5" name="Shape 3"/>
          <p:cNvSpPr/>
          <p:nvPr/>
        </p:nvSpPr>
        <p:spPr>
          <a:xfrm>
            <a:off x="731520" y="2286000"/>
            <a:ext cx="3291840" cy="2011680"/>
          </a:xfrm>
          <a:prstGeom prst="roundRect">
            <a:avLst>
              <a:gd name="adj" fmla="val 4545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6" name="Text 4"/>
          <p:cNvSpPr/>
          <p:nvPr/>
        </p:nvSpPr>
        <p:spPr>
          <a:xfrm>
            <a:off x="1005840" y="2468880"/>
            <a:ext cx="2743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D4AF37"/>
                </a:solidFill>
              </a:rPr>
              <a:t>What's Built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1005840" y="2926080"/>
            <a:ext cx="2743200" cy="11887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40000"/>
              </a:lnSpc>
              <a:buNone/>
            </a:pPr>
            <a:r>
              <a:rPr lang="en-US" sz="1100" dirty="0">
                <a:solidFill>
                  <a:srgbClr val="8B8FA3"/>
                </a:solidFill>
              </a:rPr>
              <a:t>205K+ passing tests. 156 validated API endpoints. Live production platform at app.datacendia.com.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4389120" y="2286000"/>
            <a:ext cx="3291840" cy="2011680"/>
          </a:xfrm>
          <a:prstGeom prst="roundRect">
            <a:avLst>
              <a:gd name="adj" fmla="val 4545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9" name="Text 7"/>
          <p:cNvSpPr/>
          <p:nvPr/>
        </p:nvSpPr>
        <p:spPr>
          <a:xfrm>
            <a:off x="4663440" y="2468880"/>
            <a:ext cx="2743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D4AF37"/>
                </a:solidFill>
              </a:rPr>
              <a:t>Traction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4663440" y="2926080"/>
            <a:ext cx="2743200" cy="11887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40000"/>
              </a:lnSpc>
              <a:buNone/>
            </a:pPr>
            <a:r>
              <a:rPr lang="en-US" sz="1100" dirty="0">
                <a:solidFill>
                  <a:srgbClr val="8B8FA3"/>
                </a:solidFill>
              </a:rPr>
              <a:t>Active enterprise design-partner conversations (financial institution, Big 4 channel). NVIDIA Inception member. 3 LOI-stage discussions.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8046720" y="2286000"/>
            <a:ext cx="3291840" cy="2011680"/>
          </a:xfrm>
          <a:prstGeom prst="roundRect">
            <a:avLst>
              <a:gd name="adj" fmla="val 4545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12" name="Text 10"/>
          <p:cNvSpPr/>
          <p:nvPr/>
        </p:nvSpPr>
        <p:spPr>
          <a:xfrm>
            <a:off x="8321040" y="2468880"/>
            <a:ext cx="2743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D4AF37"/>
                </a:solidFill>
              </a:rPr>
              <a:t>Use of Funds</a:t>
            </a:r>
            <a:endParaRPr lang="en-US" sz="1400" dirty="0"/>
          </a:p>
        </p:txBody>
      </p:sp>
      <p:sp>
        <p:nvSpPr>
          <p:cNvPr id="13" name="Text 11"/>
          <p:cNvSpPr/>
          <p:nvPr/>
        </p:nvSpPr>
        <p:spPr>
          <a:xfrm>
            <a:off x="8321040" y="2926080"/>
            <a:ext cx="2743200" cy="11887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40000"/>
              </a:lnSpc>
              <a:buNone/>
            </a:pPr>
            <a:r>
              <a:rPr lang="en-US" sz="1100" dirty="0">
                <a:solidFill>
                  <a:srgbClr val="8B8FA3"/>
                </a:solidFill>
              </a:rPr>
              <a:t>First 3 design partners signed, SOC 2 Type II certification, regulatory validation (EU AI Act compliance audit).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914400" y="4754880"/>
            <a:ext cx="10058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8B8FA3"/>
                </a:solidFill>
              </a:rPr>
              <a:t>$8.5M post-money · 21.5% dilution · Engineering risk resolved — GTM-stage investment.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2024–2026 Datacendia, LLC</a:t>
            </a:r>
            <a:endParaRPr lang="en-US" sz="800" dirty="0"/>
          </a:p>
        </p:txBody>
      </p:sp>
      <p:sp>
        <p:nvSpPr>
          <p:cNvPr id="16" name="Text 14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457200" y="1828800"/>
            <a:ext cx="10972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NEXT STEPS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457200" y="2286000"/>
            <a:ext cx="109728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FFFFFF"/>
                </a:solidFill>
              </a:rPr>
              <a:t>Let’s Talk</a:t>
            </a:r>
            <a:endParaRPr lang="en-US" sz="3600" dirty="0"/>
          </a:p>
        </p:txBody>
      </p:sp>
      <p:sp>
        <p:nvSpPr>
          <p:cNvPr id="5" name="Text 3"/>
          <p:cNvSpPr/>
          <p:nvPr/>
        </p:nvSpPr>
        <p:spPr>
          <a:xfrm>
            <a:off x="1371600" y="3200400"/>
            <a:ext cx="91440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8B8FA3"/>
                </a:solidFill>
              </a:rPr>
              <a:t>Prepared for SALESFORCE VENTURES (ASIA) — Salesforce APAC CVC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2286000" y="3931920"/>
            <a:ext cx="1828800" cy="457200"/>
          </a:xfrm>
          <a:prstGeom prst="roundRect">
            <a:avLst>
              <a:gd name="adj" fmla="val 10000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7" name="Text 5"/>
          <p:cNvSpPr/>
          <p:nvPr/>
        </p:nvSpPr>
        <p:spPr>
          <a:xfrm>
            <a:off x="2286000" y="3931920"/>
            <a:ext cx="1828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D4AF37"/>
                </a:solidFill>
              </a:rPr>
              <a:t>Schedule Deep Dive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4297680" y="3931920"/>
            <a:ext cx="1828800" cy="457200"/>
          </a:xfrm>
          <a:prstGeom prst="roundRect">
            <a:avLst>
              <a:gd name="adj" fmla="val 10000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9" name="Text 7"/>
          <p:cNvSpPr/>
          <p:nvPr/>
        </p:nvSpPr>
        <p:spPr>
          <a:xfrm>
            <a:off x="4297680" y="3931920"/>
            <a:ext cx="1828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D4AF37"/>
                </a:solidFill>
              </a:rPr>
              <a:t>Technical Demo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6309360" y="3931920"/>
            <a:ext cx="1828800" cy="457200"/>
          </a:xfrm>
          <a:prstGeom prst="roundRect">
            <a:avLst>
              <a:gd name="adj" fmla="val 10000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11" name="Text 9"/>
          <p:cNvSpPr/>
          <p:nvPr/>
        </p:nvSpPr>
        <p:spPr>
          <a:xfrm>
            <a:off x="6309360" y="3931920"/>
            <a:ext cx="1828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D4AF37"/>
                </a:solidFill>
              </a:rPr>
              <a:t>Data Room Access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8321040" y="3931920"/>
            <a:ext cx="1828800" cy="457200"/>
          </a:xfrm>
          <a:prstGeom prst="roundRect">
            <a:avLst>
              <a:gd name="adj" fmla="val 10000"/>
            </a:avLst>
          </a:prstGeom>
          <a:solidFill>
            <a:srgbClr val="D4AF37"/>
          </a:solidFill>
          <a:ln/>
        </p:spPr>
        <p:txBody>
          <a:bodyPr/>
          <a:p/>
        </p:txBody>
      </p:sp>
      <p:sp>
        <p:nvSpPr>
          <p:cNvPr id="13" name="Text 11"/>
          <p:cNvSpPr/>
          <p:nvPr/>
        </p:nvSpPr>
        <p:spPr>
          <a:xfrm>
            <a:off x="8321040" y="3931920"/>
            <a:ext cx="1828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A0E1A"/>
                </a:solidFill>
              </a:rPr>
              <a:t>Try Live Demo →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1828800" y="502920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8B8FA3"/>
                </a:solidFill>
              </a:rPr>
              <a:t>contact@datacendia.com | datacendia.com | app.datacendia.com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2024–2026 Datacendia, LLC</a:t>
            </a:r>
            <a:endParaRPr lang="en-US" sz="800" dirty="0"/>
          </a:p>
        </p:txBody>
      </p:sp>
      <p:sp>
        <p:nvSpPr>
          <p:cNvPr id="16" name="Text 14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10</Slides>
  <Notes>10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3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</vt:vector>
  </TitlesOfParts>
  <Company>Datacendia, LLC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Datacendia for Andreessen Horowitz (a16z)</dc:title>
  <dc:subject>PptxGenJS Presentation</dc:subject>
  <dc:creator>Datacendia</dc:creator>
  <cp:lastModifiedBy>Datacendia</cp:lastModifiedBy>
  <cp:revision>1</cp:revision>
  <dcterms:created xsi:type="dcterms:W3CDTF">2026-03-17T15:48:25Z</dcterms:created>
  <dcterms:modified xsi:type="dcterms:W3CDTF">2026-03-17T15:48:25Z</dcterms:modified>
</cp:coreProperties>
</file>